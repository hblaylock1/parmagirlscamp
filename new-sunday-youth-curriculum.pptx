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Beginning Sunday, September 6, 2026, the Sunday class schedule changes in wards and branches around the world, and Young Women classes and Aaronic Priesthood quorums begin a brand-new curriculum built on the updated For the Strength of Youth guide. Today we'll walk through what changes, why, and how to be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for the whole meeting: by the end, everyone should know three things — how to use the new FSY guide, how to use the new magazine, and how the youth themselves participate in these new weekly classes. Everything in the video and the slides that follow ties back to one of these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March 30, 2026, the First Presidency announced these changes. The Church has emphasized that this is more than a schedule change — the stated purpose is to create simple and meaningful ways to grow closer to Jesus Christ and to each other. Keep that purpose front and center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two hours: sacrament meeting is unchanged. Then a five-minute transition, 25 minutes of Sunday School for everyone, another five-minute transition, and 25 minutes of Young Women classes and Aaronic Priesthood quorums. Primary children have their own 55-minute block, and adults follow the same weekly pattern with Relief Society and elders quorum.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2019 the second hour alternated week to week. Now every class and quorum meets every single Sunday, in shorter 25-minute lessons. For youth this means twice as many chances each month to learn and grow together — and a brand-new curriculum written just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updated FSY guide has 12 chapters — one for each month of the year. All youth, everywhere in the world, study the same chapter in the same month. Each chapter is built around eternal truths, invitations, and promised blessings. The four Sunday lessons of the month all build on that one chapter, so youth get to go deep rather than rushing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rhythm of a month. Fast Sunday, youth study the chapter itself. The second and third Sundays go deeper into the doctrine behind it. On the last Sunday, Young Women and Aaronic Priesthood quorums each get a lesson written specifically for them. Meanwhile Sunday School keeps everyone in the scriptures with Come, Follow Me, and the FSY magazine carries the same theme into the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pattern comes straight from the September FSY magazine's fast Sunday lesson. September's chapter is 'You Are Blessed by Priesthood Keys and Authority,' pages 46 through 49 of the guide. Notice how simple and repeatable it is: truth, scripture, story, testimony — then youth choose an invitation to actually live during the month. Youth themselves can lead any of these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September's theme is 'You Are Blessed by Priesthood Keys and Authority' — pages 46 to 49 of the FSY guide, anchored in Matthew 16. The chapter teaches three eternal truths (on the slide), invites youth to accept callings and serve faithfully, sustain those God has called, and fulfill assignments from leaders, and promises that they can trust their ordinances are authorized by Jesus Christ and will become instruments in the Lord's hands. The magazine's closing question for the month: how would your life be different if the priesthood hadn't been restored? Third Sunday: youth fill out a table mapping D&amp;C 13, 27, and 110 to the heavenly messengers and keys restored. Last Sunday: Young Women study Emma Smith in D&amp;C 25; Aaronic Priesthood quorums study Joseph Smith—History 1:66-73. Midweek activity ideas from the magazine: the One-Match Fire Challenge, and A Flashlight and God's Priesthood Power. Encourage youth to read the chapter before September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lesson pages youth and leaders will open each Sunday — walk through the fast-Sunday study pattern on the left and the restoration questions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third-Sunday spread: the car-keys analogy on the left, and on the right the fill-in table where youth map D&amp;C 13, 27, and 110 to the heavenly messengers and the keys they restored.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Sunday splits: Young Women study Emma Smith, an 'elect lady' (D&amp;C 25); Aaronic Priesthood quorums study Joseph Smith's account of John the Baptist (JS—History 1:66–73). Both end with the 'Live as a Disciple of Christ'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September opener with the month's two framing questions, and the One-Match Fire Challenge — a ready-made midweek activity that ties into the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free and already available. The guide and every Sunday lesson are in Gospel Library. Every household can get one free print subscription to the FSY magazine at magazines.ChurchofJesusChrist.org. And sunday.ChurchofJesusChrist.org has the instructional videos and implementation guide. Parents: having the same materials at home is the superpower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video queued in Gospel Library before the meeting. Your watch plan: stop at 7:20 — discuss, then ask why they think the FSY guide is structured this way (truths, invitations, promised blessings). At 10:00, talk through the structure of the Sundays — you can flip back to the monthly-rhythm slide if helpful. At 12:00, cover the last-Sunday split lessons for Young Women and Aaronic Priesthood quorums. Stop again at 18:30 to discuss. At 22:00, ask what statements stood out to them. Then move to the discussion-questions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questions come straight from the Church's official fifth-Sunday outline. Give youth and parents time to actually answer — this discussion is the point of the meeting. On question two, you might read Doctrine and Covenants 88:122 aloud together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invitations: youth, read the September chapter before next Sunday. Parents, get the magazine and keep the conversation going at home. Leaders, watch the videos and prepare. End with your testimony that this change is about growing closer to Jesus Christ — every single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2"/>
        </a:solidFill>
      </p:bgPr>
    </p:bg>
    <p:spTree>
      <p:nvGrpSpPr>
        <p:cNvPr id="1" name=""/>
        <p:cNvGrpSpPr/>
        <p:nvPr/>
      </p:nvGrpSpPr>
      <p:grpSpPr>
        <a:xfrm>
          <a:off x="0" y="0"/>
          <a:ext cx="0" cy="0"/>
          <a:chOff x="0" y="0"/>
          <a:chExt cx="0" cy="0"/>
        </a:xfrm>
      </p:grpSpPr>
      <p:sp>
        <p:nvSpPr>
          <p:cNvPr id="2" name="Shape 0"/>
          <p:cNvSpPr/>
          <p:nvPr/>
        </p:nvSpPr>
        <p:spPr>
          <a:xfrm>
            <a:off x="8595360" y="-2194560"/>
            <a:ext cx="5669280" cy="5669280"/>
          </a:xfrm>
          <a:prstGeom prst="ellipse">
            <a:avLst/>
          </a:prstGeom>
          <a:ln w="25400">
            <a:solidFill>
              <a:srgbClr val="C9A227"/>
            </a:solidFill>
            <a:prstDash val="solid"/>
          </a:ln>
        </p:spPr>
      </p:sp>
      <p:sp>
        <p:nvSpPr>
          <p:cNvPr id="3" name="Shape 1"/>
          <p:cNvSpPr/>
          <p:nvPr/>
        </p:nvSpPr>
        <p:spPr>
          <a:xfrm>
            <a:off x="9509760" y="-1280160"/>
            <a:ext cx="3840480" cy="3840480"/>
          </a:xfrm>
          <a:prstGeom prst="ellipse">
            <a:avLst/>
          </a:prstGeom>
          <a:ln w="19050">
            <a:solidFill>
              <a:srgbClr val="31437A"/>
            </a:solidFill>
            <a:prstDash val="solid"/>
          </a:ln>
        </p:spPr>
      </p:sp>
      <p:sp>
        <p:nvSpPr>
          <p:cNvPr id="4" name="Shape 2"/>
          <p:cNvSpPr/>
          <p:nvPr/>
        </p:nvSpPr>
        <p:spPr>
          <a:xfrm>
            <a:off x="8138160" y="4846320"/>
            <a:ext cx="3108960" cy="3108960"/>
          </a:xfrm>
          <a:prstGeom prst="ellipse">
            <a:avLst/>
          </a:prstGeom>
          <a:ln w="19050">
            <a:solidFill>
              <a:srgbClr val="31437A"/>
            </a:solidFill>
            <a:prstDash val="solid"/>
          </a:ln>
        </p:spPr>
      </p:sp>
      <p:sp>
        <p:nvSpPr>
          <p:cNvPr id="5" name="Shape 3"/>
          <p:cNvSpPr/>
          <p:nvPr/>
        </p:nvSpPr>
        <p:spPr>
          <a:xfrm>
            <a:off x="566928" y="960120"/>
            <a:ext cx="658368" cy="658368"/>
          </a:xfrm>
          <a:prstGeom prst="ellipse">
            <a:avLst/>
          </a:prstGeom>
          <a:solidFill>
            <a:srgbClr val="C9A227"/>
          </a:solidFill>
          <a:ln/>
        </p:spPr>
      </p:sp>
      <p:pic>
        <p:nvPicPr>
          <p:cNvPr id="6" name="Image 0" descr="preencoded.png">    </p:cNvPr>
          <p:cNvPicPr>
            <a:picLocks noChangeAspect="1"/>
          </p:cNvPicPr>
          <p:nvPr/>
        </p:nvPicPr>
        <p:blipFill>
          <a:blip r:embed="rId1"/>
          <a:stretch>
            <a:fillRect/>
          </a:stretch>
        </p:blipFill>
        <p:spPr>
          <a:xfrm>
            <a:off x="744687" y="1137879"/>
            <a:ext cx="302849" cy="302849"/>
          </a:xfrm>
          <a:prstGeom prst="rect">
            <a:avLst/>
          </a:prstGeom>
        </p:spPr>
      </p:pic>
      <p:sp>
        <p:nvSpPr>
          <p:cNvPr id="7" name="Text 4"/>
          <p:cNvSpPr txBox="1"/>
          <p:nvPr/>
        </p:nvSpPr>
        <p:spPr>
          <a:xfrm>
            <a:off x="566928" y="1993392"/>
            <a:ext cx="8229600" cy="320040"/>
          </a:xfrm>
          <a:prstGeom prst="rect">
            <a:avLst/>
          </a:prstGeom>
          <a:noFill/>
          <a:ln/>
        </p:spPr>
        <p:txBody>
          <a:bodyPr wrap="square" lIns="0" tIns="0" rIns="0" bIns="0" rtlCol="0" anchor="ctr"/>
          <a:lstStyle/>
          <a:p>
            <a:pPr indent="0" marL="0">
              <a:buNone/>
            </a:pPr>
            <a:r>
              <a:rPr lang="en-US" sz="1300" b="1" spc="300" kern="0" dirty="0">
                <a:solidFill>
                  <a:srgbClr val="C9A227"/>
                </a:solidFill>
                <a:latin typeface="Calibri" pitchFamily="34" charset="0"/>
                <a:ea typeface="Calibri" pitchFamily="34" charset="-122"/>
                <a:cs typeface="Calibri" pitchFamily="34" charset="-120"/>
              </a:rPr>
              <a:t>BEGINNING SUNDAY, SEPTEMBER 6, 2026</a:t>
            </a:r>
            <a:endParaRPr lang="en-US" sz="1300" dirty="0"/>
          </a:p>
        </p:txBody>
      </p:sp>
      <p:sp>
        <p:nvSpPr>
          <p:cNvPr id="8" name="Text 5"/>
          <p:cNvSpPr txBox="1"/>
          <p:nvPr/>
        </p:nvSpPr>
        <p:spPr>
          <a:xfrm>
            <a:off x="548640" y="2331720"/>
            <a:ext cx="9601200" cy="105156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A New Sunday for Youth</a:t>
            </a:r>
            <a:endParaRPr lang="en-US" sz="5200" dirty="0"/>
          </a:p>
        </p:txBody>
      </p:sp>
      <p:sp>
        <p:nvSpPr>
          <p:cNvPr id="9" name="Text 6"/>
          <p:cNvSpPr txBox="1"/>
          <p:nvPr/>
        </p:nvSpPr>
        <p:spPr>
          <a:xfrm>
            <a:off x="566928" y="3520440"/>
            <a:ext cx="7863840" cy="777240"/>
          </a:xfrm>
          <a:prstGeom prst="rect">
            <a:avLst/>
          </a:prstGeom>
          <a:noFill/>
          <a:ln/>
        </p:spPr>
        <p:txBody>
          <a:bodyPr wrap="square" lIns="0" tIns="0" rIns="0" bIns="0" rtlCol="0" anchor="ctr"/>
          <a:lstStyle/>
          <a:p>
            <a:pPr indent="0" marL="0">
              <a:buNone/>
            </a:pPr>
            <a:r>
              <a:rPr lang="en-US" sz="1800" dirty="0">
                <a:solidFill>
                  <a:srgbClr val="C9D6EF"/>
                </a:solidFill>
                <a:latin typeface="Calibri" pitchFamily="34" charset="0"/>
                <a:ea typeface="Calibri" pitchFamily="34" charset="-122"/>
                <a:cs typeface="Calibri" pitchFamily="34" charset="-120"/>
              </a:rPr>
              <a:t>The updated Sunday class schedule and the new For the Strength of Youth curriculum</a:t>
            </a:r>
            <a:endParaRPr lang="en-US" sz="1800" dirty="0"/>
          </a:p>
        </p:txBody>
      </p:sp>
      <p:sp>
        <p:nvSpPr>
          <p:cNvPr id="10" name="Text 7"/>
          <p:cNvSpPr txBox="1"/>
          <p:nvPr/>
        </p:nvSpPr>
        <p:spPr>
          <a:xfrm>
            <a:off x="566928" y="4709160"/>
            <a:ext cx="10058400" cy="365760"/>
          </a:xfrm>
          <a:prstGeom prst="rect">
            <a:avLst/>
          </a:prstGeom>
          <a:noFill/>
          <a:ln/>
        </p:spPr>
        <p:txBody>
          <a:bodyPr wrap="square" lIns="0" tIns="0" rIns="0" bIns="0" rtlCol="0" anchor="ctr"/>
          <a:lstStyle/>
          <a:p>
            <a:pPr indent="0" marL="0">
              <a:buNone/>
            </a:pPr>
            <a:r>
              <a:rPr lang="en-US" sz="1000" dirty="0">
                <a:solidFill>
                  <a:srgbClr val="C9A227"/>
                </a:solidFill>
                <a:latin typeface="Calibri" pitchFamily="34" charset="0"/>
                <a:ea typeface="Calibri" pitchFamily="34" charset="-122"/>
                <a:cs typeface="Calibri" pitchFamily="34" charset="-120"/>
              </a:rPr>
              <a:t>●  </a:t>
            </a:r>
            <a:pPr indent="0" marL="0">
              <a:buNone/>
            </a:pPr>
            <a:r>
              <a:rPr lang="en-US" sz="1500" dirty="0">
                <a:solidFill>
                  <a:srgbClr val="FFFFFF"/>
                </a:solidFill>
                <a:latin typeface="Calibri" pitchFamily="34" charset="0"/>
                <a:ea typeface="Calibri" pitchFamily="34" charset="-122"/>
                <a:cs typeface="Calibri" pitchFamily="34" charset="-120"/>
              </a:rPr>
              <a:t>Classes every week      </a:t>
            </a:r>
            <a:pPr indent="0" marL="0">
              <a:buNone/>
            </a:pPr>
            <a:r>
              <a:rPr lang="en-US" sz="1000" dirty="0">
                <a:solidFill>
                  <a:srgbClr val="C9A227"/>
                </a:solidFill>
                <a:latin typeface="Calibri" pitchFamily="34" charset="0"/>
                <a:ea typeface="Calibri" pitchFamily="34" charset="-122"/>
                <a:cs typeface="Calibri" pitchFamily="34" charset="-120"/>
              </a:rPr>
              <a:t>●  </a:t>
            </a:r>
            <a:pPr indent="0" marL="0">
              <a:buNone/>
            </a:pPr>
            <a:r>
              <a:rPr lang="en-US" sz="1500" dirty="0">
                <a:solidFill>
                  <a:srgbClr val="FFFFFF"/>
                </a:solidFill>
                <a:latin typeface="Calibri" pitchFamily="34" charset="0"/>
                <a:ea typeface="Calibri" pitchFamily="34" charset="-122"/>
                <a:cs typeface="Calibri" pitchFamily="34" charset="-120"/>
              </a:rPr>
              <a:t>25-minute lessons      </a:t>
            </a:r>
            <a:pPr indent="0" marL="0">
              <a:buNone/>
            </a:pPr>
            <a:r>
              <a:rPr lang="en-US" sz="1000" dirty="0">
                <a:solidFill>
                  <a:srgbClr val="C9A227"/>
                </a:solidFill>
                <a:latin typeface="Calibri" pitchFamily="34" charset="0"/>
                <a:ea typeface="Calibri" pitchFamily="34" charset="-122"/>
                <a:cs typeface="Calibri" pitchFamily="34" charset="-120"/>
              </a:rPr>
              <a:t>●  </a:t>
            </a:r>
            <a:pPr indent="0" marL="0">
              <a:buNone/>
            </a:pPr>
            <a:r>
              <a:rPr lang="en-US" sz="1500" dirty="0">
                <a:solidFill>
                  <a:srgbClr val="FFFFFF"/>
                </a:solidFill>
                <a:latin typeface="Calibri" pitchFamily="34" charset="0"/>
                <a:ea typeface="Calibri" pitchFamily="34" charset="-122"/>
                <a:cs typeface="Calibri" pitchFamily="34" charset="-120"/>
              </a:rPr>
              <a:t>One FSY chapter each month</a:t>
            </a:r>
            <a:endParaRPr lang="en-US" sz="1500" dirty="0"/>
          </a:p>
        </p:txBody>
      </p:sp>
      <p:sp>
        <p:nvSpPr>
          <p:cNvPr id="11" name="Text 8"/>
          <p:cNvSpPr txBox="1"/>
          <p:nvPr/>
        </p:nvSpPr>
        <p:spPr>
          <a:xfrm>
            <a:off x="566928" y="6172200"/>
            <a:ext cx="7315200" cy="274320"/>
          </a:xfrm>
          <a:prstGeom prst="rect">
            <a:avLst/>
          </a:prstGeom>
          <a:noFill/>
          <a:ln/>
        </p:spPr>
        <p:txBody>
          <a:bodyPr wrap="square" lIns="0" tIns="0" rIns="0" bIns="0" rtlCol="0" anchor="ctr"/>
          <a:lstStyle/>
          <a:p>
            <a:pPr indent="0" marL="0">
              <a:buNone/>
            </a:pPr>
            <a:r>
              <a:rPr lang="en-US" sz="1200" dirty="0">
                <a:solidFill>
                  <a:srgbClr val="8FA0C8"/>
                </a:solidFill>
                <a:latin typeface="Calibri" pitchFamily="34" charset="0"/>
                <a:ea typeface="Calibri" pitchFamily="34" charset="-122"/>
                <a:cs typeface="Calibri" pitchFamily="34" charset="-120"/>
              </a:rPr>
              <a:t>An introduction for youth, parents, and leaders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OUR PURPOSE TODAY</a:t>
            </a:r>
            <a:endParaRPr lang="en-US" sz="1200" dirty="0"/>
          </a:p>
        </p:txBody>
      </p:sp>
      <p:sp>
        <p:nvSpPr>
          <p:cNvPr id="3" name="Text 1"/>
          <p:cNvSpPr txBox="1"/>
          <p:nvPr/>
        </p:nvSpPr>
        <p:spPr>
          <a:xfrm>
            <a:off x="548640" y="749808"/>
            <a:ext cx="11064240" cy="731520"/>
          </a:xfrm>
          <a:prstGeom prst="rect">
            <a:avLst/>
          </a:prstGeom>
          <a:noFill/>
          <a:ln/>
        </p:spPr>
        <p:txBody>
          <a:bodyPr wrap="square" lIns="0" tIns="0" rIns="0" bIns="0" rtlCol="0" anchor="ctr"/>
          <a:lstStyle/>
          <a:p>
            <a:pPr algn="l" indent="0" marL="0">
              <a:buNone/>
            </a:pPr>
            <a:r>
              <a:rPr lang="en-US" sz="3400" b="1" dirty="0">
                <a:solidFill>
                  <a:srgbClr val="1B2A52"/>
                </a:solidFill>
                <a:latin typeface="Cambria" pitchFamily="34" charset="0"/>
                <a:ea typeface="Cambria" pitchFamily="34" charset="-122"/>
                <a:cs typeface="Cambria" pitchFamily="34" charset="-120"/>
              </a:rPr>
              <a:t>Three Things to Take Home</a:t>
            </a:r>
            <a:endParaRPr lang="en-US" sz="3400" dirty="0"/>
          </a:p>
        </p:txBody>
      </p:sp>
      <p:sp>
        <p:nvSpPr>
          <p:cNvPr id="4" name="Shape 2"/>
          <p:cNvSpPr/>
          <p:nvPr/>
        </p:nvSpPr>
        <p:spPr>
          <a:xfrm>
            <a:off x="502920" y="1874520"/>
            <a:ext cx="11201400" cy="1325880"/>
          </a:xfrm>
          <a:prstGeom prst="roundRect">
            <a:avLst>
              <a:gd name="adj" fmla="val 8276"/>
            </a:avLst>
          </a:prstGeom>
          <a:solidFill>
            <a:srgbClr val="EDF1F8"/>
          </a:solidFill>
          <a:ln/>
        </p:spPr>
      </p:sp>
      <p:sp>
        <p:nvSpPr>
          <p:cNvPr id="5" name="Shape 3"/>
          <p:cNvSpPr/>
          <p:nvPr/>
        </p:nvSpPr>
        <p:spPr>
          <a:xfrm>
            <a:off x="822960" y="2258568"/>
            <a:ext cx="548640" cy="548640"/>
          </a:xfrm>
          <a:prstGeom prst="ellipse">
            <a:avLst/>
          </a:prstGeom>
          <a:solidFill>
            <a:srgbClr val="C9A227"/>
          </a:solidFill>
          <a:ln/>
        </p:spPr>
      </p:sp>
      <p:sp>
        <p:nvSpPr>
          <p:cNvPr id="6" name="Text 4"/>
          <p:cNvSpPr txBox="1"/>
          <p:nvPr/>
        </p:nvSpPr>
        <p:spPr>
          <a:xfrm>
            <a:off x="822960" y="2258568"/>
            <a:ext cx="548640" cy="548640"/>
          </a:xfrm>
          <a:prstGeom prst="rect">
            <a:avLst/>
          </a:prstGeom>
          <a:noFill/>
          <a:ln/>
        </p:spPr>
        <p:txBody>
          <a:bodyPr wrap="square" lIns="0" tIns="0" rIns="0" bIns="0" rtlCol="0" anchor="ctr"/>
          <a:lstStyle/>
          <a:p>
            <a:pPr algn="ctr" indent="0" marL="0">
              <a:buNone/>
            </a:pPr>
            <a:r>
              <a:rPr lang="en-US" sz="2000" b="1" dirty="0">
                <a:solidFill>
                  <a:srgbClr val="1B2A52"/>
                </a:solidFill>
                <a:latin typeface="Cambria" pitchFamily="34" charset="0"/>
                <a:ea typeface="Cambria" pitchFamily="34" charset="-122"/>
                <a:cs typeface="Cambria" pitchFamily="34" charset="-120"/>
              </a:rPr>
              <a:t>1</a:t>
            </a:r>
            <a:endParaRPr lang="en-US" sz="2000" dirty="0"/>
          </a:p>
        </p:txBody>
      </p:sp>
      <p:sp>
        <p:nvSpPr>
          <p:cNvPr id="7" name="Shape 5"/>
          <p:cNvSpPr/>
          <p:nvPr/>
        </p:nvSpPr>
        <p:spPr>
          <a:xfrm>
            <a:off x="1600200" y="2249424"/>
            <a:ext cx="566928" cy="566928"/>
          </a:xfrm>
          <a:prstGeom prst="ellipse">
            <a:avLst/>
          </a:prstGeom>
          <a:solidFill>
            <a:srgbClr val="1B2A52"/>
          </a:solidFill>
          <a:ln/>
        </p:spPr>
      </p:sp>
      <p:pic>
        <p:nvPicPr>
          <p:cNvPr id="8" name="Image 0" descr="preencoded.png">    </p:cNvPr>
          <p:cNvPicPr>
            <a:picLocks noChangeAspect="1"/>
          </p:cNvPicPr>
          <p:nvPr/>
        </p:nvPicPr>
        <p:blipFill>
          <a:blip r:embed="rId1"/>
          <a:stretch>
            <a:fillRect/>
          </a:stretch>
        </p:blipFill>
        <p:spPr>
          <a:xfrm>
            <a:off x="1753271" y="2402495"/>
            <a:ext cx="260787" cy="260787"/>
          </a:xfrm>
          <a:prstGeom prst="rect">
            <a:avLst/>
          </a:prstGeom>
        </p:spPr>
      </p:pic>
      <p:sp>
        <p:nvSpPr>
          <p:cNvPr id="9" name="Text 6"/>
          <p:cNvSpPr txBox="1"/>
          <p:nvPr/>
        </p:nvSpPr>
        <p:spPr>
          <a:xfrm>
            <a:off x="2423160" y="2093976"/>
            <a:ext cx="9052560" cy="347472"/>
          </a:xfrm>
          <a:prstGeom prst="rect">
            <a:avLst/>
          </a:prstGeom>
          <a:noFill/>
          <a:ln/>
        </p:spPr>
        <p:txBody>
          <a:bodyPr wrap="square" lIns="0" tIns="0" rIns="0" bIns="0" rtlCol="0" anchor="ctr"/>
          <a:lstStyle/>
          <a:p>
            <a:pPr indent="0" marL="0">
              <a:buNone/>
            </a:pPr>
            <a:r>
              <a:rPr lang="en-US" sz="1650" b="1" dirty="0">
                <a:solidFill>
                  <a:srgbClr val="1B2A52"/>
                </a:solidFill>
                <a:latin typeface="Calibri" pitchFamily="34" charset="0"/>
                <a:ea typeface="Calibri" pitchFamily="34" charset="-122"/>
                <a:cs typeface="Calibri" pitchFamily="34" charset="-120"/>
              </a:rPr>
              <a:t>How to use the new FSY guide</a:t>
            </a:r>
            <a:endParaRPr lang="en-US" sz="1650" dirty="0"/>
          </a:p>
        </p:txBody>
      </p:sp>
      <p:sp>
        <p:nvSpPr>
          <p:cNvPr id="10" name="Text 7"/>
          <p:cNvSpPr txBox="1"/>
          <p:nvPr/>
        </p:nvSpPr>
        <p:spPr>
          <a:xfrm>
            <a:off x="2423160" y="2478024"/>
            <a:ext cx="9052560" cy="594360"/>
          </a:xfrm>
          <a:prstGeom prst="rect">
            <a:avLst/>
          </a:prstGeom>
          <a:noFill/>
          <a:ln/>
        </p:spPr>
        <p:txBody>
          <a:bodyPr wrap="square" lIns="0" tIns="0" rIns="0" bIns="0" rtlCol="0" anchor="t"/>
          <a:lstStyle/>
          <a:p>
            <a:pPr indent="0" marL="0">
              <a:buNone/>
            </a:pPr>
            <a:r>
              <a:rPr lang="en-US" sz="1250" dirty="0">
                <a:solidFill>
                  <a:srgbClr val="5C6575"/>
                </a:solidFill>
                <a:latin typeface="Calibri" pitchFamily="34" charset="0"/>
                <a:ea typeface="Calibri" pitchFamily="34" charset="-122"/>
                <a:cs typeface="Calibri" pitchFamily="34" charset="-120"/>
              </a:rPr>
              <a:t>Each month's chapter gives us eternal truths, invitations, and promised blessings — the heart of every Sunday lesson.</a:t>
            </a:r>
            <a:endParaRPr lang="en-US" sz="1250" dirty="0"/>
          </a:p>
        </p:txBody>
      </p:sp>
      <p:sp>
        <p:nvSpPr>
          <p:cNvPr id="11" name="Shape 8"/>
          <p:cNvSpPr/>
          <p:nvPr/>
        </p:nvSpPr>
        <p:spPr>
          <a:xfrm>
            <a:off x="502920" y="3355848"/>
            <a:ext cx="11201400" cy="1325880"/>
          </a:xfrm>
          <a:prstGeom prst="roundRect">
            <a:avLst>
              <a:gd name="adj" fmla="val 8276"/>
            </a:avLst>
          </a:prstGeom>
          <a:solidFill>
            <a:srgbClr val="EDF1F8"/>
          </a:solidFill>
          <a:ln/>
        </p:spPr>
      </p:sp>
      <p:sp>
        <p:nvSpPr>
          <p:cNvPr id="12" name="Shape 9"/>
          <p:cNvSpPr/>
          <p:nvPr/>
        </p:nvSpPr>
        <p:spPr>
          <a:xfrm>
            <a:off x="822960" y="3739896"/>
            <a:ext cx="548640" cy="548640"/>
          </a:xfrm>
          <a:prstGeom prst="ellipse">
            <a:avLst/>
          </a:prstGeom>
          <a:solidFill>
            <a:srgbClr val="C9A227"/>
          </a:solidFill>
          <a:ln/>
        </p:spPr>
      </p:sp>
      <p:sp>
        <p:nvSpPr>
          <p:cNvPr id="13" name="Text 10"/>
          <p:cNvSpPr txBox="1"/>
          <p:nvPr/>
        </p:nvSpPr>
        <p:spPr>
          <a:xfrm>
            <a:off x="822960" y="3739896"/>
            <a:ext cx="548640" cy="548640"/>
          </a:xfrm>
          <a:prstGeom prst="rect">
            <a:avLst/>
          </a:prstGeom>
          <a:noFill/>
          <a:ln/>
        </p:spPr>
        <p:txBody>
          <a:bodyPr wrap="square" lIns="0" tIns="0" rIns="0" bIns="0" rtlCol="0" anchor="ctr"/>
          <a:lstStyle/>
          <a:p>
            <a:pPr algn="ctr" indent="0" marL="0">
              <a:buNone/>
            </a:pPr>
            <a:r>
              <a:rPr lang="en-US" sz="2000" b="1" dirty="0">
                <a:solidFill>
                  <a:srgbClr val="1B2A52"/>
                </a:solidFill>
                <a:latin typeface="Cambria" pitchFamily="34" charset="0"/>
                <a:ea typeface="Cambria" pitchFamily="34" charset="-122"/>
                <a:cs typeface="Cambria" pitchFamily="34" charset="-120"/>
              </a:rPr>
              <a:t>2</a:t>
            </a:r>
            <a:endParaRPr lang="en-US" sz="2000" dirty="0"/>
          </a:p>
        </p:txBody>
      </p:sp>
      <p:sp>
        <p:nvSpPr>
          <p:cNvPr id="14" name="Shape 11"/>
          <p:cNvSpPr/>
          <p:nvPr/>
        </p:nvSpPr>
        <p:spPr>
          <a:xfrm>
            <a:off x="1600200" y="3730752"/>
            <a:ext cx="566928" cy="566928"/>
          </a:xfrm>
          <a:prstGeom prst="ellipse">
            <a:avLst/>
          </a:prstGeom>
          <a:solidFill>
            <a:srgbClr val="1B2A52"/>
          </a:solidFill>
          <a:ln/>
        </p:spPr>
      </p:sp>
      <p:pic>
        <p:nvPicPr>
          <p:cNvPr id="15" name="Image 1" descr="preencoded.png">    </p:cNvPr>
          <p:cNvPicPr>
            <a:picLocks noChangeAspect="1"/>
          </p:cNvPicPr>
          <p:nvPr/>
        </p:nvPicPr>
        <p:blipFill>
          <a:blip r:embed="rId2"/>
          <a:stretch>
            <a:fillRect/>
          </a:stretch>
        </p:blipFill>
        <p:spPr>
          <a:xfrm>
            <a:off x="1753271" y="3883823"/>
            <a:ext cx="260787" cy="260787"/>
          </a:xfrm>
          <a:prstGeom prst="rect">
            <a:avLst/>
          </a:prstGeom>
        </p:spPr>
      </p:pic>
      <p:sp>
        <p:nvSpPr>
          <p:cNvPr id="16" name="Text 12"/>
          <p:cNvSpPr txBox="1"/>
          <p:nvPr/>
        </p:nvSpPr>
        <p:spPr>
          <a:xfrm>
            <a:off x="2423160" y="3575304"/>
            <a:ext cx="9052560" cy="347472"/>
          </a:xfrm>
          <a:prstGeom prst="rect">
            <a:avLst/>
          </a:prstGeom>
          <a:noFill/>
          <a:ln/>
        </p:spPr>
        <p:txBody>
          <a:bodyPr wrap="square" lIns="0" tIns="0" rIns="0" bIns="0" rtlCol="0" anchor="ctr"/>
          <a:lstStyle/>
          <a:p>
            <a:pPr indent="0" marL="0">
              <a:buNone/>
            </a:pPr>
            <a:r>
              <a:rPr lang="en-US" sz="1650" b="1" dirty="0">
                <a:solidFill>
                  <a:srgbClr val="1B2A52"/>
                </a:solidFill>
                <a:latin typeface="Calibri" pitchFamily="34" charset="0"/>
                <a:ea typeface="Calibri" pitchFamily="34" charset="-122"/>
                <a:cs typeface="Calibri" pitchFamily="34" charset="-120"/>
              </a:rPr>
              <a:t>How to use the new magazine</a:t>
            </a:r>
            <a:endParaRPr lang="en-US" sz="1650" dirty="0"/>
          </a:p>
        </p:txBody>
      </p:sp>
      <p:sp>
        <p:nvSpPr>
          <p:cNvPr id="17" name="Text 13"/>
          <p:cNvSpPr txBox="1"/>
          <p:nvPr/>
        </p:nvSpPr>
        <p:spPr>
          <a:xfrm>
            <a:off x="2423160" y="3959352"/>
            <a:ext cx="9052560" cy="594360"/>
          </a:xfrm>
          <a:prstGeom prst="rect">
            <a:avLst/>
          </a:prstGeom>
          <a:noFill/>
          <a:ln/>
        </p:spPr>
        <p:txBody>
          <a:bodyPr wrap="square" lIns="0" tIns="0" rIns="0" bIns="0" rtlCol="0" anchor="t"/>
          <a:lstStyle/>
          <a:p>
            <a:pPr indent="0" marL="0">
              <a:buNone/>
            </a:pPr>
            <a:r>
              <a:rPr lang="en-US" sz="1250" dirty="0">
                <a:solidFill>
                  <a:srgbClr val="5C6575"/>
                </a:solidFill>
                <a:latin typeface="Calibri" pitchFamily="34" charset="0"/>
                <a:ea typeface="Calibri" pitchFamily="34" charset="-122"/>
                <a:cs typeface="Calibri" pitchFamily="34" charset="-120"/>
              </a:rPr>
              <a:t>The monthly FSY magazine carries each Sunday's lesson and brings the theme home to your family all month.</a:t>
            </a:r>
            <a:endParaRPr lang="en-US" sz="1250" dirty="0"/>
          </a:p>
        </p:txBody>
      </p:sp>
      <p:sp>
        <p:nvSpPr>
          <p:cNvPr id="18" name="Shape 14"/>
          <p:cNvSpPr/>
          <p:nvPr/>
        </p:nvSpPr>
        <p:spPr>
          <a:xfrm>
            <a:off x="502920" y="4837176"/>
            <a:ext cx="11201400" cy="1325880"/>
          </a:xfrm>
          <a:prstGeom prst="roundRect">
            <a:avLst>
              <a:gd name="adj" fmla="val 8276"/>
            </a:avLst>
          </a:prstGeom>
          <a:solidFill>
            <a:srgbClr val="EDF1F8"/>
          </a:solidFill>
          <a:ln/>
        </p:spPr>
      </p:sp>
      <p:sp>
        <p:nvSpPr>
          <p:cNvPr id="19" name="Shape 15"/>
          <p:cNvSpPr/>
          <p:nvPr/>
        </p:nvSpPr>
        <p:spPr>
          <a:xfrm>
            <a:off x="822960" y="5221224"/>
            <a:ext cx="548640" cy="548640"/>
          </a:xfrm>
          <a:prstGeom prst="ellipse">
            <a:avLst/>
          </a:prstGeom>
          <a:solidFill>
            <a:srgbClr val="C9A227"/>
          </a:solidFill>
          <a:ln/>
        </p:spPr>
      </p:sp>
      <p:sp>
        <p:nvSpPr>
          <p:cNvPr id="20" name="Text 16"/>
          <p:cNvSpPr txBox="1"/>
          <p:nvPr/>
        </p:nvSpPr>
        <p:spPr>
          <a:xfrm>
            <a:off x="822960" y="5221224"/>
            <a:ext cx="548640" cy="548640"/>
          </a:xfrm>
          <a:prstGeom prst="rect">
            <a:avLst/>
          </a:prstGeom>
          <a:noFill/>
          <a:ln/>
        </p:spPr>
        <p:txBody>
          <a:bodyPr wrap="square" lIns="0" tIns="0" rIns="0" bIns="0" rtlCol="0" anchor="ctr"/>
          <a:lstStyle/>
          <a:p>
            <a:pPr algn="ctr" indent="0" marL="0">
              <a:buNone/>
            </a:pPr>
            <a:r>
              <a:rPr lang="en-US" sz="2000" b="1" dirty="0">
                <a:solidFill>
                  <a:srgbClr val="1B2A52"/>
                </a:solidFill>
                <a:latin typeface="Cambria" pitchFamily="34" charset="0"/>
                <a:ea typeface="Cambria" pitchFamily="34" charset="-122"/>
                <a:cs typeface="Cambria" pitchFamily="34" charset="-120"/>
              </a:rPr>
              <a:t>3</a:t>
            </a:r>
            <a:endParaRPr lang="en-US" sz="2000" dirty="0"/>
          </a:p>
        </p:txBody>
      </p:sp>
      <p:sp>
        <p:nvSpPr>
          <p:cNvPr id="21" name="Shape 17"/>
          <p:cNvSpPr/>
          <p:nvPr/>
        </p:nvSpPr>
        <p:spPr>
          <a:xfrm>
            <a:off x="1600200" y="5212080"/>
            <a:ext cx="566928" cy="566928"/>
          </a:xfrm>
          <a:prstGeom prst="ellipse">
            <a:avLst/>
          </a:prstGeom>
          <a:solidFill>
            <a:srgbClr val="1B2A52"/>
          </a:solidFill>
          <a:ln/>
        </p:spPr>
      </p:sp>
      <p:pic>
        <p:nvPicPr>
          <p:cNvPr id="22" name="Image 2" descr="preencoded.png">    </p:cNvPr>
          <p:cNvPicPr>
            <a:picLocks noChangeAspect="1"/>
          </p:cNvPicPr>
          <p:nvPr/>
        </p:nvPicPr>
        <p:blipFill>
          <a:blip r:embed="rId3"/>
          <a:stretch>
            <a:fillRect/>
          </a:stretch>
        </p:blipFill>
        <p:spPr>
          <a:xfrm>
            <a:off x="1753271" y="5365151"/>
            <a:ext cx="260787" cy="260787"/>
          </a:xfrm>
          <a:prstGeom prst="rect">
            <a:avLst/>
          </a:prstGeom>
        </p:spPr>
      </p:pic>
      <p:sp>
        <p:nvSpPr>
          <p:cNvPr id="23" name="Text 18"/>
          <p:cNvSpPr txBox="1"/>
          <p:nvPr/>
        </p:nvSpPr>
        <p:spPr>
          <a:xfrm>
            <a:off x="2423160" y="5056632"/>
            <a:ext cx="9052560" cy="347472"/>
          </a:xfrm>
          <a:prstGeom prst="rect">
            <a:avLst/>
          </a:prstGeom>
          <a:noFill/>
          <a:ln/>
        </p:spPr>
        <p:txBody>
          <a:bodyPr wrap="square" lIns="0" tIns="0" rIns="0" bIns="0" rtlCol="0" anchor="ctr"/>
          <a:lstStyle/>
          <a:p>
            <a:pPr indent="0" marL="0">
              <a:buNone/>
            </a:pPr>
            <a:r>
              <a:rPr lang="en-US" sz="1650" b="1" dirty="0">
                <a:solidFill>
                  <a:srgbClr val="1B2A52"/>
                </a:solidFill>
                <a:latin typeface="Calibri" pitchFamily="34" charset="0"/>
                <a:ea typeface="Calibri" pitchFamily="34" charset="-122"/>
                <a:cs typeface="Calibri" pitchFamily="34" charset="-120"/>
              </a:rPr>
              <a:t>How the youth can participate</a:t>
            </a:r>
            <a:endParaRPr lang="en-US" sz="1650" dirty="0"/>
          </a:p>
        </p:txBody>
      </p:sp>
      <p:sp>
        <p:nvSpPr>
          <p:cNvPr id="24" name="Text 19"/>
          <p:cNvSpPr txBox="1"/>
          <p:nvPr/>
        </p:nvSpPr>
        <p:spPr>
          <a:xfrm>
            <a:off x="2423160" y="5440680"/>
            <a:ext cx="9052560" cy="594360"/>
          </a:xfrm>
          <a:prstGeom prst="rect">
            <a:avLst/>
          </a:prstGeom>
          <a:noFill/>
          <a:ln/>
        </p:spPr>
        <p:txBody>
          <a:bodyPr wrap="square" lIns="0" tIns="0" rIns="0" bIns="0" rtlCol="0" anchor="t"/>
          <a:lstStyle/>
          <a:p>
            <a:pPr indent="0" marL="0">
              <a:buNone/>
            </a:pPr>
            <a:r>
              <a:rPr lang="en-US" sz="1250" dirty="0">
                <a:solidFill>
                  <a:srgbClr val="5C6575"/>
                </a:solidFill>
                <a:latin typeface="Calibri" pitchFamily="34" charset="0"/>
                <a:ea typeface="Calibri" pitchFamily="34" charset="-122"/>
                <a:cs typeface="Calibri" pitchFamily="34" charset="-120"/>
              </a:rPr>
              <a:t>These classes are discussions, not lectures — every youth can share, teach, testify, and lead.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THE ANNOUNCEMENT</a:t>
            </a:r>
            <a:endParaRPr lang="en-US" sz="1200" dirty="0"/>
          </a:p>
        </p:txBody>
      </p:sp>
      <p:sp>
        <p:nvSpPr>
          <p:cNvPr id="3" name="Text 1"/>
          <p:cNvSpPr txBox="1"/>
          <p:nvPr/>
        </p:nvSpPr>
        <p:spPr>
          <a:xfrm>
            <a:off x="548640" y="749808"/>
            <a:ext cx="11064240" cy="731520"/>
          </a:xfrm>
          <a:prstGeom prst="rect">
            <a:avLst/>
          </a:prstGeom>
          <a:noFill/>
          <a:ln/>
        </p:spPr>
        <p:txBody>
          <a:bodyPr wrap="square" lIns="0" tIns="0" rIns="0" bIns="0" rtlCol="0" anchor="ctr"/>
          <a:lstStyle/>
          <a:p>
            <a:pPr algn="l" indent="0" marL="0">
              <a:buNone/>
            </a:pPr>
            <a:r>
              <a:rPr lang="en-US" sz="3400" b="1" dirty="0">
                <a:solidFill>
                  <a:srgbClr val="1B2A52"/>
                </a:solidFill>
                <a:latin typeface="Cambria" pitchFamily="34" charset="0"/>
                <a:ea typeface="Cambria" pitchFamily="34" charset="-122"/>
                <a:cs typeface="Cambria" pitchFamily="34" charset="-120"/>
              </a:rPr>
              <a:t>More Than a Schedule Change</a:t>
            </a:r>
            <a:endParaRPr lang="en-US" sz="3400" dirty="0"/>
          </a:p>
        </p:txBody>
      </p:sp>
      <p:sp>
        <p:nvSpPr>
          <p:cNvPr id="4" name="Shape 2"/>
          <p:cNvSpPr/>
          <p:nvPr/>
        </p:nvSpPr>
        <p:spPr>
          <a:xfrm>
            <a:off x="548640" y="1874520"/>
            <a:ext cx="566928" cy="566928"/>
          </a:xfrm>
          <a:prstGeom prst="ellipse">
            <a:avLst/>
          </a:prstGeom>
          <a:solidFill>
            <a:srgbClr val="1B2A52"/>
          </a:solidFill>
          <a:ln/>
        </p:spPr>
      </p:sp>
      <p:pic>
        <p:nvPicPr>
          <p:cNvPr id="5" name="Image 0" descr="preencoded.png">    </p:cNvPr>
          <p:cNvPicPr>
            <a:picLocks noChangeAspect="1"/>
          </p:cNvPicPr>
          <p:nvPr/>
        </p:nvPicPr>
        <p:blipFill>
          <a:blip r:embed="rId1"/>
          <a:stretch>
            <a:fillRect/>
          </a:stretch>
        </p:blipFill>
        <p:spPr>
          <a:xfrm>
            <a:off x="701711" y="2027591"/>
            <a:ext cx="260787" cy="260787"/>
          </a:xfrm>
          <a:prstGeom prst="rect">
            <a:avLst/>
          </a:prstGeom>
        </p:spPr>
      </p:pic>
      <p:sp>
        <p:nvSpPr>
          <p:cNvPr id="6" name="Text 3"/>
          <p:cNvSpPr txBox="1"/>
          <p:nvPr/>
        </p:nvSpPr>
        <p:spPr>
          <a:xfrm>
            <a:off x="1325880" y="1819656"/>
            <a:ext cx="5120640" cy="320040"/>
          </a:xfrm>
          <a:prstGeom prst="rect">
            <a:avLst/>
          </a:prstGeom>
          <a:noFill/>
          <a:ln/>
        </p:spPr>
        <p:txBody>
          <a:bodyPr wrap="square" lIns="0" tIns="0" rIns="0" bIns="0" rtlCol="0" anchor="ctr"/>
          <a:lstStyle/>
          <a:p>
            <a:pPr indent="0" marL="0">
              <a:buNone/>
            </a:pPr>
            <a:r>
              <a:rPr lang="en-US" sz="1650" b="1" dirty="0">
                <a:solidFill>
                  <a:srgbClr val="1B2A52"/>
                </a:solidFill>
                <a:latin typeface="Calibri" pitchFamily="34" charset="0"/>
                <a:ea typeface="Calibri" pitchFamily="34" charset="-122"/>
                <a:cs typeface="Calibri" pitchFamily="34" charset="-120"/>
              </a:rPr>
              <a:t>Announced March 30, 2026</a:t>
            </a:r>
            <a:endParaRPr lang="en-US" sz="1650" dirty="0"/>
          </a:p>
        </p:txBody>
      </p:sp>
      <p:sp>
        <p:nvSpPr>
          <p:cNvPr id="7" name="Text 4"/>
          <p:cNvSpPr txBox="1"/>
          <p:nvPr/>
        </p:nvSpPr>
        <p:spPr>
          <a:xfrm>
            <a:off x="1325880" y="2167128"/>
            <a:ext cx="5074920" cy="868680"/>
          </a:xfrm>
          <a:prstGeom prst="rect">
            <a:avLst/>
          </a:prstGeom>
          <a:noFill/>
          <a:ln/>
        </p:spPr>
        <p:txBody>
          <a:bodyPr wrap="square" lIns="0" tIns="0" rIns="0" bIns="0" rtlCol="0" anchor="ctr"/>
          <a:lstStyle/>
          <a:p>
            <a:pPr indent="0" marL="0">
              <a:buNone/>
            </a:pPr>
            <a:r>
              <a:rPr lang="en-US" sz="1300" dirty="0">
                <a:solidFill>
                  <a:srgbClr val="5C6575"/>
                </a:solidFill>
                <a:latin typeface="Calibri" pitchFamily="34" charset="0"/>
                <a:ea typeface="Calibri" pitchFamily="34" charset="-122"/>
                <a:cs typeface="Calibri" pitchFamily="34" charset="-120"/>
              </a:rPr>
              <a:t>The First Presidency announced changes to the Sunday class meeting schedule along with a new curriculum for youth.</a:t>
            </a:r>
            <a:endParaRPr lang="en-US" sz="1300" dirty="0"/>
          </a:p>
        </p:txBody>
      </p:sp>
      <p:sp>
        <p:nvSpPr>
          <p:cNvPr id="8" name="Shape 5"/>
          <p:cNvSpPr/>
          <p:nvPr/>
        </p:nvSpPr>
        <p:spPr>
          <a:xfrm>
            <a:off x="548640" y="3264408"/>
            <a:ext cx="566928" cy="566928"/>
          </a:xfrm>
          <a:prstGeom prst="ellipse">
            <a:avLst/>
          </a:prstGeom>
          <a:solidFill>
            <a:srgbClr val="1B2A52"/>
          </a:solidFill>
          <a:ln/>
        </p:spPr>
      </p:sp>
      <p:pic>
        <p:nvPicPr>
          <p:cNvPr id="9" name="Image 1" descr="preencoded.png">    </p:cNvPr>
          <p:cNvPicPr>
            <a:picLocks noChangeAspect="1"/>
          </p:cNvPicPr>
          <p:nvPr/>
        </p:nvPicPr>
        <p:blipFill>
          <a:blip r:embed="rId2"/>
          <a:stretch>
            <a:fillRect/>
          </a:stretch>
        </p:blipFill>
        <p:spPr>
          <a:xfrm>
            <a:off x="701711" y="3417479"/>
            <a:ext cx="260787" cy="260787"/>
          </a:xfrm>
          <a:prstGeom prst="rect">
            <a:avLst/>
          </a:prstGeom>
        </p:spPr>
      </p:pic>
      <p:sp>
        <p:nvSpPr>
          <p:cNvPr id="10" name="Text 6"/>
          <p:cNvSpPr txBox="1"/>
          <p:nvPr/>
        </p:nvSpPr>
        <p:spPr>
          <a:xfrm>
            <a:off x="1325880" y="3209544"/>
            <a:ext cx="5120640" cy="320040"/>
          </a:xfrm>
          <a:prstGeom prst="rect">
            <a:avLst/>
          </a:prstGeom>
          <a:noFill/>
          <a:ln/>
        </p:spPr>
        <p:txBody>
          <a:bodyPr wrap="square" lIns="0" tIns="0" rIns="0" bIns="0" rtlCol="0" anchor="ctr"/>
          <a:lstStyle/>
          <a:p>
            <a:pPr indent="0" marL="0">
              <a:buNone/>
            </a:pPr>
            <a:r>
              <a:rPr lang="en-US" sz="1650" b="1" dirty="0">
                <a:solidFill>
                  <a:srgbClr val="1B2A52"/>
                </a:solidFill>
                <a:latin typeface="Calibri" pitchFamily="34" charset="0"/>
                <a:ea typeface="Calibri" pitchFamily="34" charset="-122"/>
                <a:cs typeface="Calibri" pitchFamily="34" charset="-120"/>
              </a:rPr>
              <a:t>Begins September 6, 2026</a:t>
            </a:r>
            <a:endParaRPr lang="en-US" sz="1650" dirty="0"/>
          </a:p>
        </p:txBody>
      </p:sp>
      <p:sp>
        <p:nvSpPr>
          <p:cNvPr id="11" name="Text 7"/>
          <p:cNvSpPr txBox="1"/>
          <p:nvPr/>
        </p:nvSpPr>
        <p:spPr>
          <a:xfrm>
            <a:off x="1325880" y="3557016"/>
            <a:ext cx="5074920" cy="868680"/>
          </a:xfrm>
          <a:prstGeom prst="rect">
            <a:avLst/>
          </a:prstGeom>
          <a:noFill/>
          <a:ln/>
        </p:spPr>
        <p:txBody>
          <a:bodyPr wrap="square" lIns="0" tIns="0" rIns="0" bIns="0" rtlCol="0" anchor="ctr"/>
          <a:lstStyle/>
          <a:p>
            <a:pPr indent="0" marL="0">
              <a:buNone/>
            </a:pPr>
            <a:r>
              <a:rPr lang="en-US" sz="1300" dirty="0">
                <a:solidFill>
                  <a:srgbClr val="5C6575"/>
                </a:solidFill>
                <a:latin typeface="Calibri" pitchFamily="34" charset="0"/>
                <a:ea typeface="Calibri" pitchFamily="34" charset="-122"/>
                <a:cs typeface="Calibri" pitchFamily="34" charset="-120"/>
              </a:rPr>
              <a:t>The first Sunday under the new schedule. Classes meet every week in wards and branches worldwide.</a:t>
            </a:r>
            <a:endParaRPr lang="en-US" sz="1300" dirty="0"/>
          </a:p>
        </p:txBody>
      </p:sp>
      <p:sp>
        <p:nvSpPr>
          <p:cNvPr id="12" name="Shape 8"/>
          <p:cNvSpPr/>
          <p:nvPr/>
        </p:nvSpPr>
        <p:spPr>
          <a:xfrm>
            <a:off x="548640" y="4654296"/>
            <a:ext cx="566928" cy="566928"/>
          </a:xfrm>
          <a:prstGeom prst="ellipse">
            <a:avLst/>
          </a:prstGeom>
          <a:solidFill>
            <a:srgbClr val="1B2A52"/>
          </a:solidFill>
          <a:ln/>
        </p:spPr>
      </p:sp>
      <p:pic>
        <p:nvPicPr>
          <p:cNvPr id="13" name="Image 2" descr="preencoded.png">    </p:cNvPr>
          <p:cNvPicPr>
            <a:picLocks noChangeAspect="1"/>
          </p:cNvPicPr>
          <p:nvPr/>
        </p:nvPicPr>
        <p:blipFill>
          <a:blip r:embed="rId3"/>
          <a:stretch>
            <a:fillRect/>
          </a:stretch>
        </p:blipFill>
        <p:spPr>
          <a:xfrm>
            <a:off x="701711" y="4807367"/>
            <a:ext cx="260787" cy="260787"/>
          </a:xfrm>
          <a:prstGeom prst="rect">
            <a:avLst/>
          </a:prstGeom>
        </p:spPr>
      </p:pic>
      <p:sp>
        <p:nvSpPr>
          <p:cNvPr id="14" name="Text 9"/>
          <p:cNvSpPr txBox="1"/>
          <p:nvPr/>
        </p:nvSpPr>
        <p:spPr>
          <a:xfrm>
            <a:off x="1325880" y="4599432"/>
            <a:ext cx="5120640" cy="320040"/>
          </a:xfrm>
          <a:prstGeom prst="rect">
            <a:avLst/>
          </a:prstGeom>
          <a:noFill/>
          <a:ln/>
        </p:spPr>
        <p:txBody>
          <a:bodyPr wrap="square" lIns="0" tIns="0" rIns="0" bIns="0" rtlCol="0" anchor="ctr"/>
          <a:lstStyle/>
          <a:p>
            <a:pPr indent="0" marL="0">
              <a:buNone/>
            </a:pPr>
            <a:r>
              <a:rPr lang="en-US" sz="1650" b="1" dirty="0">
                <a:solidFill>
                  <a:srgbClr val="1B2A52"/>
                </a:solidFill>
                <a:latin typeface="Calibri" pitchFamily="34" charset="0"/>
                <a:ea typeface="Calibri" pitchFamily="34" charset="-122"/>
                <a:cs typeface="Calibri" pitchFamily="34" charset="-120"/>
              </a:rPr>
              <a:t>Centered on the FSY guide</a:t>
            </a:r>
            <a:endParaRPr lang="en-US" sz="1650" dirty="0"/>
          </a:p>
        </p:txBody>
      </p:sp>
      <p:sp>
        <p:nvSpPr>
          <p:cNvPr id="15" name="Text 10"/>
          <p:cNvSpPr txBox="1"/>
          <p:nvPr/>
        </p:nvSpPr>
        <p:spPr>
          <a:xfrm>
            <a:off x="1325880" y="4946904"/>
            <a:ext cx="5074920" cy="868680"/>
          </a:xfrm>
          <a:prstGeom prst="rect">
            <a:avLst/>
          </a:prstGeom>
          <a:noFill/>
          <a:ln/>
        </p:spPr>
        <p:txBody>
          <a:bodyPr wrap="square" lIns="0" tIns="0" rIns="0" bIns="0" rtlCol="0" anchor="ctr"/>
          <a:lstStyle/>
          <a:p>
            <a:pPr indent="0" marL="0">
              <a:buNone/>
            </a:pPr>
            <a:r>
              <a:rPr lang="en-US" sz="1300" dirty="0">
                <a:solidFill>
                  <a:srgbClr val="5C6575"/>
                </a:solidFill>
                <a:latin typeface="Calibri" pitchFamily="34" charset="0"/>
                <a:ea typeface="Calibri" pitchFamily="34" charset="-122"/>
                <a:cs typeface="Calibri" pitchFamily="34" charset="-120"/>
              </a:rPr>
              <a:t>Youth lessons draw on the updated For the Strength of Youth: A Guide for Making Choices and the scriptures.</a:t>
            </a:r>
            <a:endParaRPr lang="en-US" sz="1300" dirty="0"/>
          </a:p>
        </p:txBody>
      </p:sp>
      <p:sp>
        <p:nvSpPr>
          <p:cNvPr id="16" name="Shape 11"/>
          <p:cNvSpPr/>
          <p:nvPr/>
        </p:nvSpPr>
        <p:spPr>
          <a:xfrm>
            <a:off x="6903720" y="1783080"/>
            <a:ext cx="4754880" cy="4069080"/>
          </a:xfrm>
          <a:prstGeom prst="roundRect">
            <a:avLst>
              <a:gd name="adj" fmla="val 2697"/>
            </a:avLst>
          </a:prstGeom>
          <a:solidFill>
            <a:srgbClr val="1B2A52"/>
          </a:solidFill>
          <a:ln/>
        </p:spPr>
      </p:sp>
      <p:pic>
        <p:nvPicPr>
          <p:cNvPr id="17" name="Image 3" descr="preencoded.png">    </p:cNvPr>
          <p:cNvPicPr>
            <a:picLocks noChangeAspect="1"/>
          </p:cNvPicPr>
          <p:nvPr/>
        </p:nvPicPr>
        <p:blipFill>
          <a:blip r:embed="rId4"/>
          <a:stretch>
            <a:fillRect/>
          </a:stretch>
        </p:blipFill>
        <p:spPr>
          <a:xfrm>
            <a:off x="7269480" y="2148840"/>
            <a:ext cx="384048" cy="384048"/>
          </a:xfrm>
          <a:prstGeom prst="rect">
            <a:avLst/>
          </a:prstGeom>
        </p:spPr>
      </p:pic>
      <p:sp>
        <p:nvSpPr>
          <p:cNvPr id="18" name="Text 12"/>
          <p:cNvSpPr txBox="1"/>
          <p:nvPr/>
        </p:nvSpPr>
        <p:spPr>
          <a:xfrm>
            <a:off x="7269480" y="2697480"/>
            <a:ext cx="4023360" cy="1965960"/>
          </a:xfrm>
          <a:prstGeom prst="rect">
            <a:avLst/>
          </a:prstGeom>
          <a:noFill/>
          <a:ln/>
        </p:spPr>
        <p:txBody>
          <a:bodyPr wrap="square" lIns="0" tIns="0" rIns="0" bIns="0" rtlCol="0" anchor="ctr"/>
          <a:lstStyle/>
          <a:p>
            <a:pPr indent="0" marL="0">
              <a:buNone/>
            </a:pPr>
            <a:r>
              <a:rPr lang="en-US" sz="1750" i="1" dirty="0">
                <a:solidFill>
                  <a:srgbClr val="FFFFFF"/>
                </a:solidFill>
                <a:latin typeface="Cambria" pitchFamily="34" charset="0"/>
                <a:ea typeface="Cambria" pitchFamily="34" charset="-122"/>
                <a:cs typeface="Cambria" pitchFamily="34" charset="-120"/>
              </a:rPr>
              <a:t>Together, these changes create simple and meaningful ways to grow closer to Jesus Christ and feel more connected to Him and each other.</a:t>
            </a:r>
            <a:endParaRPr lang="en-US" sz="1750" dirty="0"/>
          </a:p>
        </p:txBody>
      </p:sp>
      <p:sp>
        <p:nvSpPr>
          <p:cNvPr id="19" name="Text 13"/>
          <p:cNvSpPr txBox="1"/>
          <p:nvPr/>
        </p:nvSpPr>
        <p:spPr>
          <a:xfrm>
            <a:off x="7269480" y="4892040"/>
            <a:ext cx="4023360" cy="731520"/>
          </a:xfrm>
          <a:prstGeom prst="rect">
            <a:avLst/>
          </a:prstGeom>
          <a:noFill/>
          <a:ln/>
        </p:spPr>
        <p:txBody>
          <a:bodyPr wrap="square" lIns="0" tIns="0" rIns="0" bIns="0" rtlCol="0" anchor="ctr"/>
          <a:lstStyle/>
          <a:p>
            <a:pPr indent="0" marL="0">
              <a:buNone/>
            </a:pPr>
            <a:r>
              <a:rPr lang="en-US" sz="1050" dirty="0">
                <a:solidFill>
                  <a:srgbClr val="C9D6EF"/>
                </a:solidFill>
                <a:latin typeface="Calibri" pitchFamily="34" charset="0"/>
                <a:ea typeface="Calibri" pitchFamily="34" charset="-122"/>
                <a:cs typeface="Calibri" pitchFamily="34" charset="-120"/>
              </a:rPr>
              <a:t>Changes to the Sunday Class Meeting Schedule and Instruction</a:t>
            </a:r>
            <a:endParaRPr lang="en-US" sz="1050" dirty="0"/>
          </a:p>
          <a:p>
            <a:pPr indent="0" marL="0">
              <a:buNone/>
            </a:pPr>
            <a:r>
              <a:rPr lang="en-US" sz="1050" dirty="0">
                <a:solidFill>
                  <a:srgbClr val="C9D6EF"/>
                </a:solidFill>
                <a:latin typeface="Calibri" pitchFamily="34" charset="0"/>
                <a:ea typeface="Calibri" pitchFamily="34" charset="-122"/>
                <a:cs typeface="Calibri" pitchFamily="34" charset="-120"/>
              </a:rPr>
              <a:t>ChurchofJesusChrist.org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EVERY SUNDAY  ·  TWO HOURS</a:t>
            </a:r>
            <a:endParaRPr lang="en-US" sz="1200" dirty="0"/>
          </a:p>
        </p:txBody>
      </p:sp>
      <p:sp>
        <p:nvSpPr>
          <p:cNvPr id="3" name="Text 1"/>
          <p:cNvSpPr txBox="1"/>
          <p:nvPr/>
        </p:nvSpPr>
        <p:spPr>
          <a:xfrm>
            <a:off x="548640" y="749808"/>
            <a:ext cx="11064240" cy="731520"/>
          </a:xfrm>
          <a:prstGeom prst="rect">
            <a:avLst/>
          </a:prstGeom>
          <a:noFill/>
          <a:ln/>
        </p:spPr>
        <p:txBody>
          <a:bodyPr wrap="square" lIns="0" tIns="0" rIns="0" bIns="0" rtlCol="0" anchor="ctr"/>
          <a:lstStyle/>
          <a:p>
            <a:pPr algn="l" indent="0" marL="0">
              <a:buNone/>
            </a:pPr>
            <a:r>
              <a:rPr lang="en-US" sz="3400" b="1" dirty="0">
                <a:solidFill>
                  <a:srgbClr val="1B2A52"/>
                </a:solidFill>
                <a:latin typeface="Cambria" pitchFamily="34" charset="0"/>
                <a:ea typeface="Cambria" pitchFamily="34" charset="-122"/>
                <a:cs typeface="Cambria" pitchFamily="34" charset="-120"/>
              </a:rPr>
              <a:t>The New Sunday Schedule</a:t>
            </a:r>
            <a:endParaRPr lang="en-US" sz="3400" dirty="0"/>
          </a:p>
        </p:txBody>
      </p:sp>
      <p:sp>
        <p:nvSpPr>
          <p:cNvPr id="4" name="Shape 2"/>
          <p:cNvSpPr/>
          <p:nvPr/>
        </p:nvSpPr>
        <p:spPr>
          <a:xfrm>
            <a:off x="502920" y="1828800"/>
            <a:ext cx="3611880" cy="2240280"/>
          </a:xfrm>
          <a:prstGeom prst="roundRect">
            <a:avLst>
              <a:gd name="adj" fmla="val 3265"/>
            </a:avLst>
          </a:prstGeom>
          <a:solidFill>
            <a:srgbClr val="1B2A52"/>
          </a:solidFill>
          <a:ln/>
        </p:spPr>
      </p:sp>
      <p:sp>
        <p:nvSpPr>
          <p:cNvPr id="5" name="Text 3"/>
          <p:cNvSpPr txBox="1"/>
          <p:nvPr/>
        </p:nvSpPr>
        <p:spPr>
          <a:xfrm>
            <a:off x="502920" y="2029968"/>
            <a:ext cx="3611880" cy="10515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60</a:t>
            </a:r>
            <a:endParaRPr lang="en-US" sz="3800" dirty="0"/>
          </a:p>
          <a:p>
            <a:pPr algn="ctr" indent="0" marL="0">
              <a:buNone/>
            </a:pPr>
            <a:r>
              <a:rPr lang="en-US" sz="1000" spc="200" kern="0" dirty="0">
                <a:solidFill>
                  <a:srgbClr val="FFFFFF"/>
                </a:solidFill>
                <a:latin typeface="Cambria" pitchFamily="34" charset="0"/>
                <a:ea typeface="Cambria" pitchFamily="34" charset="-122"/>
                <a:cs typeface="Cambria" pitchFamily="34" charset="-120"/>
              </a:rPr>
              <a:t>MIN</a:t>
            </a:r>
            <a:endParaRPr lang="en-US" sz="3800" dirty="0"/>
          </a:p>
        </p:txBody>
      </p:sp>
      <p:sp>
        <p:nvSpPr>
          <p:cNvPr id="6" name="Text 4"/>
          <p:cNvSpPr txBox="1"/>
          <p:nvPr/>
        </p:nvSpPr>
        <p:spPr>
          <a:xfrm>
            <a:off x="576072" y="3127248"/>
            <a:ext cx="3465576" cy="5029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Sacrament Meeting</a:t>
            </a:r>
            <a:endParaRPr lang="en-US" sz="1350" dirty="0"/>
          </a:p>
        </p:txBody>
      </p:sp>
      <p:sp>
        <p:nvSpPr>
          <p:cNvPr id="7" name="Text 5"/>
          <p:cNvSpPr txBox="1"/>
          <p:nvPr/>
        </p:nvSpPr>
        <p:spPr>
          <a:xfrm>
            <a:off x="576072" y="3611880"/>
            <a:ext cx="3465576" cy="411480"/>
          </a:xfrm>
          <a:prstGeom prst="rect">
            <a:avLst/>
          </a:prstGeom>
          <a:noFill/>
          <a:ln/>
        </p:spPr>
        <p:txBody>
          <a:bodyPr wrap="square" lIns="0" tIns="0" rIns="0" bIns="0" rtlCol="0" anchor="ctr"/>
          <a:lstStyle/>
          <a:p>
            <a:pPr algn="ctr" indent="0" marL="0">
              <a:buNone/>
            </a:pPr>
            <a:r>
              <a:rPr lang="en-US" sz="1000" dirty="0">
                <a:solidFill>
                  <a:srgbClr val="C9D6EF"/>
                </a:solidFill>
                <a:latin typeface="Calibri" pitchFamily="34" charset="0"/>
                <a:ea typeface="Calibri" pitchFamily="34" charset="-122"/>
                <a:cs typeface="Calibri" pitchFamily="34" charset="-120"/>
              </a:rPr>
              <a:t>Unchanged — up to 60 minutes</a:t>
            </a:r>
            <a:endParaRPr lang="en-US" sz="1000" dirty="0"/>
          </a:p>
        </p:txBody>
      </p:sp>
      <p:sp>
        <p:nvSpPr>
          <p:cNvPr id="8" name="Shape 6"/>
          <p:cNvSpPr/>
          <p:nvPr/>
        </p:nvSpPr>
        <p:spPr>
          <a:xfrm>
            <a:off x="4233672" y="1828800"/>
            <a:ext cx="868680" cy="2240280"/>
          </a:xfrm>
          <a:prstGeom prst="roundRect">
            <a:avLst>
              <a:gd name="adj" fmla="val 8421"/>
            </a:avLst>
          </a:prstGeom>
          <a:solidFill>
            <a:srgbClr val="EDF1F8"/>
          </a:solidFill>
          <a:ln/>
        </p:spPr>
      </p:sp>
      <p:sp>
        <p:nvSpPr>
          <p:cNvPr id="9" name="Text 7"/>
          <p:cNvSpPr txBox="1"/>
          <p:nvPr/>
        </p:nvSpPr>
        <p:spPr>
          <a:xfrm>
            <a:off x="4233672" y="2029968"/>
            <a:ext cx="868680" cy="1051560"/>
          </a:xfrm>
          <a:prstGeom prst="rect">
            <a:avLst/>
          </a:prstGeom>
          <a:noFill/>
          <a:ln/>
        </p:spPr>
        <p:txBody>
          <a:bodyPr wrap="square" lIns="0" tIns="0" rIns="0" bIns="0" rtlCol="0" anchor="ctr"/>
          <a:lstStyle/>
          <a:p>
            <a:pPr algn="ctr" indent="0" marL="0">
              <a:buNone/>
            </a:pPr>
            <a:r>
              <a:rPr lang="en-US" sz="2200" b="1" dirty="0">
                <a:solidFill>
                  <a:srgbClr val="5C6575"/>
                </a:solidFill>
                <a:latin typeface="Cambria" pitchFamily="34" charset="0"/>
                <a:ea typeface="Cambria" pitchFamily="34" charset="-122"/>
                <a:cs typeface="Cambria" pitchFamily="34" charset="-120"/>
              </a:rPr>
              <a:t>5</a:t>
            </a:r>
            <a:endParaRPr lang="en-US" sz="2200" dirty="0"/>
          </a:p>
          <a:p>
            <a:pPr algn="ctr" indent="0" marL="0">
              <a:buNone/>
            </a:pPr>
            <a:r>
              <a:rPr lang="en-US" sz="1000" spc="200" kern="0" dirty="0">
                <a:solidFill>
                  <a:srgbClr val="5C6575"/>
                </a:solidFill>
                <a:latin typeface="Cambria" pitchFamily="34" charset="0"/>
                <a:ea typeface="Cambria" pitchFamily="34" charset="-122"/>
                <a:cs typeface="Cambria" pitchFamily="34" charset="-120"/>
              </a:rPr>
              <a:t>MIN</a:t>
            </a:r>
            <a:endParaRPr lang="en-US" sz="2200" dirty="0"/>
          </a:p>
        </p:txBody>
      </p:sp>
      <p:sp>
        <p:nvSpPr>
          <p:cNvPr id="10" name="Text 8"/>
          <p:cNvSpPr txBox="1"/>
          <p:nvPr/>
        </p:nvSpPr>
        <p:spPr>
          <a:xfrm>
            <a:off x="4306824" y="3127248"/>
            <a:ext cx="722376" cy="502920"/>
          </a:xfrm>
          <a:prstGeom prst="rect">
            <a:avLst/>
          </a:prstGeom>
          <a:noFill/>
          <a:ln/>
        </p:spPr>
        <p:txBody>
          <a:bodyPr wrap="square" lIns="0" tIns="0" rIns="0" bIns="0" rtlCol="0" anchor="ctr"/>
          <a:lstStyle/>
          <a:p>
            <a:pPr algn="ctr" indent="0" marL="0">
              <a:buNone/>
            </a:pPr>
            <a:r>
              <a:rPr lang="en-US" sz="1000" b="1" dirty="0">
                <a:solidFill>
                  <a:srgbClr val="5C6575"/>
                </a:solidFill>
                <a:latin typeface="Calibri" pitchFamily="34" charset="0"/>
                <a:ea typeface="Calibri" pitchFamily="34" charset="-122"/>
                <a:cs typeface="Calibri" pitchFamily="34" charset="-120"/>
              </a:rPr>
              <a:t>Transition</a:t>
            </a:r>
            <a:endParaRPr lang="en-US" sz="1000" dirty="0"/>
          </a:p>
        </p:txBody>
      </p:sp>
      <p:sp>
        <p:nvSpPr>
          <p:cNvPr id="11" name="Shape 9"/>
          <p:cNvSpPr/>
          <p:nvPr/>
        </p:nvSpPr>
        <p:spPr>
          <a:xfrm>
            <a:off x="5221224" y="1828800"/>
            <a:ext cx="2697480" cy="2240280"/>
          </a:xfrm>
          <a:prstGeom prst="roundRect">
            <a:avLst>
              <a:gd name="adj" fmla="val 3265"/>
            </a:avLst>
          </a:prstGeom>
          <a:solidFill>
            <a:srgbClr val="C9A227"/>
          </a:solidFill>
          <a:ln/>
        </p:spPr>
      </p:sp>
      <p:sp>
        <p:nvSpPr>
          <p:cNvPr id="12" name="Text 10"/>
          <p:cNvSpPr txBox="1"/>
          <p:nvPr/>
        </p:nvSpPr>
        <p:spPr>
          <a:xfrm>
            <a:off x="5221224" y="2029968"/>
            <a:ext cx="2697480" cy="1051560"/>
          </a:xfrm>
          <a:prstGeom prst="rect">
            <a:avLst/>
          </a:prstGeom>
          <a:noFill/>
          <a:ln/>
        </p:spPr>
        <p:txBody>
          <a:bodyPr wrap="square" lIns="0" tIns="0" rIns="0" bIns="0" rtlCol="0" anchor="ctr"/>
          <a:lstStyle/>
          <a:p>
            <a:pPr algn="ctr" indent="0" marL="0">
              <a:buNone/>
            </a:pPr>
            <a:r>
              <a:rPr lang="en-US" sz="3800" b="1" dirty="0">
                <a:solidFill>
                  <a:srgbClr val="1B2A52"/>
                </a:solidFill>
                <a:latin typeface="Cambria" pitchFamily="34" charset="0"/>
                <a:ea typeface="Cambria" pitchFamily="34" charset="-122"/>
                <a:cs typeface="Cambria" pitchFamily="34" charset="-120"/>
              </a:rPr>
              <a:t>25</a:t>
            </a:r>
            <a:endParaRPr lang="en-US" sz="3800" dirty="0"/>
          </a:p>
          <a:p>
            <a:pPr algn="ctr" indent="0" marL="0">
              <a:buNone/>
            </a:pPr>
            <a:r>
              <a:rPr lang="en-US" sz="1000" spc="200" kern="0" dirty="0">
                <a:solidFill>
                  <a:srgbClr val="1B2A52"/>
                </a:solidFill>
                <a:latin typeface="Cambria" pitchFamily="34" charset="0"/>
                <a:ea typeface="Cambria" pitchFamily="34" charset="-122"/>
                <a:cs typeface="Cambria" pitchFamily="34" charset="-120"/>
              </a:rPr>
              <a:t>MIN</a:t>
            </a:r>
            <a:endParaRPr lang="en-US" sz="3800" dirty="0"/>
          </a:p>
        </p:txBody>
      </p:sp>
      <p:sp>
        <p:nvSpPr>
          <p:cNvPr id="13" name="Text 11"/>
          <p:cNvSpPr txBox="1"/>
          <p:nvPr/>
        </p:nvSpPr>
        <p:spPr>
          <a:xfrm>
            <a:off x="5294376" y="3127248"/>
            <a:ext cx="2551176" cy="502920"/>
          </a:xfrm>
          <a:prstGeom prst="rect">
            <a:avLst/>
          </a:prstGeom>
          <a:noFill/>
          <a:ln/>
        </p:spPr>
        <p:txBody>
          <a:bodyPr wrap="square" lIns="0" tIns="0" rIns="0" bIns="0" rtlCol="0" anchor="ctr"/>
          <a:lstStyle/>
          <a:p>
            <a:pPr algn="ctr" indent="0" marL="0">
              <a:buNone/>
            </a:pPr>
            <a:r>
              <a:rPr lang="en-US" sz="1350" b="1" dirty="0">
                <a:solidFill>
                  <a:srgbClr val="1B2A52"/>
                </a:solidFill>
                <a:latin typeface="Calibri" pitchFamily="34" charset="0"/>
                <a:ea typeface="Calibri" pitchFamily="34" charset="-122"/>
                <a:cs typeface="Calibri" pitchFamily="34" charset="-120"/>
              </a:rPr>
              <a:t>Sunday School</a:t>
            </a:r>
            <a:endParaRPr lang="en-US" sz="1350" dirty="0"/>
          </a:p>
        </p:txBody>
      </p:sp>
      <p:sp>
        <p:nvSpPr>
          <p:cNvPr id="14" name="Text 12"/>
          <p:cNvSpPr txBox="1"/>
          <p:nvPr/>
        </p:nvSpPr>
        <p:spPr>
          <a:xfrm>
            <a:off x="5294376" y="3611880"/>
            <a:ext cx="2551176" cy="411480"/>
          </a:xfrm>
          <a:prstGeom prst="rect">
            <a:avLst/>
          </a:prstGeom>
          <a:noFill/>
          <a:ln/>
        </p:spPr>
        <p:txBody>
          <a:bodyPr wrap="square" lIns="0" tIns="0" rIns="0" bIns="0" rtlCol="0" anchor="ctr"/>
          <a:lstStyle/>
          <a:p>
            <a:pPr algn="ctr" indent="0" marL="0">
              <a:buNone/>
            </a:pPr>
            <a:r>
              <a:rPr lang="en-US" sz="1000" dirty="0">
                <a:solidFill>
                  <a:srgbClr val="1B2A52"/>
                </a:solidFill>
                <a:latin typeface="Calibri" pitchFamily="34" charset="0"/>
                <a:ea typeface="Calibri" pitchFamily="34" charset="-122"/>
                <a:cs typeface="Calibri" pitchFamily="34" charset="-120"/>
              </a:rPr>
              <a:t>All ages · Come, Follow Me</a:t>
            </a:r>
            <a:endParaRPr lang="en-US" sz="1000" dirty="0"/>
          </a:p>
        </p:txBody>
      </p:sp>
      <p:sp>
        <p:nvSpPr>
          <p:cNvPr id="15" name="Shape 13"/>
          <p:cNvSpPr/>
          <p:nvPr/>
        </p:nvSpPr>
        <p:spPr>
          <a:xfrm>
            <a:off x="8037576" y="1828800"/>
            <a:ext cx="868680" cy="2240280"/>
          </a:xfrm>
          <a:prstGeom prst="roundRect">
            <a:avLst>
              <a:gd name="adj" fmla="val 8421"/>
            </a:avLst>
          </a:prstGeom>
          <a:solidFill>
            <a:srgbClr val="EDF1F8"/>
          </a:solidFill>
          <a:ln/>
        </p:spPr>
      </p:sp>
      <p:sp>
        <p:nvSpPr>
          <p:cNvPr id="16" name="Text 14"/>
          <p:cNvSpPr txBox="1"/>
          <p:nvPr/>
        </p:nvSpPr>
        <p:spPr>
          <a:xfrm>
            <a:off x="8037576" y="2029968"/>
            <a:ext cx="868680" cy="1051560"/>
          </a:xfrm>
          <a:prstGeom prst="rect">
            <a:avLst/>
          </a:prstGeom>
          <a:noFill/>
          <a:ln/>
        </p:spPr>
        <p:txBody>
          <a:bodyPr wrap="square" lIns="0" tIns="0" rIns="0" bIns="0" rtlCol="0" anchor="ctr"/>
          <a:lstStyle/>
          <a:p>
            <a:pPr algn="ctr" indent="0" marL="0">
              <a:buNone/>
            </a:pPr>
            <a:r>
              <a:rPr lang="en-US" sz="2200" b="1" dirty="0">
                <a:solidFill>
                  <a:srgbClr val="5C6575"/>
                </a:solidFill>
                <a:latin typeface="Cambria" pitchFamily="34" charset="0"/>
                <a:ea typeface="Cambria" pitchFamily="34" charset="-122"/>
                <a:cs typeface="Cambria" pitchFamily="34" charset="-120"/>
              </a:rPr>
              <a:t>5</a:t>
            </a:r>
            <a:endParaRPr lang="en-US" sz="2200" dirty="0"/>
          </a:p>
          <a:p>
            <a:pPr algn="ctr" indent="0" marL="0">
              <a:buNone/>
            </a:pPr>
            <a:r>
              <a:rPr lang="en-US" sz="1000" spc="200" kern="0" dirty="0">
                <a:solidFill>
                  <a:srgbClr val="5C6575"/>
                </a:solidFill>
                <a:latin typeface="Cambria" pitchFamily="34" charset="0"/>
                <a:ea typeface="Cambria" pitchFamily="34" charset="-122"/>
                <a:cs typeface="Cambria" pitchFamily="34" charset="-120"/>
              </a:rPr>
              <a:t>MIN</a:t>
            </a:r>
            <a:endParaRPr lang="en-US" sz="2200" dirty="0"/>
          </a:p>
        </p:txBody>
      </p:sp>
      <p:sp>
        <p:nvSpPr>
          <p:cNvPr id="17" name="Text 15"/>
          <p:cNvSpPr txBox="1"/>
          <p:nvPr/>
        </p:nvSpPr>
        <p:spPr>
          <a:xfrm>
            <a:off x="8110728" y="3127248"/>
            <a:ext cx="722376" cy="502920"/>
          </a:xfrm>
          <a:prstGeom prst="rect">
            <a:avLst/>
          </a:prstGeom>
          <a:noFill/>
          <a:ln/>
        </p:spPr>
        <p:txBody>
          <a:bodyPr wrap="square" lIns="0" tIns="0" rIns="0" bIns="0" rtlCol="0" anchor="ctr"/>
          <a:lstStyle/>
          <a:p>
            <a:pPr algn="ctr" indent="0" marL="0">
              <a:buNone/>
            </a:pPr>
            <a:r>
              <a:rPr lang="en-US" sz="1000" b="1" dirty="0">
                <a:solidFill>
                  <a:srgbClr val="5C6575"/>
                </a:solidFill>
                <a:latin typeface="Calibri" pitchFamily="34" charset="0"/>
                <a:ea typeface="Calibri" pitchFamily="34" charset="-122"/>
                <a:cs typeface="Calibri" pitchFamily="34" charset="-120"/>
              </a:rPr>
              <a:t>Transition</a:t>
            </a:r>
            <a:endParaRPr lang="en-US" sz="1000" dirty="0"/>
          </a:p>
        </p:txBody>
      </p:sp>
      <p:sp>
        <p:nvSpPr>
          <p:cNvPr id="18" name="Shape 16"/>
          <p:cNvSpPr/>
          <p:nvPr/>
        </p:nvSpPr>
        <p:spPr>
          <a:xfrm>
            <a:off x="9025128" y="1828800"/>
            <a:ext cx="2697480" cy="2240280"/>
          </a:xfrm>
          <a:prstGeom prst="roundRect">
            <a:avLst>
              <a:gd name="adj" fmla="val 3265"/>
            </a:avLst>
          </a:prstGeom>
          <a:solidFill>
            <a:srgbClr val="1B2A52"/>
          </a:solidFill>
          <a:ln/>
        </p:spPr>
      </p:sp>
      <p:sp>
        <p:nvSpPr>
          <p:cNvPr id="19" name="Text 17"/>
          <p:cNvSpPr txBox="1"/>
          <p:nvPr/>
        </p:nvSpPr>
        <p:spPr>
          <a:xfrm>
            <a:off x="9025128" y="2029968"/>
            <a:ext cx="2697480" cy="10515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25</a:t>
            </a:r>
            <a:endParaRPr lang="en-US" sz="3800" dirty="0"/>
          </a:p>
          <a:p>
            <a:pPr algn="ctr" indent="0" marL="0">
              <a:buNone/>
            </a:pPr>
            <a:r>
              <a:rPr lang="en-US" sz="1000" spc="200" kern="0" dirty="0">
                <a:solidFill>
                  <a:srgbClr val="FFFFFF"/>
                </a:solidFill>
                <a:latin typeface="Cambria" pitchFamily="34" charset="0"/>
                <a:ea typeface="Cambria" pitchFamily="34" charset="-122"/>
                <a:cs typeface="Cambria" pitchFamily="34" charset="-120"/>
              </a:rPr>
              <a:t>MIN</a:t>
            </a:r>
            <a:endParaRPr lang="en-US" sz="3800" dirty="0"/>
          </a:p>
        </p:txBody>
      </p:sp>
      <p:sp>
        <p:nvSpPr>
          <p:cNvPr id="20" name="Text 18"/>
          <p:cNvSpPr txBox="1"/>
          <p:nvPr/>
        </p:nvSpPr>
        <p:spPr>
          <a:xfrm>
            <a:off x="9098280" y="3127248"/>
            <a:ext cx="2551176" cy="5029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YW &amp; AP Quorums</a:t>
            </a:r>
            <a:endParaRPr lang="en-US" sz="1350" dirty="0"/>
          </a:p>
        </p:txBody>
      </p:sp>
      <p:sp>
        <p:nvSpPr>
          <p:cNvPr id="21" name="Text 19"/>
          <p:cNvSpPr txBox="1"/>
          <p:nvPr/>
        </p:nvSpPr>
        <p:spPr>
          <a:xfrm>
            <a:off x="9098280" y="3611880"/>
            <a:ext cx="2551176" cy="411480"/>
          </a:xfrm>
          <a:prstGeom prst="rect">
            <a:avLst/>
          </a:prstGeom>
          <a:noFill/>
          <a:ln/>
        </p:spPr>
        <p:txBody>
          <a:bodyPr wrap="square" lIns="0" tIns="0" rIns="0" bIns="0" rtlCol="0" anchor="ctr"/>
          <a:lstStyle/>
          <a:p>
            <a:pPr algn="ctr" indent="0" marL="0">
              <a:buNone/>
            </a:pPr>
            <a:r>
              <a:rPr lang="en-US" sz="1000" dirty="0">
                <a:solidFill>
                  <a:srgbClr val="C9D6EF"/>
                </a:solidFill>
                <a:latin typeface="Calibri" pitchFamily="34" charset="0"/>
                <a:ea typeface="Calibri" pitchFamily="34" charset="-122"/>
                <a:cs typeface="Calibri" pitchFamily="34" charset="-120"/>
              </a:rPr>
              <a:t>FSY guide lessons</a:t>
            </a:r>
            <a:endParaRPr lang="en-US" sz="1000" dirty="0"/>
          </a:p>
        </p:txBody>
      </p:sp>
      <p:sp>
        <p:nvSpPr>
          <p:cNvPr id="22" name="Shape 20"/>
          <p:cNvSpPr/>
          <p:nvPr/>
        </p:nvSpPr>
        <p:spPr>
          <a:xfrm>
            <a:off x="502920" y="4526280"/>
            <a:ext cx="5577840" cy="1691640"/>
          </a:xfrm>
          <a:prstGeom prst="roundRect">
            <a:avLst>
              <a:gd name="adj" fmla="val 5405"/>
            </a:avLst>
          </a:prstGeom>
          <a:solidFill>
            <a:srgbClr val="EDF1F8"/>
          </a:solidFill>
          <a:ln/>
        </p:spPr>
      </p:sp>
      <p:sp>
        <p:nvSpPr>
          <p:cNvPr id="23" name="Shape 21"/>
          <p:cNvSpPr/>
          <p:nvPr/>
        </p:nvSpPr>
        <p:spPr>
          <a:xfrm>
            <a:off x="758952" y="4800600"/>
            <a:ext cx="530352" cy="530352"/>
          </a:xfrm>
          <a:prstGeom prst="ellipse">
            <a:avLst/>
          </a:prstGeom>
          <a:solidFill>
            <a:srgbClr val="1B2A52"/>
          </a:solidFill>
          <a:ln/>
        </p:spPr>
      </p:sp>
      <p:pic>
        <p:nvPicPr>
          <p:cNvPr id="24" name="Image 0" descr="preencoded.png">    </p:cNvPr>
          <p:cNvPicPr>
            <a:picLocks noChangeAspect="1"/>
          </p:cNvPicPr>
          <p:nvPr/>
        </p:nvPicPr>
        <p:blipFill>
          <a:blip r:embed="rId1"/>
          <a:stretch>
            <a:fillRect/>
          </a:stretch>
        </p:blipFill>
        <p:spPr>
          <a:xfrm>
            <a:off x="902147" y="4943795"/>
            <a:ext cx="243962" cy="243962"/>
          </a:xfrm>
          <a:prstGeom prst="rect">
            <a:avLst/>
          </a:prstGeom>
        </p:spPr>
      </p:pic>
      <p:sp>
        <p:nvSpPr>
          <p:cNvPr id="25" name="Text 22"/>
          <p:cNvSpPr txBox="1"/>
          <p:nvPr/>
        </p:nvSpPr>
        <p:spPr>
          <a:xfrm>
            <a:off x="1508760" y="4736592"/>
            <a:ext cx="4389120" cy="292608"/>
          </a:xfrm>
          <a:prstGeom prst="rect">
            <a:avLst/>
          </a:prstGeom>
          <a:noFill/>
          <a:ln/>
        </p:spPr>
        <p:txBody>
          <a:bodyPr wrap="square" lIns="0" tIns="0" rIns="0" bIns="0" rtlCol="0" anchor="ctr"/>
          <a:lstStyle/>
          <a:p>
            <a:pPr indent="0" marL="0">
              <a:buNone/>
            </a:pPr>
            <a:r>
              <a:rPr lang="en-US" sz="1450" b="1" dirty="0">
                <a:solidFill>
                  <a:srgbClr val="1B2A52"/>
                </a:solidFill>
                <a:latin typeface="Calibri" pitchFamily="34" charset="0"/>
                <a:ea typeface="Calibri" pitchFamily="34" charset="-122"/>
                <a:cs typeface="Calibri" pitchFamily="34" charset="-120"/>
              </a:rPr>
              <a:t>Primary (ages 3–11)</a:t>
            </a:r>
            <a:endParaRPr lang="en-US" sz="1450" dirty="0"/>
          </a:p>
        </p:txBody>
      </p:sp>
      <p:sp>
        <p:nvSpPr>
          <p:cNvPr id="26" name="Text 23"/>
          <p:cNvSpPr txBox="1"/>
          <p:nvPr/>
        </p:nvSpPr>
        <p:spPr>
          <a:xfrm>
            <a:off x="1508760" y="5047488"/>
            <a:ext cx="4389120" cy="1051560"/>
          </a:xfrm>
          <a:prstGeom prst="rect">
            <a:avLst/>
          </a:prstGeom>
          <a:noFill/>
          <a:ln/>
        </p:spPr>
        <p:txBody>
          <a:bodyPr wrap="square" lIns="0" tIns="0" rIns="0" bIns="0" rtlCol="0" anchor="ctr"/>
          <a:lstStyle/>
          <a:p>
            <a:pPr indent="0" marL="0">
              <a:buNone/>
            </a:pPr>
            <a:r>
              <a:rPr lang="en-US" sz="1150" dirty="0">
                <a:solidFill>
                  <a:srgbClr val="5C6575"/>
                </a:solidFill>
                <a:latin typeface="Calibri" pitchFamily="34" charset="0"/>
                <a:ea typeface="Calibri" pitchFamily="34" charset="-122"/>
                <a:cs typeface="Calibri" pitchFamily="34" charset="-120"/>
              </a:rPr>
              <a:t>Meets for 55 minutes after sacrament meeting every week — a short opening, 20 minutes of singing time, then classes with Come, Follow Me.</a:t>
            </a:r>
            <a:endParaRPr lang="en-US" sz="1150" dirty="0"/>
          </a:p>
        </p:txBody>
      </p:sp>
      <p:sp>
        <p:nvSpPr>
          <p:cNvPr id="27" name="Shape 24"/>
          <p:cNvSpPr/>
          <p:nvPr/>
        </p:nvSpPr>
        <p:spPr>
          <a:xfrm>
            <a:off x="6217920" y="4526280"/>
            <a:ext cx="5577840" cy="1691640"/>
          </a:xfrm>
          <a:prstGeom prst="roundRect">
            <a:avLst>
              <a:gd name="adj" fmla="val 5405"/>
            </a:avLst>
          </a:prstGeom>
          <a:solidFill>
            <a:srgbClr val="EDF1F8"/>
          </a:solidFill>
          <a:ln/>
        </p:spPr>
      </p:sp>
      <p:sp>
        <p:nvSpPr>
          <p:cNvPr id="28" name="Shape 25"/>
          <p:cNvSpPr/>
          <p:nvPr/>
        </p:nvSpPr>
        <p:spPr>
          <a:xfrm>
            <a:off x="6473952" y="4800600"/>
            <a:ext cx="530352" cy="530352"/>
          </a:xfrm>
          <a:prstGeom prst="ellipse">
            <a:avLst/>
          </a:prstGeom>
          <a:solidFill>
            <a:srgbClr val="1B2A52"/>
          </a:solidFill>
          <a:ln/>
        </p:spPr>
      </p:sp>
      <p:pic>
        <p:nvPicPr>
          <p:cNvPr id="29" name="Image 1" descr="preencoded.png">    </p:cNvPr>
          <p:cNvPicPr>
            <a:picLocks noChangeAspect="1"/>
          </p:cNvPicPr>
          <p:nvPr/>
        </p:nvPicPr>
        <p:blipFill>
          <a:blip r:embed="rId2"/>
          <a:stretch>
            <a:fillRect/>
          </a:stretch>
        </p:blipFill>
        <p:spPr>
          <a:xfrm>
            <a:off x="6617147" y="4943795"/>
            <a:ext cx="243962" cy="243962"/>
          </a:xfrm>
          <a:prstGeom prst="rect">
            <a:avLst/>
          </a:prstGeom>
        </p:spPr>
      </p:pic>
      <p:sp>
        <p:nvSpPr>
          <p:cNvPr id="30" name="Text 26"/>
          <p:cNvSpPr txBox="1"/>
          <p:nvPr/>
        </p:nvSpPr>
        <p:spPr>
          <a:xfrm>
            <a:off x="7223760" y="4736592"/>
            <a:ext cx="4389120" cy="292608"/>
          </a:xfrm>
          <a:prstGeom prst="rect">
            <a:avLst/>
          </a:prstGeom>
          <a:noFill/>
          <a:ln/>
        </p:spPr>
        <p:txBody>
          <a:bodyPr wrap="square" lIns="0" tIns="0" rIns="0" bIns="0" rtlCol="0" anchor="ctr"/>
          <a:lstStyle/>
          <a:p>
            <a:pPr indent="0" marL="0">
              <a:buNone/>
            </a:pPr>
            <a:r>
              <a:rPr lang="en-US" sz="1450" b="1" dirty="0">
                <a:solidFill>
                  <a:srgbClr val="1B2A52"/>
                </a:solidFill>
                <a:latin typeface="Calibri" pitchFamily="34" charset="0"/>
                <a:ea typeface="Calibri" pitchFamily="34" charset="-122"/>
                <a:cs typeface="Calibri" pitchFamily="34" charset="-120"/>
              </a:rPr>
              <a:t>Adults</a:t>
            </a:r>
            <a:endParaRPr lang="en-US" sz="1450" dirty="0"/>
          </a:p>
        </p:txBody>
      </p:sp>
      <p:sp>
        <p:nvSpPr>
          <p:cNvPr id="31" name="Text 27"/>
          <p:cNvSpPr txBox="1"/>
          <p:nvPr/>
        </p:nvSpPr>
        <p:spPr>
          <a:xfrm>
            <a:off x="7223760" y="5047488"/>
            <a:ext cx="4389120" cy="1051560"/>
          </a:xfrm>
          <a:prstGeom prst="rect">
            <a:avLst/>
          </a:prstGeom>
          <a:noFill/>
          <a:ln/>
        </p:spPr>
        <p:txBody>
          <a:bodyPr wrap="square" lIns="0" tIns="0" rIns="0" bIns="0" rtlCol="0" anchor="ctr"/>
          <a:lstStyle/>
          <a:p>
            <a:pPr indent="0" marL="0">
              <a:buNone/>
            </a:pPr>
            <a:r>
              <a:rPr lang="en-US" sz="1150" dirty="0">
                <a:solidFill>
                  <a:srgbClr val="5C6575"/>
                </a:solidFill>
                <a:latin typeface="Calibri" pitchFamily="34" charset="0"/>
                <a:ea typeface="Calibri" pitchFamily="34" charset="-122"/>
                <a:cs typeface="Calibri" pitchFamily="34" charset="-120"/>
              </a:rPr>
              <a:t>Also meet weekly: Sunday School, then Relief Society and elders quorum, where lessons discuss messages from the most recent general conference.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AT A GLANCE</a:t>
            </a:r>
            <a:endParaRPr lang="en-US" sz="1200" dirty="0"/>
          </a:p>
        </p:txBody>
      </p:sp>
      <p:sp>
        <p:nvSpPr>
          <p:cNvPr id="3" name="Text 1"/>
          <p:cNvSpPr txBox="1"/>
          <p:nvPr/>
        </p:nvSpPr>
        <p:spPr>
          <a:xfrm>
            <a:off x="548640" y="749808"/>
            <a:ext cx="11064240" cy="731520"/>
          </a:xfrm>
          <a:prstGeom prst="rect">
            <a:avLst/>
          </a:prstGeom>
          <a:noFill/>
          <a:ln/>
        </p:spPr>
        <p:txBody>
          <a:bodyPr wrap="square" lIns="0" tIns="0" rIns="0" bIns="0" rtlCol="0" anchor="ctr"/>
          <a:lstStyle/>
          <a:p>
            <a:pPr algn="l" indent="0" marL="0">
              <a:buNone/>
            </a:pPr>
            <a:r>
              <a:rPr lang="en-US" sz="3400" b="1" dirty="0">
                <a:solidFill>
                  <a:srgbClr val="1B2A52"/>
                </a:solidFill>
                <a:latin typeface="Cambria" pitchFamily="34" charset="0"/>
                <a:ea typeface="Cambria" pitchFamily="34" charset="-122"/>
                <a:cs typeface="Cambria" pitchFamily="34" charset="-120"/>
              </a:rPr>
              <a:t>What's Different?</a:t>
            </a:r>
            <a:endParaRPr lang="en-US" sz="3400" dirty="0"/>
          </a:p>
        </p:txBody>
      </p:sp>
      <p:sp>
        <p:nvSpPr>
          <p:cNvPr id="4" name="Shape 2"/>
          <p:cNvSpPr/>
          <p:nvPr/>
        </p:nvSpPr>
        <p:spPr>
          <a:xfrm>
            <a:off x="502920" y="1783080"/>
            <a:ext cx="5532120" cy="4434840"/>
          </a:xfrm>
          <a:prstGeom prst="roundRect">
            <a:avLst>
              <a:gd name="adj" fmla="val 2474"/>
            </a:avLst>
          </a:prstGeom>
          <a:solidFill>
            <a:srgbClr val="EDF1F8"/>
          </a:solidFill>
          <a:ln/>
        </p:spPr>
      </p:sp>
      <p:sp>
        <p:nvSpPr>
          <p:cNvPr id="5" name="Text 3"/>
          <p:cNvSpPr txBox="1"/>
          <p:nvPr/>
        </p:nvSpPr>
        <p:spPr>
          <a:xfrm>
            <a:off x="914400" y="2148840"/>
            <a:ext cx="4663440" cy="320040"/>
          </a:xfrm>
          <a:prstGeom prst="rect">
            <a:avLst/>
          </a:prstGeom>
          <a:noFill/>
          <a:ln/>
        </p:spPr>
        <p:txBody>
          <a:bodyPr wrap="square" lIns="0" tIns="0" rIns="0" bIns="0" rtlCol="0" anchor="ctr"/>
          <a:lstStyle/>
          <a:p>
            <a:pPr indent="0" marL="0">
              <a:buNone/>
            </a:pPr>
            <a:r>
              <a:rPr lang="en-US" sz="1300" b="1" spc="300" kern="0" dirty="0">
                <a:solidFill>
                  <a:srgbClr val="5C6575"/>
                </a:solidFill>
                <a:latin typeface="Calibri" pitchFamily="34" charset="0"/>
                <a:ea typeface="Calibri" pitchFamily="34" charset="-122"/>
                <a:cs typeface="Calibri" pitchFamily="34" charset="-120"/>
              </a:rPr>
              <a:t>UNTIL NOW</a:t>
            </a:r>
            <a:endParaRPr lang="en-US" sz="1300" dirty="0"/>
          </a:p>
        </p:txBody>
      </p:sp>
      <p:sp>
        <p:nvSpPr>
          <p:cNvPr id="6" name="Shape 4"/>
          <p:cNvSpPr/>
          <p:nvPr/>
        </p:nvSpPr>
        <p:spPr>
          <a:xfrm>
            <a:off x="932688" y="2761488"/>
            <a:ext cx="109728" cy="109728"/>
          </a:xfrm>
          <a:prstGeom prst="ellipse">
            <a:avLst/>
          </a:prstGeom>
          <a:solidFill>
            <a:srgbClr val="5C6575"/>
          </a:solidFill>
          <a:ln/>
        </p:spPr>
      </p:sp>
      <p:sp>
        <p:nvSpPr>
          <p:cNvPr id="7" name="Text 5"/>
          <p:cNvSpPr txBox="1"/>
          <p:nvPr/>
        </p:nvSpPr>
        <p:spPr>
          <a:xfrm>
            <a:off x="1234440" y="2697480"/>
            <a:ext cx="4434840" cy="868680"/>
          </a:xfrm>
          <a:prstGeom prst="rect">
            <a:avLst/>
          </a:prstGeom>
          <a:noFill/>
          <a:ln/>
        </p:spPr>
        <p:txBody>
          <a:bodyPr wrap="square" lIns="0" tIns="0" rIns="0" bIns="0" rtlCol="0" anchor="t"/>
          <a:lstStyle/>
          <a:p>
            <a:pPr indent="0" marL="0">
              <a:buNone/>
            </a:pPr>
            <a:r>
              <a:rPr lang="en-US" sz="1350" dirty="0">
                <a:solidFill>
                  <a:srgbClr val="232A35"/>
                </a:solidFill>
                <a:latin typeface="Calibri" pitchFamily="34" charset="0"/>
                <a:ea typeface="Calibri" pitchFamily="34" charset="-122"/>
                <a:cs typeface="Calibri" pitchFamily="34" charset="-120"/>
              </a:rPr>
              <a:t>Classes alternated: Sunday School on 1st and 3rd Sundays; quorums and classes on 2nd and 4th</a:t>
            </a:r>
            <a:endParaRPr lang="en-US" sz="1350" dirty="0"/>
          </a:p>
        </p:txBody>
      </p:sp>
      <p:sp>
        <p:nvSpPr>
          <p:cNvPr id="8" name="Shape 6"/>
          <p:cNvSpPr/>
          <p:nvPr/>
        </p:nvSpPr>
        <p:spPr>
          <a:xfrm>
            <a:off x="932688" y="3785616"/>
            <a:ext cx="109728" cy="109728"/>
          </a:xfrm>
          <a:prstGeom prst="ellipse">
            <a:avLst/>
          </a:prstGeom>
          <a:solidFill>
            <a:srgbClr val="5C6575"/>
          </a:solidFill>
          <a:ln/>
        </p:spPr>
      </p:sp>
      <p:sp>
        <p:nvSpPr>
          <p:cNvPr id="9" name="Text 7"/>
          <p:cNvSpPr txBox="1"/>
          <p:nvPr/>
        </p:nvSpPr>
        <p:spPr>
          <a:xfrm>
            <a:off x="1234440" y="3721608"/>
            <a:ext cx="4434840" cy="868680"/>
          </a:xfrm>
          <a:prstGeom prst="rect">
            <a:avLst/>
          </a:prstGeom>
          <a:noFill/>
          <a:ln/>
        </p:spPr>
        <p:txBody>
          <a:bodyPr wrap="square" lIns="0" tIns="0" rIns="0" bIns="0" rtlCol="0" anchor="t"/>
          <a:lstStyle/>
          <a:p>
            <a:pPr indent="0" marL="0">
              <a:buNone/>
            </a:pPr>
            <a:r>
              <a:rPr lang="en-US" sz="1350" dirty="0">
                <a:solidFill>
                  <a:srgbClr val="232A35"/>
                </a:solidFill>
                <a:latin typeface="Calibri" pitchFamily="34" charset="0"/>
                <a:ea typeface="Calibri" pitchFamily="34" charset="-122"/>
                <a:cs typeface="Calibri" pitchFamily="34" charset="-120"/>
              </a:rPr>
              <a:t>One 50-minute class each week</a:t>
            </a:r>
            <a:endParaRPr lang="en-US" sz="1350" dirty="0"/>
          </a:p>
        </p:txBody>
      </p:sp>
      <p:sp>
        <p:nvSpPr>
          <p:cNvPr id="10" name="Shape 8"/>
          <p:cNvSpPr/>
          <p:nvPr/>
        </p:nvSpPr>
        <p:spPr>
          <a:xfrm>
            <a:off x="932688" y="4809744"/>
            <a:ext cx="109728" cy="109728"/>
          </a:xfrm>
          <a:prstGeom prst="ellipse">
            <a:avLst/>
          </a:prstGeom>
          <a:solidFill>
            <a:srgbClr val="5C6575"/>
          </a:solidFill>
          <a:ln/>
        </p:spPr>
      </p:sp>
      <p:sp>
        <p:nvSpPr>
          <p:cNvPr id="11" name="Text 9"/>
          <p:cNvSpPr txBox="1"/>
          <p:nvPr/>
        </p:nvSpPr>
        <p:spPr>
          <a:xfrm>
            <a:off x="1234440" y="4745736"/>
            <a:ext cx="4434840" cy="868680"/>
          </a:xfrm>
          <a:prstGeom prst="rect">
            <a:avLst/>
          </a:prstGeom>
          <a:noFill/>
          <a:ln/>
        </p:spPr>
        <p:txBody>
          <a:bodyPr wrap="square" lIns="0" tIns="0" rIns="0" bIns="0" rtlCol="0" anchor="t"/>
          <a:lstStyle/>
          <a:p>
            <a:pPr indent="0" marL="0">
              <a:buNone/>
            </a:pPr>
            <a:r>
              <a:rPr lang="en-US" sz="1350" dirty="0">
                <a:solidFill>
                  <a:srgbClr val="232A35"/>
                </a:solidFill>
                <a:latin typeface="Calibri" pitchFamily="34" charset="0"/>
                <a:ea typeface="Calibri" pitchFamily="34" charset="-122"/>
                <a:cs typeface="Calibri" pitchFamily="34" charset="-120"/>
              </a:rPr>
              <a:t>Youth lessons drew on recent general conference messages</a:t>
            </a:r>
            <a:endParaRPr lang="en-US" sz="1350" dirty="0"/>
          </a:p>
        </p:txBody>
      </p:sp>
      <p:sp>
        <p:nvSpPr>
          <p:cNvPr id="12" name="Shape 10"/>
          <p:cNvSpPr/>
          <p:nvPr/>
        </p:nvSpPr>
        <p:spPr>
          <a:xfrm>
            <a:off x="6172200" y="1783080"/>
            <a:ext cx="5532120" cy="4434840"/>
          </a:xfrm>
          <a:prstGeom prst="roundRect">
            <a:avLst>
              <a:gd name="adj" fmla="val 2474"/>
            </a:avLst>
          </a:prstGeom>
          <a:solidFill>
            <a:srgbClr val="1B2A52"/>
          </a:solidFill>
          <a:ln/>
        </p:spPr>
      </p:sp>
      <p:sp>
        <p:nvSpPr>
          <p:cNvPr id="13" name="Text 11"/>
          <p:cNvSpPr txBox="1"/>
          <p:nvPr/>
        </p:nvSpPr>
        <p:spPr>
          <a:xfrm>
            <a:off x="6583680" y="2148840"/>
            <a:ext cx="4663440" cy="320040"/>
          </a:xfrm>
          <a:prstGeom prst="rect">
            <a:avLst/>
          </a:prstGeom>
          <a:noFill/>
          <a:ln/>
        </p:spPr>
        <p:txBody>
          <a:bodyPr wrap="square" lIns="0" tIns="0" rIns="0" bIns="0" rtlCol="0" anchor="ctr"/>
          <a:lstStyle/>
          <a:p>
            <a:pPr indent="0" marL="0">
              <a:buNone/>
            </a:pPr>
            <a:r>
              <a:rPr lang="en-US" sz="1300" b="1" spc="300" kern="0" dirty="0">
                <a:solidFill>
                  <a:srgbClr val="C9A227"/>
                </a:solidFill>
                <a:latin typeface="Calibri" pitchFamily="34" charset="0"/>
                <a:ea typeface="Calibri" pitchFamily="34" charset="-122"/>
                <a:cs typeface="Calibri" pitchFamily="34" charset="-120"/>
              </a:rPr>
              <a:t>BEGINNING SEPTEMBER 6</a:t>
            </a:r>
            <a:endParaRPr lang="en-US" sz="1300" dirty="0"/>
          </a:p>
        </p:txBody>
      </p:sp>
      <p:pic>
        <p:nvPicPr>
          <p:cNvPr id="14" name="Image 0" descr="preencoded.png">    </p:cNvPr>
          <p:cNvPicPr>
            <a:picLocks noChangeAspect="1"/>
          </p:cNvPicPr>
          <p:nvPr/>
        </p:nvPicPr>
        <p:blipFill>
          <a:blip r:embed="rId1"/>
          <a:stretch>
            <a:fillRect/>
          </a:stretch>
        </p:blipFill>
        <p:spPr>
          <a:xfrm>
            <a:off x="6601968" y="2715768"/>
            <a:ext cx="201168" cy="201168"/>
          </a:xfrm>
          <a:prstGeom prst="rect">
            <a:avLst/>
          </a:prstGeom>
        </p:spPr>
      </p:pic>
      <p:sp>
        <p:nvSpPr>
          <p:cNvPr id="15" name="Text 12"/>
          <p:cNvSpPr txBox="1"/>
          <p:nvPr/>
        </p:nvSpPr>
        <p:spPr>
          <a:xfrm>
            <a:off x="6949440" y="2697480"/>
            <a:ext cx="4434840" cy="6858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Every organization meets every Sunday</a:t>
            </a:r>
            <a:endParaRPr lang="en-US" sz="1350" dirty="0"/>
          </a:p>
        </p:txBody>
      </p:sp>
      <p:pic>
        <p:nvPicPr>
          <p:cNvPr id="16" name="Image 1" descr="preencoded.png">    </p:cNvPr>
          <p:cNvPicPr>
            <a:picLocks noChangeAspect="1"/>
          </p:cNvPicPr>
          <p:nvPr/>
        </p:nvPicPr>
        <p:blipFill>
          <a:blip r:embed="rId2"/>
          <a:stretch>
            <a:fillRect/>
          </a:stretch>
        </p:blipFill>
        <p:spPr>
          <a:xfrm>
            <a:off x="6601968" y="3557016"/>
            <a:ext cx="201168" cy="201168"/>
          </a:xfrm>
          <a:prstGeom prst="rect">
            <a:avLst/>
          </a:prstGeom>
        </p:spPr>
      </p:pic>
      <p:sp>
        <p:nvSpPr>
          <p:cNvPr id="17" name="Text 13"/>
          <p:cNvSpPr txBox="1"/>
          <p:nvPr/>
        </p:nvSpPr>
        <p:spPr>
          <a:xfrm>
            <a:off x="6949440" y="3538728"/>
            <a:ext cx="4434840" cy="6858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Two 25-minute classes after sacrament meeting</a:t>
            </a:r>
            <a:endParaRPr lang="en-US" sz="1350" dirty="0"/>
          </a:p>
        </p:txBody>
      </p:sp>
      <p:pic>
        <p:nvPicPr>
          <p:cNvPr id="18" name="Image 2" descr="preencoded.png">    </p:cNvPr>
          <p:cNvPicPr>
            <a:picLocks noChangeAspect="1"/>
          </p:cNvPicPr>
          <p:nvPr/>
        </p:nvPicPr>
        <p:blipFill>
          <a:blip r:embed="rId3"/>
          <a:stretch>
            <a:fillRect/>
          </a:stretch>
        </p:blipFill>
        <p:spPr>
          <a:xfrm>
            <a:off x="6601968" y="4398264"/>
            <a:ext cx="201168" cy="201168"/>
          </a:xfrm>
          <a:prstGeom prst="rect">
            <a:avLst/>
          </a:prstGeom>
        </p:spPr>
      </p:pic>
      <p:sp>
        <p:nvSpPr>
          <p:cNvPr id="19" name="Text 14"/>
          <p:cNvSpPr txBox="1"/>
          <p:nvPr/>
        </p:nvSpPr>
        <p:spPr>
          <a:xfrm>
            <a:off x="6949440" y="4379976"/>
            <a:ext cx="4434840" cy="6858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YW &amp; AP lessons come from the new FSY-guide curriculum</a:t>
            </a:r>
            <a:endParaRPr lang="en-US" sz="1350" dirty="0"/>
          </a:p>
        </p:txBody>
      </p:sp>
      <p:pic>
        <p:nvPicPr>
          <p:cNvPr id="20" name="Image 3" descr="preencoded.png">    </p:cNvPr>
          <p:cNvPicPr>
            <a:picLocks noChangeAspect="1"/>
          </p:cNvPicPr>
          <p:nvPr/>
        </p:nvPicPr>
        <p:blipFill>
          <a:blip r:embed="rId4"/>
          <a:stretch>
            <a:fillRect/>
          </a:stretch>
        </p:blipFill>
        <p:spPr>
          <a:xfrm>
            <a:off x="6601968" y="5239512"/>
            <a:ext cx="201168" cy="201168"/>
          </a:xfrm>
          <a:prstGeom prst="rect">
            <a:avLst/>
          </a:prstGeom>
        </p:spPr>
      </p:pic>
      <p:sp>
        <p:nvSpPr>
          <p:cNvPr id="21" name="Text 15"/>
          <p:cNvSpPr txBox="1"/>
          <p:nvPr/>
        </p:nvSpPr>
        <p:spPr>
          <a:xfrm>
            <a:off x="6949440" y="5221224"/>
            <a:ext cx="4434840" cy="6858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Relief Society &amp; elders quorum discuss general conference messages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THE NEW YOUTH CURRICULUM</a:t>
            </a:r>
            <a:endParaRPr lang="en-US" sz="1200" dirty="0"/>
          </a:p>
        </p:txBody>
      </p:sp>
      <p:sp>
        <p:nvSpPr>
          <p:cNvPr id="3" name="Text 1"/>
          <p:cNvSpPr txBox="1"/>
          <p:nvPr/>
        </p:nvSpPr>
        <p:spPr>
          <a:xfrm>
            <a:off x="548640" y="749808"/>
            <a:ext cx="11064240" cy="731520"/>
          </a:xfrm>
          <a:prstGeom prst="rect">
            <a:avLst/>
          </a:prstGeom>
          <a:noFill/>
          <a:ln/>
        </p:spPr>
        <p:txBody>
          <a:bodyPr wrap="square" lIns="0" tIns="0" rIns="0" bIns="0" rtlCol="0" anchor="ctr"/>
          <a:lstStyle/>
          <a:p>
            <a:pPr algn="l" indent="0" marL="0">
              <a:buNone/>
            </a:pPr>
            <a:r>
              <a:rPr lang="en-US" sz="3400" b="1" dirty="0">
                <a:solidFill>
                  <a:srgbClr val="1B2A52"/>
                </a:solidFill>
                <a:latin typeface="Cambria" pitchFamily="34" charset="0"/>
                <a:ea typeface="Cambria" pitchFamily="34" charset="-122"/>
                <a:cs typeface="Cambria" pitchFamily="34" charset="-120"/>
              </a:rPr>
              <a:t>The Heart of It: The FSY Guide</a:t>
            </a:r>
            <a:endParaRPr lang="en-US" sz="3400" dirty="0"/>
          </a:p>
        </p:txBody>
      </p:sp>
      <p:sp>
        <p:nvSpPr>
          <p:cNvPr id="4" name="Text 2"/>
          <p:cNvSpPr txBox="1"/>
          <p:nvPr/>
        </p:nvSpPr>
        <p:spPr>
          <a:xfrm>
            <a:off x="548640" y="1783080"/>
            <a:ext cx="5852160" cy="1417320"/>
          </a:xfrm>
          <a:prstGeom prst="rect">
            <a:avLst/>
          </a:prstGeom>
          <a:noFill/>
          <a:ln/>
        </p:spPr>
        <p:txBody>
          <a:bodyPr wrap="square" lIns="0" tIns="0" rIns="0" bIns="0" rtlCol="0" anchor="ctr"/>
          <a:lstStyle/>
          <a:p>
            <a:pPr indent="0" marL="0">
              <a:buNone/>
            </a:pPr>
            <a:r>
              <a:rPr lang="en-US" sz="1500" dirty="0">
                <a:solidFill>
                  <a:srgbClr val="232A35"/>
                </a:solidFill>
                <a:latin typeface="Calibri" pitchFamily="34" charset="0"/>
                <a:ea typeface="Calibri" pitchFamily="34" charset="-122"/>
                <a:cs typeface="Calibri" pitchFamily="34" charset="-120"/>
              </a:rPr>
              <a:t>Young Women classes and Aaronic Priesthood quorums study the updated For the Strength of Youth: A Guide for Making Choices — discussing eternal truths from the guide and the scriptures that help youth live as lifelong disciples of Jesus Christ.</a:t>
            </a:r>
            <a:endParaRPr lang="en-US" sz="1500" dirty="0"/>
          </a:p>
        </p:txBody>
      </p:sp>
      <p:sp>
        <p:nvSpPr>
          <p:cNvPr id="5" name="Text 3"/>
          <p:cNvSpPr txBox="1"/>
          <p:nvPr/>
        </p:nvSpPr>
        <p:spPr>
          <a:xfrm>
            <a:off x="548640" y="3337560"/>
            <a:ext cx="1783080" cy="914400"/>
          </a:xfrm>
          <a:prstGeom prst="rect">
            <a:avLst/>
          </a:prstGeom>
          <a:noFill/>
          <a:ln/>
        </p:spPr>
        <p:txBody>
          <a:bodyPr wrap="square" lIns="0" tIns="0" rIns="0" bIns="0" rtlCol="0" anchor="ctr"/>
          <a:lstStyle/>
          <a:p>
            <a:pPr indent="0" marL="0">
              <a:buNone/>
            </a:pPr>
            <a:r>
              <a:rPr lang="en-US" sz="6000" b="1" dirty="0">
                <a:solidFill>
                  <a:srgbClr val="8F7115"/>
                </a:solidFill>
                <a:latin typeface="Cambria" pitchFamily="34" charset="0"/>
                <a:ea typeface="Cambria" pitchFamily="34" charset="-122"/>
                <a:cs typeface="Cambria" pitchFamily="34" charset="-120"/>
              </a:rPr>
              <a:t>12</a:t>
            </a:r>
            <a:endParaRPr lang="en-US" sz="6000" dirty="0"/>
          </a:p>
        </p:txBody>
      </p:sp>
      <p:sp>
        <p:nvSpPr>
          <p:cNvPr id="6" name="Text 4"/>
          <p:cNvSpPr txBox="1"/>
          <p:nvPr/>
        </p:nvSpPr>
        <p:spPr>
          <a:xfrm>
            <a:off x="548640" y="4343400"/>
            <a:ext cx="1828800" cy="685800"/>
          </a:xfrm>
          <a:prstGeom prst="rect">
            <a:avLst/>
          </a:prstGeom>
          <a:noFill/>
          <a:ln/>
        </p:spPr>
        <p:txBody>
          <a:bodyPr wrap="square" lIns="0" tIns="0" rIns="0" bIns="0" rtlCol="0" anchor="ctr"/>
          <a:lstStyle/>
          <a:p>
            <a:pPr indent="0" marL="0">
              <a:buNone/>
            </a:pPr>
            <a:r>
              <a:rPr lang="en-US" sz="1150" dirty="0">
                <a:solidFill>
                  <a:srgbClr val="5C6575"/>
                </a:solidFill>
                <a:latin typeface="Calibri" pitchFamily="34" charset="0"/>
                <a:ea typeface="Calibri" pitchFamily="34" charset="-122"/>
                <a:cs typeface="Calibri" pitchFamily="34" charset="-120"/>
              </a:rPr>
              <a:t>chapters in the</a:t>
            </a:r>
            <a:endParaRPr lang="en-US" sz="1150" dirty="0"/>
          </a:p>
          <a:p>
            <a:pPr indent="0" marL="0">
              <a:buNone/>
            </a:pPr>
            <a:r>
              <a:rPr lang="en-US" sz="1150" dirty="0">
                <a:solidFill>
                  <a:srgbClr val="5C6575"/>
                </a:solidFill>
                <a:latin typeface="Calibri" pitchFamily="34" charset="0"/>
                <a:ea typeface="Calibri" pitchFamily="34" charset="-122"/>
                <a:cs typeface="Calibri" pitchFamily="34" charset="-120"/>
              </a:rPr>
              <a:t>updated guide</a:t>
            </a:r>
            <a:endParaRPr lang="en-US" sz="1150" dirty="0"/>
          </a:p>
        </p:txBody>
      </p:sp>
      <p:sp>
        <p:nvSpPr>
          <p:cNvPr id="7" name="Text 5"/>
          <p:cNvSpPr txBox="1"/>
          <p:nvPr/>
        </p:nvSpPr>
        <p:spPr>
          <a:xfrm>
            <a:off x="2542032" y="3337560"/>
            <a:ext cx="1783080" cy="914400"/>
          </a:xfrm>
          <a:prstGeom prst="rect">
            <a:avLst/>
          </a:prstGeom>
          <a:noFill/>
          <a:ln/>
        </p:spPr>
        <p:txBody>
          <a:bodyPr wrap="square" lIns="0" tIns="0" rIns="0" bIns="0" rtlCol="0" anchor="ctr"/>
          <a:lstStyle/>
          <a:p>
            <a:pPr indent="0" marL="0">
              <a:buNone/>
            </a:pPr>
            <a:r>
              <a:rPr lang="en-US" sz="6000" b="1" dirty="0">
                <a:solidFill>
                  <a:srgbClr val="8F7115"/>
                </a:solidFill>
                <a:latin typeface="Cambria" pitchFamily="34" charset="0"/>
                <a:ea typeface="Cambria" pitchFamily="34" charset="-122"/>
                <a:cs typeface="Cambria" pitchFamily="34" charset="-120"/>
              </a:rPr>
              <a:t>1</a:t>
            </a:r>
            <a:endParaRPr lang="en-US" sz="6000" dirty="0"/>
          </a:p>
        </p:txBody>
      </p:sp>
      <p:sp>
        <p:nvSpPr>
          <p:cNvPr id="8" name="Text 6"/>
          <p:cNvSpPr txBox="1"/>
          <p:nvPr/>
        </p:nvSpPr>
        <p:spPr>
          <a:xfrm>
            <a:off x="2542032" y="4343400"/>
            <a:ext cx="1828800" cy="685800"/>
          </a:xfrm>
          <a:prstGeom prst="rect">
            <a:avLst/>
          </a:prstGeom>
          <a:noFill/>
          <a:ln/>
        </p:spPr>
        <p:txBody>
          <a:bodyPr wrap="square" lIns="0" tIns="0" rIns="0" bIns="0" rtlCol="0" anchor="ctr"/>
          <a:lstStyle/>
          <a:p>
            <a:pPr indent="0" marL="0">
              <a:buNone/>
            </a:pPr>
            <a:r>
              <a:rPr lang="en-US" sz="1150" dirty="0">
                <a:solidFill>
                  <a:srgbClr val="5C6575"/>
                </a:solidFill>
                <a:latin typeface="Calibri" pitchFamily="34" charset="0"/>
                <a:ea typeface="Calibri" pitchFamily="34" charset="-122"/>
                <a:cs typeface="Calibri" pitchFamily="34" charset="-120"/>
              </a:rPr>
              <a:t>chapter studied</a:t>
            </a:r>
            <a:endParaRPr lang="en-US" sz="1150" dirty="0"/>
          </a:p>
          <a:p>
            <a:pPr indent="0" marL="0">
              <a:buNone/>
            </a:pPr>
            <a:r>
              <a:rPr lang="en-US" sz="1150" dirty="0">
                <a:solidFill>
                  <a:srgbClr val="5C6575"/>
                </a:solidFill>
                <a:latin typeface="Calibri" pitchFamily="34" charset="0"/>
                <a:ea typeface="Calibri" pitchFamily="34" charset="-122"/>
                <a:cs typeface="Calibri" pitchFamily="34" charset="-120"/>
              </a:rPr>
              <a:t>each month</a:t>
            </a:r>
            <a:endParaRPr lang="en-US" sz="1150" dirty="0"/>
          </a:p>
        </p:txBody>
      </p:sp>
      <p:sp>
        <p:nvSpPr>
          <p:cNvPr id="9" name="Text 7"/>
          <p:cNvSpPr txBox="1"/>
          <p:nvPr/>
        </p:nvSpPr>
        <p:spPr>
          <a:xfrm>
            <a:off x="4535424" y="3337560"/>
            <a:ext cx="1783080" cy="914400"/>
          </a:xfrm>
          <a:prstGeom prst="rect">
            <a:avLst/>
          </a:prstGeom>
          <a:noFill/>
          <a:ln/>
        </p:spPr>
        <p:txBody>
          <a:bodyPr wrap="square" lIns="0" tIns="0" rIns="0" bIns="0" rtlCol="0" anchor="ctr"/>
          <a:lstStyle/>
          <a:p>
            <a:pPr indent="0" marL="0">
              <a:buNone/>
            </a:pPr>
            <a:r>
              <a:rPr lang="en-US" sz="6000" b="1" dirty="0">
                <a:solidFill>
                  <a:srgbClr val="8F7115"/>
                </a:solidFill>
                <a:latin typeface="Cambria" pitchFamily="34" charset="0"/>
                <a:ea typeface="Cambria" pitchFamily="34" charset="-122"/>
                <a:cs typeface="Cambria" pitchFamily="34" charset="-120"/>
              </a:rPr>
              <a:t>4</a:t>
            </a:r>
            <a:endParaRPr lang="en-US" sz="6000" dirty="0"/>
          </a:p>
        </p:txBody>
      </p:sp>
      <p:sp>
        <p:nvSpPr>
          <p:cNvPr id="10" name="Text 8"/>
          <p:cNvSpPr txBox="1"/>
          <p:nvPr/>
        </p:nvSpPr>
        <p:spPr>
          <a:xfrm>
            <a:off x="4535424" y="4343400"/>
            <a:ext cx="1828800" cy="685800"/>
          </a:xfrm>
          <a:prstGeom prst="rect">
            <a:avLst/>
          </a:prstGeom>
          <a:noFill/>
          <a:ln/>
        </p:spPr>
        <p:txBody>
          <a:bodyPr wrap="square" lIns="0" tIns="0" rIns="0" bIns="0" rtlCol="0" anchor="ctr"/>
          <a:lstStyle/>
          <a:p>
            <a:pPr indent="0" marL="0">
              <a:buNone/>
            </a:pPr>
            <a:r>
              <a:rPr lang="en-US" sz="1150" dirty="0">
                <a:solidFill>
                  <a:srgbClr val="5C6575"/>
                </a:solidFill>
                <a:latin typeface="Calibri" pitchFamily="34" charset="0"/>
                <a:ea typeface="Calibri" pitchFamily="34" charset="-122"/>
                <a:cs typeface="Calibri" pitchFamily="34" charset="-120"/>
              </a:rPr>
              <a:t>Sunday lessons build</a:t>
            </a:r>
            <a:endParaRPr lang="en-US" sz="1150" dirty="0"/>
          </a:p>
          <a:p>
            <a:pPr indent="0" marL="0">
              <a:buNone/>
            </a:pPr>
            <a:r>
              <a:rPr lang="en-US" sz="1150" dirty="0">
                <a:solidFill>
                  <a:srgbClr val="5C6575"/>
                </a:solidFill>
                <a:latin typeface="Calibri" pitchFamily="34" charset="0"/>
                <a:ea typeface="Calibri" pitchFamily="34" charset="-122"/>
                <a:cs typeface="Calibri" pitchFamily="34" charset="-120"/>
              </a:rPr>
              <a:t>on that chapter</a:t>
            </a:r>
            <a:endParaRPr lang="en-US" sz="1150" dirty="0"/>
          </a:p>
        </p:txBody>
      </p:sp>
      <p:sp>
        <p:nvSpPr>
          <p:cNvPr id="11" name="Text 9"/>
          <p:cNvSpPr txBox="1"/>
          <p:nvPr/>
        </p:nvSpPr>
        <p:spPr>
          <a:xfrm>
            <a:off x="548640" y="5349240"/>
            <a:ext cx="5852160" cy="1005840"/>
          </a:xfrm>
          <a:prstGeom prst="rect">
            <a:avLst/>
          </a:prstGeom>
          <a:noFill/>
          <a:ln/>
        </p:spPr>
        <p:txBody>
          <a:bodyPr wrap="square" lIns="0" tIns="0" rIns="0" bIns="0" rtlCol="0" anchor="ctr"/>
          <a:lstStyle/>
          <a:p>
            <a:pPr indent="0" marL="0">
              <a:buNone/>
            </a:pPr>
            <a:r>
              <a:rPr lang="en-US" sz="1300" dirty="0">
                <a:solidFill>
                  <a:srgbClr val="5C6575"/>
                </a:solidFill>
                <a:latin typeface="Calibri" pitchFamily="34" charset="0"/>
                <a:ea typeface="Calibri" pitchFamily="34" charset="-122"/>
                <a:cs typeface="Calibri" pitchFamily="34" charset="-120"/>
              </a:rPr>
              <a:t>The First Presidency wrote that the guide helps youth </a:t>
            </a:r>
            <a:pPr indent="0" marL="0">
              <a:buNone/>
            </a:pPr>
            <a:r>
              <a:rPr lang="en-US" sz="1300" b="1" i="1" dirty="0">
                <a:solidFill>
                  <a:srgbClr val="1B2A52"/>
                </a:solidFill>
                <a:latin typeface="Calibri" pitchFamily="34" charset="0"/>
                <a:ea typeface="Calibri" pitchFamily="34" charset="-122"/>
                <a:cs typeface="Calibri" pitchFamily="34" charset="-120"/>
              </a:rPr>
              <a:t>“build a solid foundation for making choices to stay on the path that leads to eternal life.”</a:t>
            </a:r>
            <a:endParaRPr lang="en-US" sz="1300" dirty="0"/>
          </a:p>
        </p:txBody>
      </p:sp>
      <p:sp>
        <p:nvSpPr>
          <p:cNvPr id="12" name="Shape 10"/>
          <p:cNvSpPr/>
          <p:nvPr/>
        </p:nvSpPr>
        <p:spPr>
          <a:xfrm>
            <a:off x="6812280" y="1783080"/>
            <a:ext cx="4846320" cy="2103120"/>
          </a:xfrm>
          <a:prstGeom prst="roundRect">
            <a:avLst>
              <a:gd name="adj" fmla="val 5217"/>
            </a:avLst>
          </a:prstGeom>
          <a:solidFill>
            <a:srgbClr val="1B2A52"/>
          </a:solidFill>
          <a:ln/>
        </p:spPr>
      </p:sp>
      <p:sp>
        <p:nvSpPr>
          <p:cNvPr id="13" name="Text 11"/>
          <p:cNvSpPr txBox="1"/>
          <p:nvPr/>
        </p:nvSpPr>
        <p:spPr>
          <a:xfrm>
            <a:off x="7178040" y="2057400"/>
            <a:ext cx="4160520" cy="1097280"/>
          </a:xfrm>
          <a:prstGeom prst="rect">
            <a:avLst/>
          </a:prstGeom>
          <a:noFill/>
          <a:ln/>
        </p:spPr>
        <p:txBody>
          <a:bodyPr wrap="square" lIns="0" tIns="0" rIns="0" bIns="0" rtlCol="0" anchor="ctr"/>
          <a:lstStyle/>
          <a:p>
            <a:pPr indent="0" marL="0">
              <a:buNone/>
            </a:pPr>
            <a:r>
              <a:rPr lang="en-US" sz="1450" i="1" dirty="0">
                <a:solidFill>
                  <a:srgbClr val="FFFFFF"/>
                </a:solidFill>
                <a:latin typeface="Cambria" pitchFamily="34" charset="0"/>
                <a:ea typeface="Cambria" pitchFamily="34" charset="-122"/>
                <a:cs typeface="Cambria" pitchFamily="34" charset="-120"/>
              </a:rPr>
              <a:t>Each chapter contains “eternal truths, invitations, and promised blessings.”</a:t>
            </a:r>
            <a:endParaRPr lang="en-US" sz="1450" dirty="0"/>
          </a:p>
        </p:txBody>
      </p:sp>
      <p:sp>
        <p:nvSpPr>
          <p:cNvPr id="14" name="Text 12"/>
          <p:cNvSpPr txBox="1"/>
          <p:nvPr/>
        </p:nvSpPr>
        <p:spPr>
          <a:xfrm>
            <a:off x="7178040" y="3319272"/>
            <a:ext cx="4160520" cy="411480"/>
          </a:xfrm>
          <a:prstGeom prst="rect">
            <a:avLst/>
          </a:prstGeom>
          <a:noFill/>
          <a:ln/>
        </p:spPr>
        <p:txBody>
          <a:bodyPr wrap="square" lIns="0" tIns="0" rIns="0" bIns="0" rtlCol="0" anchor="ctr"/>
          <a:lstStyle/>
          <a:p>
            <a:pPr indent="0" marL="0">
              <a:buNone/>
            </a:pPr>
            <a:r>
              <a:rPr lang="en-US" sz="1050" b="1" dirty="0">
                <a:solidFill>
                  <a:srgbClr val="C9A227"/>
                </a:solidFill>
                <a:latin typeface="Calibri" pitchFamily="34" charset="0"/>
                <a:ea typeface="Calibri" pitchFamily="34" charset="-122"/>
                <a:cs typeface="Calibri" pitchFamily="34" charset="-120"/>
              </a:rPr>
              <a:t>Emily Belle Freeman · Young Women General President</a:t>
            </a:r>
            <a:endParaRPr lang="en-US" sz="1050" dirty="0"/>
          </a:p>
        </p:txBody>
      </p:sp>
      <p:sp>
        <p:nvSpPr>
          <p:cNvPr id="15" name="Shape 13"/>
          <p:cNvSpPr/>
          <p:nvPr/>
        </p:nvSpPr>
        <p:spPr>
          <a:xfrm>
            <a:off x="6812280" y="4069080"/>
            <a:ext cx="4846320" cy="2103120"/>
          </a:xfrm>
          <a:prstGeom prst="roundRect">
            <a:avLst>
              <a:gd name="adj" fmla="val 5217"/>
            </a:avLst>
          </a:prstGeom>
          <a:solidFill>
            <a:srgbClr val="F6EFDB"/>
          </a:solidFill>
          <a:ln/>
        </p:spPr>
      </p:sp>
      <p:sp>
        <p:nvSpPr>
          <p:cNvPr id="16" name="Text 14"/>
          <p:cNvSpPr txBox="1"/>
          <p:nvPr/>
        </p:nvSpPr>
        <p:spPr>
          <a:xfrm>
            <a:off x="7178040" y="4343400"/>
            <a:ext cx="4160520" cy="1097280"/>
          </a:xfrm>
          <a:prstGeom prst="rect">
            <a:avLst/>
          </a:prstGeom>
          <a:noFill/>
          <a:ln/>
        </p:spPr>
        <p:txBody>
          <a:bodyPr wrap="square" lIns="0" tIns="0" rIns="0" bIns="0" rtlCol="0" anchor="ctr"/>
          <a:lstStyle/>
          <a:p>
            <a:pPr indent="0" marL="0">
              <a:buNone/>
            </a:pPr>
            <a:r>
              <a:rPr lang="en-US" sz="1450" i="1" dirty="0">
                <a:solidFill>
                  <a:srgbClr val="1B2A52"/>
                </a:solidFill>
                <a:latin typeface="Cambria" pitchFamily="34" charset="0"/>
                <a:ea typeface="Cambria" pitchFamily="34" charset="-122"/>
                <a:cs typeface="Cambria" pitchFamily="34" charset="-120"/>
              </a:rPr>
              <a:t>The guide will “help young men and young women focus on Christ, know His doctrine, and listen to the Spirit.”</a:t>
            </a:r>
            <a:endParaRPr lang="en-US" sz="1450" dirty="0"/>
          </a:p>
        </p:txBody>
      </p:sp>
      <p:sp>
        <p:nvSpPr>
          <p:cNvPr id="17" name="Text 15"/>
          <p:cNvSpPr txBox="1"/>
          <p:nvPr/>
        </p:nvSpPr>
        <p:spPr>
          <a:xfrm>
            <a:off x="7178040" y="5605272"/>
            <a:ext cx="4160520" cy="411480"/>
          </a:xfrm>
          <a:prstGeom prst="rect">
            <a:avLst/>
          </a:prstGeom>
          <a:noFill/>
          <a:ln/>
        </p:spPr>
        <p:txBody>
          <a:bodyPr wrap="square" lIns="0" tIns="0" rIns="0" bIns="0" rtlCol="0" anchor="ctr"/>
          <a:lstStyle/>
          <a:p>
            <a:pPr indent="0" marL="0">
              <a:buNone/>
            </a:pPr>
            <a:r>
              <a:rPr lang="en-US" sz="1050" b="1" dirty="0">
                <a:solidFill>
                  <a:srgbClr val="8F7115"/>
                </a:solidFill>
                <a:latin typeface="Calibri" pitchFamily="34" charset="0"/>
                <a:ea typeface="Calibri" pitchFamily="34" charset="-122"/>
                <a:cs typeface="Calibri" pitchFamily="34" charset="-120"/>
              </a:rPr>
              <a:t>Timothy L. Farnes · Young Men General President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ONE CHAPTER, FOUR SUNDAYS</a:t>
            </a:r>
            <a:endParaRPr lang="en-US" sz="1200" dirty="0"/>
          </a:p>
        </p:txBody>
      </p:sp>
      <p:sp>
        <p:nvSpPr>
          <p:cNvPr id="3" name="Text 1"/>
          <p:cNvSpPr txBox="1"/>
          <p:nvPr/>
        </p:nvSpPr>
        <p:spPr>
          <a:xfrm>
            <a:off x="548640" y="749808"/>
            <a:ext cx="11064240" cy="731520"/>
          </a:xfrm>
          <a:prstGeom prst="rect">
            <a:avLst/>
          </a:prstGeom>
          <a:noFill/>
          <a:ln/>
        </p:spPr>
        <p:txBody>
          <a:bodyPr wrap="square" lIns="0" tIns="0" rIns="0" bIns="0" rtlCol="0" anchor="ctr"/>
          <a:lstStyle/>
          <a:p>
            <a:pPr algn="l" indent="0" marL="0">
              <a:buNone/>
            </a:pPr>
            <a:r>
              <a:rPr lang="en-US" sz="3400" b="1" dirty="0">
                <a:solidFill>
                  <a:srgbClr val="1B2A52"/>
                </a:solidFill>
                <a:latin typeface="Cambria" pitchFamily="34" charset="0"/>
                <a:ea typeface="Cambria" pitchFamily="34" charset="-122"/>
                <a:cs typeface="Cambria" pitchFamily="34" charset="-120"/>
              </a:rPr>
              <a:t>The Rhythm of Each Month</a:t>
            </a:r>
            <a:endParaRPr lang="en-US" sz="3400" dirty="0"/>
          </a:p>
        </p:txBody>
      </p:sp>
      <p:sp>
        <p:nvSpPr>
          <p:cNvPr id="4" name="Shape 2"/>
          <p:cNvSpPr/>
          <p:nvPr/>
        </p:nvSpPr>
        <p:spPr>
          <a:xfrm>
            <a:off x="502920" y="1783080"/>
            <a:ext cx="2724912" cy="3246120"/>
          </a:xfrm>
          <a:prstGeom prst="roundRect">
            <a:avLst>
              <a:gd name="adj" fmla="val 4027"/>
            </a:avLst>
          </a:prstGeom>
          <a:solidFill>
            <a:srgbClr val="EDF1F8"/>
          </a:solidFill>
          <a:ln/>
        </p:spPr>
      </p:sp>
      <p:sp>
        <p:nvSpPr>
          <p:cNvPr id="5" name="Shape 3"/>
          <p:cNvSpPr/>
          <p:nvPr/>
        </p:nvSpPr>
        <p:spPr>
          <a:xfrm>
            <a:off x="777240" y="2057400"/>
            <a:ext cx="566928" cy="566928"/>
          </a:xfrm>
          <a:prstGeom prst="ellipse">
            <a:avLst/>
          </a:prstGeom>
          <a:solidFill>
            <a:srgbClr val="1B2A52"/>
          </a:solidFill>
          <a:ln/>
        </p:spPr>
      </p:sp>
      <p:pic>
        <p:nvPicPr>
          <p:cNvPr id="6" name="Image 0" descr="preencoded.png">    </p:cNvPr>
          <p:cNvPicPr>
            <a:picLocks noChangeAspect="1"/>
          </p:cNvPicPr>
          <p:nvPr/>
        </p:nvPicPr>
        <p:blipFill>
          <a:blip r:embed="rId1"/>
          <a:stretch>
            <a:fillRect/>
          </a:stretch>
        </p:blipFill>
        <p:spPr>
          <a:xfrm>
            <a:off x="930311" y="2210471"/>
            <a:ext cx="260787" cy="260787"/>
          </a:xfrm>
          <a:prstGeom prst="rect">
            <a:avLst/>
          </a:prstGeom>
        </p:spPr>
      </p:pic>
      <p:sp>
        <p:nvSpPr>
          <p:cNvPr id="7" name="Text 4"/>
          <p:cNvSpPr txBox="1"/>
          <p:nvPr/>
        </p:nvSpPr>
        <p:spPr>
          <a:xfrm>
            <a:off x="777240" y="2788920"/>
            <a:ext cx="2194560" cy="256032"/>
          </a:xfrm>
          <a:prstGeom prst="rect">
            <a:avLst/>
          </a:prstGeom>
          <a:noFill/>
          <a:ln/>
        </p:spPr>
        <p:txBody>
          <a:bodyPr wrap="square" lIns="0" tIns="0" rIns="0" bIns="0" rtlCol="0" anchor="ctr"/>
          <a:lstStyle/>
          <a:p>
            <a:pPr indent="0" marL="0">
              <a:buNone/>
            </a:pPr>
            <a:r>
              <a:rPr lang="en-US" sz="1050" b="1" spc="200" kern="0" dirty="0">
                <a:solidFill>
                  <a:srgbClr val="8F7115"/>
                </a:solidFill>
                <a:latin typeface="Calibri" pitchFamily="34" charset="0"/>
                <a:ea typeface="Calibri" pitchFamily="34" charset="-122"/>
                <a:cs typeface="Calibri" pitchFamily="34" charset="-120"/>
              </a:rPr>
              <a:t>FAST SUNDAY</a:t>
            </a:r>
            <a:endParaRPr lang="en-US" sz="1050" dirty="0"/>
          </a:p>
        </p:txBody>
      </p:sp>
      <p:sp>
        <p:nvSpPr>
          <p:cNvPr id="8" name="Text 5"/>
          <p:cNvSpPr txBox="1"/>
          <p:nvPr/>
        </p:nvSpPr>
        <p:spPr>
          <a:xfrm>
            <a:off x="777240" y="3063240"/>
            <a:ext cx="2194560" cy="320040"/>
          </a:xfrm>
          <a:prstGeom prst="rect">
            <a:avLst/>
          </a:prstGeom>
          <a:noFill/>
          <a:ln/>
        </p:spPr>
        <p:txBody>
          <a:bodyPr wrap="square" lIns="0" tIns="0" rIns="0" bIns="0" rtlCol="0" anchor="ctr"/>
          <a:lstStyle/>
          <a:p>
            <a:pPr indent="0" marL="0">
              <a:buNone/>
            </a:pPr>
            <a:r>
              <a:rPr lang="en-US" sz="1550" b="1" dirty="0">
                <a:solidFill>
                  <a:srgbClr val="1B2A52"/>
                </a:solidFill>
                <a:latin typeface="Calibri" pitchFamily="34" charset="0"/>
                <a:ea typeface="Calibri" pitchFamily="34" charset="-122"/>
                <a:cs typeface="Calibri" pitchFamily="34" charset="-120"/>
              </a:rPr>
              <a:t>Study the chapter</a:t>
            </a:r>
            <a:endParaRPr lang="en-US" sz="1550" dirty="0"/>
          </a:p>
        </p:txBody>
      </p:sp>
      <p:sp>
        <p:nvSpPr>
          <p:cNvPr id="9" name="Text 6"/>
          <p:cNvSpPr txBox="1"/>
          <p:nvPr/>
        </p:nvSpPr>
        <p:spPr>
          <a:xfrm>
            <a:off x="777240" y="3429000"/>
            <a:ext cx="2212848" cy="1463040"/>
          </a:xfrm>
          <a:prstGeom prst="rect">
            <a:avLst/>
          </a:prstGeom>
          <a:noFill/>
          <a:ln/>
        </p:spPr>
        <p:txBody>
          <a:bodyPr wrap="square" lIns="0" tIns="0" rIns="0" bIns="0" rtlCol="0" anchor="ctr"/>
          <a:lstStyle/>
          <a:p>
            <a:pPr indent="0" marL="0">
              <a:buNone/>
            </a:pPr>
            <a:r>
              <a:rPr lang="en-US" sz="1100" dirty="0">
                <a:solidFill>
                  <a:srgbClr val="5C6575"/>
                </a:solidFill>
                <a:latin typeface="Calibri" pitchFamily="34" charset="0"/>
                <a:ea typeface="Calibri" pitchFamily="34" charset="-122"/>
                <a:cs typeface="Calibri" pitchFamily="34" charset="-120"/>
              </a:rPr>
              <a:t>Youth read and discuss the month's FSY chapter — its truths, invitations, and promised blessings.</a:t>
            </a:r>
            <a:endParaRPr lang="en-US" sz="1100" dirty="0"/>
          </a:p>
        </p:txBody>
      </p:sp>
      <p:sp>
        <p:nvSpPr>
          <p:cNvPr id="10" name="Shape 7"/>
          <p:cNvSpPr/>
          <p:nvPr/>
        </p:nvSpPr>
        <p:spPr>
          <a:xfrm>
            <a:off x="3328416" y="1783080"/>
            <a:ext cx="2724912" cy="3246120"/>
          </a:xfrm>
          <a:prstGeom prst="roundRect">
            <a:avLst>
              <a:gd name="adj" fmla="val 4027"/>
            </a:avLst>
          </a:prstGeom>
          <a:solidFill>
            <a:srgbClr val="EDF1F8"/>
          </a:solidFill>
          <a:ln/>
        </p:spPr>
      </p:sp>
      <p:sp>
        <p:nvSpPr>
          <p:cNvPr id="11" name="Shape 8"/>
          <p:cNvSpPr/>
          <p:nvPr/>
        </p:nvSpPr>
        <p:spPr>
          <a:xfrm>
            <a:off x="3602736" y="2057400"/>
            <a:ext cx="566928" cy="566928"/>
          </a:xfrm>
          <a:prstGeom prst="ellipse">
            <a:avLst/>
          </a:prstGeom>
          <a:solidFill>
            <a:srgbClr val="1B2A52"/>
          </a:solidFill>
          <a:ln/>
        </p:spPr>
      </p:sp>
      <p:pic>
        <p:nvPicPr>
          <p:cNvPr id="12" name="Image 1" descr="preencoded.png">    </p:cNvPr>
          <p:cNvPicPr>
            <a:picLocks noChangeAspect="1"/>
          </p:cNvPicPr>
          <p:nvPr/>
        </p:nvPicPr>
        <p:blipFill>
          <a:blip r:embed="rId2"/>
          <a:stretch>
            <a:fillRect/>
          </a:stretch>
        </p:blipFill>
        <p:spPr>
          <a:xfrm>
            <a:off x="3755807" y="2210471"/>
            <a:ext cx="260787" cy="260787"/>
          </a:xfrm>
          <a:prstGeom prst="rect">
            <a:avLst/>
          </a:prstGeom>
        </p:spPr>
      </p:pic>
      <p:sp>
        <p:nvSpPr>
          <p:cNvPr id="13" name="Text 9"/>
          <p:cNvSpPr txBox="1"/>
          <p:nvPr/>
        </p:nvSpPr>
        <p:spPr>
          <a:xfrm>
            <a:off x="3602736" y="2788920"/>
            <a:ext cx="2194560" cy="256032"/>
          </a:xfrm>
          <a:prstGeom prst="rect">
            <a:avLst/>
          </a:prstGeom>
          <a:noFill/>
          <a:ln/>
        </p:spPr>
        <p:txBody>
          <a:bodyPr wrap="square" lIns="0" tIns="0" rIns="0" bIns="0" rtlCol="0" anchor="ctr"/>
          <a:lstStyle/>
          <a:p>
            <a:pPr indent="0" marL="0">
              <a:buNone/>
            </a:pPr>
            <a:r>
              <a:rPr lang="en-US" sz="1050" b="1" spc="200" kern="0" dirty="0">
                <a:solidFill>
                  <a:srgbClr val="8F7115"/>
                </a:solidFill>
                <a:latin typeface="Calibri" pitchFamily="34" charset="0"/>
                <a:ea typeface="Calibri" pitchFamily="34" charset="-122"/>
                <a:cs typeface="Calibri" pitchFamily="34" charset="-120"/>
              </a:rPr>
              <a:t>SECOND SUNDAY</a:t>
            </a:r>
            <a:endParaRPr lang="en-US" sz="1050" dirty="0"/>
          </a:p>
        </p:txBody>
      </p:sp>
      <p:sp>
        <p:nvSpPr>
          <p:cNvPr id="14" name="Text 10"/>
          <p:cNvSpPr txBox="1"/>
          <p:nvPr/>
        </p:nvSpPr>
        <p:spPr>
          <a:xfrm>
            <a:off x="3602736" y="3063240"/>
            <a:ext cx="2194560" cy="320040"/>
          </a:xfrm>
          <a:prstGeom prst="rect">
            <a:avLst/>
          </a:prstGeom>
          <a:noFill/>
          <a:ln/>
        </p:spPr>
        <p:txBody>
          <a:bodyPr wrap="square" lIns="0" tIns="0" rIns="0" bIns="0" rtlCol="0" anchor="ctr"/>
          <a:lstStyle/>
          <a:p>
            <a:pPr indent="0" marL="0">
              <a:buNone/>
            </a:pPr>
            <a:r>
              <a:rPr lang="en-US" sz="1550" b="1" dirty="0">
                <a:solidFill>
                  <a:srgbClr val="1B2A52"/>
                </a:solidFill>
                <a:latin typeface="Calibri" pitchFamily="34" charset="0"/>
                <a:ea typeface="Calibri" pitchFamily="34" charset="-122"/>
                <a:cs typeface="Calibri" pitchFamily="34" charset="-120"/>
              </a:rPr>
              <a:t>Go deeper</a:t>
            </a:r>
            <a:endParaRPr lang="en-US" sz="1550" dirty="0"/>
          </a:p>
        </p:txBody>
      </p:sp>
      <p:sp>
        <p:nvSpPr>
          <p:cNvPr id="15" name="Text 11"/>
          <p:cNvSpPr txBox="1"/>
          <p:nvPr/>
        </p:nvSpPr>
        <p:spPr>
          <a:xfrm>
            <a:off x="3602736" y="3429000"/>
            <a:ext cx="2212848" cy="1463040"/>
          </a:xfrm>
          <a:prstGeom prst="rect">
            <a:avLst/>
          </a:prstGeom>
          <a:noFill/>
          <a:ln/>
        </p:spPr>
        <p:txBody>
          <a:bodyPr wrap="square" lIns="0" tIns="0" rIns="0" bIns="0" rtlCol="0" anchor="ctr"/>
          <a:lstStyle/>
          <a:p>
            <a:pPr indent="0" marL="0">
              <a:buNone/>
            </a:pPr>
            <a:r>
              <a:rPr lang="en-US" sz="1100" dirty="0">
                <a:solidFill>
                  <a:srgbClr val="5C6575"/>
                </a:solidFill>
                <a:latin typeface="Calibri" pitchFamily="34" charset="0"/>
                <a:ea typeface="Calibri" pitchFamily="34" charset="-122"/>
                <a:cs typeface="Calibri" pitchFamily="34" charset="-120"/>
              </a:rPr>
              <a:t>Lessons explore the doctrine behind the monthly theme in the scriptures and the words of prophets.</a:t>
            </a:r>
            <a:endParaRPr lang="en-US" sz="1100" dirty="0"/>
          </a:p>
        </p:txBody>
      </p:sp>
      <p:sp>
        <p:nvSpPr>
          <p:cNvPr id="16" name="Shape 12"/>
          <p:cNvSpPr/>
          <p:nvPr/>
        </p:nvSpPr>
        <p:spPr>
          <a:xfrm>
            <a:off x="6153912" y="1783080"/>
            <a:ext cx="2724912" cy="3246120"/>
          </a:xfrm>
          <a:prstGeom prst="roundRect">
            <a:avLst>
              <a:gd name="adj" fmla="val 4027"/>
            </a:avLst>
          </a:prstGeom>
          <a:solidFill>
            <a:srgbClr val="EDF1F8"/>
          </a:solidFill>
          <a:ln/>
        </p:spPr>
      </p:sp>
      <p:sp>
        <p:nvSpPr>
          <p:cNvPr id="17" name="Shape 13"/>
          <p:cNvSpPr/>
          <p:nvPr/>
        </p:nvSpPr>
        <p:spPr>
          <a:xfrm>
            <a:off x="6428232" y="2057400"/>
            <a:ext cx="566928" cy="566928"/>
          </a:xfrm>
          <a:prstGeom prst="ellipse">
            <a:avLst/>
          </a:prstGeom>
          <a:solidFill>
            <a:srgbClr val="1B2A52"/>
          </a:solidFill>
          <a:ln/>
        </p:spPr>
      </p:sp>
      <p:pic>
        <p:nvPicPr>
          <p:cNvPr id="18" name="Image 2" descr="preencoded.png">    </p:cNvPr>
          <p:cNvPicPr>
            <a:picLocks noChangeAspect="1"/>
          </p:cNvPicPr>
          <p:nvPr/>
        </p:nvPicPr>
        <p:blipFill>
          <a:blip r:embed="rId3"/>
          <a:stretch>
            <a:fillRect/>
          </a:stretch>
        </p:blipFill>
        <p:spPr>
          <a:xfrm>
            <a:off x="6581303" y="2210471"/>
            <a:ext cx="260787" cy="260787"/>
          </a:xfrm>
          <a:prstGeom prst="rect">
            <a:avLst/>
          </a:prstGeom>
        </p:spPr>
      </p:pic>
      <p:sp>
        <p:nvSpPr>
          <p:cNvPr id="19" name="Text 14"/>
          <p:cNvSpPr txBox="1"/>
          <p:nvPr/>
        </p:nvSpPr>
        <p:spPr>
          <a:xfrm>
            <a:off x="6428232" y="2788920"/>
            <a:ext cx="2194560" cy="256032"/>
          </a:xfrm>
          <a:prstGeom prst="rect">
            <a:avLst/>
          </a:prstGeom>
          <a:noFill/>
          <a:ln/>
        </p:spPr>
        <p:txBody>
          <a:bodyPr wrap="square" lIns="0" tIns="0" rIns="0" bIns="0" rtlCol="0" anchor="ctr"/>
          <a:lstStyle/>
          <a:p>
            <a:pPr indent="0" marL="0">
              <a:buNone/>
            </a:pPr>
            <a:r>
              <a:rPr lang="en-US" sz="1050" b="1" spc="200" kern="0" dirty="0">
                <a:solidFill>
                  <a:srgbClr val="8F7115"/>
                </a:solidFill>
                <a:latin typeface="Calibri" pitchFamily="34" charset="0"/>
                <a:ea typeface="Calibri" pitchFamily="34" charset="-122"/>
                <a:cs typeface="Calibri" pitchFamily="34" charset="-120"/>
              </a:rPr>
              <a:t>THIRD SUNDAY</a:t>
            </a:r>
            <a:endParaRPr lang="en-US" sz="1050" dirty="0"/>
          </a:p>
        </p:txBody>
      </p:sp>
      <p:sp>
        <p:nvSpPr>
          <p:cNvPr id="20" name="Text 15"/>
          <p:cNvSpPr txBox="1"/>
          <p:nvPr/>
        </p:nvSpPr>
        <p:spPr>
          <a:xfrm>
            <a:off x="6428232" y="3063240"/>
            <a:ext cx="2194560" cy="320040"/>
          </a:xfrm>
          <a:prstGeom prst="rect">
            <a:avLst/>
          </a:prstGeom>
          <a:noFill/>
          <a:ln/>
        </p:spPr>
        <p:txBody>
          <a:bodyPr wrap="square" lIns="0" tIns="0" rIns="0" bIns="0" rtlCol="0" anchor="ctr"/>
          <a:lstStyle/>
          <a:p>
            <a:pPr indent="0" marL="0">
              <a:buNone/>
            </a:pPr>
            <a:r>
              <a:rPr lang="en-US" sz="1550" b="1" dirty="0">
                <a:solidFill>
                  <a:srgbClr val="1B2A52"/>
                </a:solidFill>
                <a:latin typeface="Calibri" pitchFamily="34" charset="0"/>
                <a:ea typeface="Calibri" pitchFamily="34" charset="-122"/>
                <a:cs typeface="Calibri" pitchFamily="34" charset="-120"/>
              </a:rPr>
              <a:t>Keep exploring</a:t>
            </a:r>
            <a:endParaRPr lang="en-US" sz="1550" dirty="0"/>
          </a:p>
        </p:txBody>
      </p:sp>
      <p:sp>
        <p:nvSpPr>
          <p:cNvPr id="21" name="Text 16"/>
          <p:cNvSpPr txBox="1"/>
          <p:nvPr/>
        </p:nvSpPr>
        <p:spPr>
          <a:xfrm>
            <a:off x="6428232" y="3429000"/>
            <a:ext cx="2212848" cy="1463040"/>
          </a:xfrm>
          <a:prstGeom prst="rect">
            <a:avLst/>
          </a:prstGeom>
          <a:noFill/>
          <a:ln/>
        </p:spPr>
        <p:txBody>
          <a:bodyPr wrap="square" lIns="0" tIns="0" rIns="0" bIns="0" rtlCol="0" anchor="ctr"/>
          <a:lstStyle/>
          <a:p>
            <a:pPr indent="0" marL="0">
              <a:buNone/>
            </a:pPr>
            <a:r>
              <a:rPr lang="en-US" sz="1100" dirty="0">
                <a:solidFill>
                  <a:srgbClr val="5C6575"/>
                </a:solidFill>
                <a:latin typeface="Calibri" pitchFamily="34" charset="0"/>
                <a:ea typeface="Calibri" pitchFamily="34" charset="-122"/>
                <a:cs typeface="Calibri" pitchFamily="34" charset="-120"/>
              </a:rPr>
              <a:t>Youth continue the theme, ask questions, share experiences, and apply it to their own lives.</a:t>
            </a:r>
            <a:endParaRPr lang="en-US" sz="1100" dirty="0"/>
          </a:p>
        </p:txBody>
      </p:sp>
      <p:sp>
        <p:nvSpPr>
          <p:cNvPr id="22" name="Shape 17"/>
          <p:cNvSpPr/>
          <p:nvPr/>
        </p:nvSpPr>
        <p:spPr>
          <a:xfrm>
            <a:off x="8979408" y="1783080"/>
            <a:ext cx="2724912" cy="3246120"/>
          </a:xfrm>
          <a:prstGeom prst="roundRect">
            <a:avLst>
              <a:gd name="adj" fmla="val 4027"/>
            </a:avLst>
          </a:prstGeom>
          <a:solidFill>
            <a:srgbClr val="EDF1F8"/>
          </a:solidFill>
          <a:ln/>
        </p:spPr>
      </p:sp>
      <p:sp>
        <p:nvSpPr>
          <p:cNvPr id="23" name="Shape 18"/>
          <p:cNvSpPr/>
          <p:nvPr/>
        </p:nvSpPr>
        <p:spPr>
          <a:xfrm>
            <a:off x="9253728" y="2057400"/>
            <a:ext cx="566928" cy="566928"/>
          </a:xfrm>
          <a:prstGeom prst="ellipse">
            <a:avLst/>
          </a:prstGeom>
          <a:solidFill>
            <a:srgbClr val="1B2A52"/>
          </a:solidFill>
          <a:ln/>
        </p:spPr>
      </p:sp>
      <p:pic>
        <p:nvPicPr>
          <p:cNvPr id="24" name="Image 3" descr="preencoded.png">    </p:cNvPr>
          <p:cNvPicPr>
            <a:picLocks noChangeAspect="1"/>
          </p:cNvPicPr>
          <p:nvPr/>
        </p:nvPicPr>
        <p:blipFill>
          <a:blip r:embed="rId4"/>
          <a:stretch>
            <a:fillRect/>
          </a:stretch>
        </p:blipFill>
        <p:spPr>
          <a:xfrm>
            <a:off x="9406799" y="2210471"/>
            <a:ext cx="260787" cy="260787"/>
          </a:xfrm>
          <a:prstGeom prst="rect">
            <a:avLst/>
          </a:prstGeom>
        </p:spPr>
      </p:pic>
      <p:sp>
        <p:nvSpPr>
          <p:cNvPr id="25" name="Text 19"/>
          <p:cNvSpPr txBox="1"/>
          <p:nvPr/>
        </p:nvSpPr>
        <p:spPr>
          <a:xfrm>
            <a:off x="9253728" y="2788920"/>
            <a:ext cx="2194560" cy="256032"/>
          </a:xfrm>
          <a:prstGeom prst="rect">
            <a:avLst/>
          </a:prstGeom>
          <a:noFill/>
          <a:ln/>
        </p:spPr>
        <p:txBody>
          <a:bodyPr wrap="square" lIns="0" tIns="0" rIns="0" bIns="0" rtlCol="0" anchor="ctr"/>
          <a:lstStyle/>
          <a:p>
            <a:pPr indent="0" marL="0">
              <a:buNone/>
            </a:pPr>
            <a:r>
              <a:rPr lang="en-US" sz="1050" b="1" spc="200" kern="0" dirty="0">
                <a:solidFill>
                  <a:srgbClr val="8F7115"/>
                </a:solidFill>
                <a:latin typeface="Calibri" pitchFamily="34" charset="0"/>
                <a:ea typeface="Calibri" pitchFamily="34" charset="-122"/>
                <a:cs typeface="Calibri" pitchFamily="34" charset="-120"/>
              </a:rPr>
              <a:t>LAST SUNDAY</a:t>
            </a:r>
            <a:endParaRPr lang="en-US" sz="1050" dirty="0"/>
          </a:p>
        </p:txBody>
      </p:sp>
      <p:sp>
        <p:nvSpPr>
          <p:cNvPr id="26" name="Text 20"/>
          <p:cNvSpPr txBox="1"/>
          <p:nvPr/>
        </p:nvSpPr>
        <p:spPr>
          <a:xfrm>
            <a:off x="9253728" y="3063240"/>
            <a:ext cx="2194560" cy="320040"/>
          </a:xfrm>
          <a:prstGeom prst="rect">
            <a:avLst/>
          </a:prstGeom>
          <a:noFill/>
          <a:ln/>
        </p:spPr>
        <p:txBody>
          <a:bodyPr wrap="square" lIns="0" tIns="0" rIns="0" bIns="0" rtlCol="0" anchor="ctr"/>
          <a:lstStyle/>
          <a:p>
            <a:pPr indent="0" marL="0">
              <a:buNone/>
            </a:pPr>
            <a:r>
              <a:rPr lang="en-US" sz="1550" b="1" dirty="0">
                <a:solidFill>
                  <a:srgbClr val="1B2A52"/>
                </a:solidFill>
                <a:latin typeface="Calibri" pitchFamily="34" charset="0"/>
                <a:ea typeface="Calibri" pitchFamily="34" charset="-122"/>
                <a:cs typeface="Calibri" pitchFamily="34" charset="-120"/>
              </a:rPr>
              <a:t>YW &amp; AP focus</a:t>
            </a:r>
            <a:endParaRPr lang="en-US" sz="1550" dirty="0"/>
          </a:p>
        </p:txBody>
      </p:sp>
      <p:sp>
        <p:nvSpPr>
          <p:cNvPr id="27" name="Text 21"/>
          <p:cNvSpPr txBox="1"/>
          <p:nvPr/>
        </p:nvSpPr>
        <p:spPr>
          <a:xfrm>
            <a:off x="9253728" y="3429000"/>
            <a:ext cx="2212848" cy="1463040"/>
          </a:xfrm>
          <a:prstGeom prst="rect">
            <a:avLst/>
          </a:prstGeom>
          <a:noFill/>
          <a:ln/>
        </p:spPr>
        <p:txBody>
          <a:bodyPr wrap="square" lIns="0" tIns="0" rIns="0" bIns="0" rtlCol="0" anchor="ctr"/>
          <a:lstStyle/>
          <a:p>
            <a:pPr indent="0" marL="0">
              <a:buNone/>
            </a:pPr>
            <a:r>
              <a:rPr lang="en-US" sz="1100" dirty="0">
                <a:solidFill>
                  <a:srgbClr val="5C6575"/>
                </a:solidFill>
                <a:latin typeface="Calibri" pitchFamily="34" charset="0"/>
                <a:ea typeface="Calibri" pitchFamily="34" charset="-122"/>
                <a:cs typeface="Calibri" pitchFamily="34" charset="-120"/>
              </a:rPr>
              <a:t>Young Women and Aaronic Priesthood quorums each have a lesson written just for them.</a:t>
            </a:r>
            <a:endParaRPr lang="en-US" sz="1100" dirty="0"/>
          </a:p>
        </p:txBody>
      </p:sp>
      <p:sp>
        <p:nvSpPr>
          <p:cNvPr id="28" name="Shape 22"/>
          <p:cNvSpPr/>
          <p:nvPr/>
        </p:nvSpPr>
        <p:spPr>
          <a:xfrm>
            <a:off x="502920" y="5349240"/>
            <a:ext cx="11201400" cy="960120"/>
          </a:xfrm>
          <a:prstGeom prst="roundRect">
            <a:avLst>
              <a:gd name="adj" fmla="val 9524"/>
            </a:avLst>
          </a:prstGeom>
          <a:solidFill>
            <a:srgbClr val="F6EFDB"/>
          </a:solidFill>
          <a:ln/>
        </p:spPr>
      </p:sp>
      <p:pic>
        <p:nvPicPr>
          <p:cNvPr id="29" name="Image 4" descr="preencoded.png">    </p:cNvPr>
          <p:cNvPicPr>
            <a:picLocks noChangeAspect="1"/>
          </p:cNvPicPr>
          <p:nvPr/>
        </p:nvPicPr>
        <p:blipFill>
          <a:blip r:embed="rId5"/>
          <a:stretch>
            <a:fillRect/>
          </a:stretch>
        </p:blipFill>
        <p:spPr>
          <a:xfrm>
            <a:off x="841248" y="5605272"/>
            <a:ext cx="329184" cy="384048"/>
          </a:xfrm>
          <a:prstGeom prst="rect">
            <a:avLst/>
          </a:prstGeom>
        </p:spPr>
      </p:pic>
      <p:sp>
        <p:nvSpPr>
          <p:cNvPr id="30" name="Text 23"/>
          <p:cNvSpPr txBox="1"/>
          <p:nvPr/>
        </p:nvSpPr>
        <p:spPr>
          <a:xfrm>
            <a:off x="1371600" y="5504688"/>
            <a:ext cx="10149840" cy="685800"/>
          </a:xfrm>
          <a:prstGeom prst="rect">
            <a:avLst/>
          </a:prstGeom>
          <a:noFill/>
          <a:ln/>
        </p:spPr>
        <p:txBody>
          <a:bodyPr wrap="square" lIns="0" tIns="0" rIns="0" bIns="0" rtlCol="0" anchor="ctr"/>
          <a:lstStyle/>
          <a:p>
            <a:pPr indent="0" marL="0">
              <a:buNone/>
            </a:pPr>
            <a:r>
              <a:rPr lang="en-US" sz="1300" b="1" dirty="0">
                <a:solidFill>
                  <a:srgbClr val="1B2A52"/>
                </a:solidFill>
                <a:latin typeface="Calibri" pitchFamily="34" charset="0"/>
                <a:ea typeface="Calibri" pitchFamily="34" charset="-122"/>
                <a:cs typeface="Calibri" pitchFamily="34" charset="-120"/>
              </a:rPr>
              <a:t>And every week: </a:t>
            </a:r>
            <a:pPr indent="0" marL="0">
              <a:buNone/>
            </a:pPr>
            <a:r>
              <a:rPr lang="en-US" sz="1300" dirty="0">
                <a:solidFill>
                  <a:srgbClr val="232A35"/>
                </a:solidFill>
                <a:latin typeface="Calibri" pitchFamily="34" charset="0"/>
                <a:ea typeface="Calibri" pitchFamily="34" charset="-122"/>
                <a:cs typeface="Calibri" pitchFamily="34" charset="-120"/>
              </a:rPr>
              <a:t>youth Sunday School continues to study the scriptures with Come, Follow Me, and the FSY magazine adds monthly stories and articles on the same theme.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WHAT A LESSON LOOKS LIKE  ·  FROM THE SEPTEMBER FSY MAGAZINE</a:t>
            </a:r>
            <a:endParaRPr lang="en-US" sz="1200" dirty="0"/>
          </a:p>
        </p:txBody>
      </p:sp>
      <p:sp>
        <p:nvSpPr>
          <p:cNvPr id="3" name="Text 1"/>
          <p:cNvSpPr txBox="1"/>
          <p:nvPr/>
        </p:nvSpPr>
        <p:spPr>
          <a:xfrm>
            <a:off x="548640" y="749808"/>
            <a:ext cx="11064240" cy="731520"/>
          </a:xfrm>
          <a:prstGeom prst="rect">
            <a:avLst/>
          </a:prstGeom>
          <a:noFill/>
          <a:ln/>
        </p:spPr>
        <p:txBody>
          <a:bodyPr wrap="square" lIns="0" tIns="0" rIns="0" bIns="0" rtlCol="0" anchor="ctr"/>
          <a:lstStyle/>
          <a:p>
            <a:pPr algn="l" indent="0" marL="0">
              <a:buNone/>
            </a:pPr>
            <a:r>
              <a:rPr lang="en-US" sz="3400" b="1" dirty="0">
                <a:solidFill>
                  <a:srgbClr val="1B2A52"/>
                </a:solidFill>
                <a:latin typeface="Cambria" pitchFamily="34" charset="0"/>
                <a:ea typeface="Cambria" pitchFamily="34" charset="-122"/>
                <a:cs typeface="Cambria" pitchFamily="34" charset="-120"/>
              </a:rPr>
              <a:t>Inside a Fast Sunday Lesson</a:t>
            </a:r>
            <a:endParaRPr lang="en-US" sz="3400" dirty="0"/>
          </a:p>
        </p:txBody>
      </p:sp>
      <p:sp>
        <p:nvSpPr>
          <p:cNvPr id="4" name="Shape 2"/>
          <p:cNvSpPr/>
          <p:nvPr/>
        </p:nvSpPr>
        <p:spPr>
          <a:xfrm>
            <a:off x="502920" y="1783080"/>
            <a:ext cx="2724912" cy="3246120"/>
          </a:xfrm>
          <a:prstGeom prst="roundRect">
            <a:avLst>
              <a:gd name="adj" fmla="val 4027"/>
            </a:avLst>
          </a:prstGeom>
          <a:solidFill>
            <a:srgbClr val="EDF1F8"/>
          </a:solidFill>
          <a:ln/>
        </p:spPr>
      </p:sp>
      <p:sp>
        <p:nvSpPr>
          <p:cNvPr id="5" name="Shape 3"/>
          <p:cNvSpPr/>
          <p:nvPr/>
        </p:nvSpPr>
        <p:spPr>
          <a:xfrm>
            <a:off x="777240" y="2057400"/>
            <a:ext cx="566928" cy="566928"/>
          </a:xfrm>
          <a:prstGeom prst="ellipse">
            <a:avLst/>
          </a:prstGeom>
          <a:solidFill>
            <a:srgbClr val="1B2A52"/>
          </a:solidFill>
          <a:ln/>
        </p:spPr>
      </p:sp>
      <p:pic>
        <p:nvPicPr>
          <p:cNvPr id="6" name="Image 0" descr="preencoded.png">    </p:cNvPr>
          <p:cNvPicPr>
            <a:picLocks noChangeAspect="1"/>
          </p:cNvPicPr>
          <p:nvPr/>
        </p:nvPicPr>
        <p:blipFill>
          <a:blip r:embed="rId1"/>
          <a:stretch>
            <a:fillRect/>
          </a:stretch>
        </p:blipFill>
        <p:spPr>
          <a:xfrm>
            <a:off x="930311" y="2210471"/>
            <a:ext cx="260787" cy="260787"/>
          </a:xfrm>
          <a:prstGeom prst="rect">
            <a:avLst/>
          </a:prstGeom>
        </p:spPr>
      </p:pic>
      <p:sp>
        <p:nvSpPr>
          <p:cNvPr id="7" name="Shape 4"/>
          <p:cNvSpPr/>
          <p:nvPr/>
        </p:nvSpPr>
        <p:spPr>
          <a:xfrm>
            <a:off x="2587752" y="2121408"/>
            <a:ext cx="438912" cy="438912"/>
          </a:xfrm>
          <a:prstGeom prst="ellipse">
            <a:avLst/>
          </a:prstGeom>
          <a:solidFill>
            <a:srgbClr val="C9A227"/>
          </a:solidFill>
          <a:ln/>
        </p:spPr>
      </p:sp>
      <p:sp>
        <p:nvSpPr>
          <p:cNvPr id="8" name="Text 5"/>
          <p:cNvSpPr txBox="1"/>
          <p:nvPr/>
        </p:nvSpPr>
        <p:spPr>
          <a:xfrm>
            <a:off x="2587752" y="2121408"/>
            <a:ext cx="438912" cy="438912"/>
          </a:xfrm>
          <a:prstGeom prst="rect">
            <a:avLst/>
          </a:prstGeom>
          <a:noFill/>
          <a:ln/>
        </p:spPr>
        <p:txBody>
          <a:bodyPr wrap="square" lIns="0" tIns="0" rIns="0" bIns="0" rtlCol="0" anchor="ctr"/>
          <a:lstStyle/>
          <a:p>
            <a:pPr algn="ctr" indent="0" marL="0">
              <a:buNone/>
            </a:pPr>
            <a:r>
              <a:rPr lang="en-US" sz="1700" b="1" dirty="0">
                <a:solidFill>
                  <a:srgbClr val="1B2A52"/>
                </a:solidFill>
                <a:latin typeface="Cambria" pitchFamily="34" charset="0"/>
                <a:ea typeface="Cambria" pitchFamily="34" charset="-122"/>
                <a:cs typeface="Cambria" pitchFamily="34" charset="-120"/>
              </a:rPr>
              <a:t>1</a:t>
            </a:r>
            <a:endParaRPr lang="en-US" sz="1700" dirty="0"/>
          </a:p>
        </p:txBody>
      </p:sp>
      <p:sp>
        <p:nvSpPr>
          <p:cNvPr id="9" name="Text 6"/>
          <p:cNvSpPr txBox="1"/>
          <p:nvPr/>
        </p:nvSpPr>
        <p:spPr>
          <a:xfrm>
            <a:off x="777240" y="2880360"/>
            <a:ext cx="2212848" cy="658368"/>
          </a:xfrm>
          <a:prstGeom prst="rect">
            <a:avLst/>
          </a:prstGeom>
          <a:noFill/>
          <a:ln/>
        </p:spPr>
        <p:txBody>
          <a:bodyPr wrap="square" lIns="0" tIns="0" rIns="0" bIns="0" rtlCol="0" anchor="ctr"/>
          <a:lstStyle/>
          <a:p>
            <a:pPr indent="0" marL="0">
              <a:buNone/>
            </a:pPr>
            <a:r>
              <a:rPr lang="en-US" sz="1500" b="1" dirty="0">
                <a:solidFill>
                  <a:srgbClr val="1B2A52"/>
                </a:solidFill>
                <a:latin typeface="Calibri" pitchFamily="34" charset="0"/>
                <a:ea typeface="Calibri" pitchFamily="34" charset="-122"/>
                <a:cs typeface="Calibri" pitchFamily="34" charset="-120"/>
              </a:rPr>
              <a:t>Choose an eternal truth</a:t>
            </a:r>
            <a:endParaRPr lang="en-US" sz="1500" dirty="0"/>
          </a:p>
        </p:txBody>
      </p:sp>
      <p:sp>
        <p:nvSpPr>
          <p:cNvPr id="10" name="Text 7"/>
          <p:cNvSpPr txBox="1"/>
          <p:nvPr/>
        </p:nvSpPr>
        <p:spPr>
          <a:xfrm>
            <a:off x="777240" y="3566160"/>
            <a:ext cx="2212848" cy="1325880"/>
          </a:xfrm>
          <a:prstGeom prst="rect">
            <a:avLst/>
          </a:prstGeom>
          <a:noFill/>
          <a:ln/>
        </p:spPr>
        <p:txBody>
          <a:bodyPr wrap="square" lIns="0" tIns="0" rIns="0" bIns="0" rtlCol="0" anchor="t"/>
          <a:lstStyle/>
          <a:p>
            <a:pPr indent="0" marL="0">
              <a:buNone/>
            </a:pPr>
            <a:r>
              <a:rPr lang="en-US" sz="1100" dirty="0">
                <a:solidFill>
                  <a:srgbClr val="5C6575"/>
                </a:solidFill>
                <a:latin typeface="Calibri" pitchFamily="34" charset="0"/>
                <a:ea typeface="Calibri" pitchFamily="34" charset="-122"/>
                <a:cs typeface="Calibri" pitchFamily="34" charset="-120"/>
              </a:rPr>
              <a:t>Pick a truth from the chapter and share thoughts and questions about it.</a:t>
            </a:r>
            <a:endParaRPr lang="en-US" sz="1100" dirty="0"/>
          </a:p>
        </p:txBody>
      </p:sp>
      <p:sp>
        <p:nvSpPr>
          <p:cNvPr id="11" name="Shape 8"/>
          <p:cNvSpPr/>
          <p:nvPr/>
        </p:nvSpPr>
        <p:spPr>
          <a:xfrm>
            <a:off x="3328416" y="1783080"/>
            <a:ext cx="2724912" cy="3246120"/>
          </a:xfrm>
          <a:prstGeom prst="roundRect">
            <a:avLst>
              <a:gd name="adj" fmla="val 4027"/>
            </a:avLst>
          </a:prstGeom>
          <a:solidFill>
            <a:srgbClr val="EDF1F8"/>
          </a:solidFill>
          <a:ln/>
        </p:spPr>
      </p:sp>
      <p:sp>
        <p:nvSpPr>
          <p:cNvPr id="12" name="Shape 9"/>
          <p:cNvSpPr/>
          <p:nvPr/>
        </p:nvSpPr>
        <p:spPr>
          <a:xfrm>
            <a:off x="3602736" y="2057400"/>
            <a:ext cx="566928" cy="566928"/>
          </a:xfrm>
          <a:prstGeom prst="ellipse">
            <a:avLst/>
          </a:prstGeom>
          <a:solidFill>
            <a:srgbClr val="1B2A52"/>
          </a:solidFill>
          <a:ln/>
        </p:spPr>
      </p:sp>
      <p:pic>
        <p:nvPicPr>
          <p:cNvPr id="13" name="Image 1" descr="preencoded.png">    </p:cNvPr>
          <p:cNvPicPr>
            <a:picLocks noChangeAspect="1"/>
          </p:cNvPicPr>
          <p:nvPr/>
        </p:nvPicPr>
        <p:blipFill>
          <a:blip r:embed="rId2"/>
          <a:stretch>
            <a:fillRect/>
          </a:stretch>
        </p:blipFill>
        <p:spPr>
          <a:xfrm>
            <a:off x="3755807" y="2210471"/>
            <a:ext cx="260787" cy="260787"/>
          </a:xfrm>
          <a:prstGeom prst="rect">
            <a:avLst/>
          </a:prstGeom>
        </p:spPr>
      </p:pic>
      <p:sp>
        <p:nvSpPr>
          <p:cNvPr id="14" name="Shape 10"/>
          <p:cNvSpPr/>
          <p:nvPr/>
        </p:nvSpPr>
        <p:spPr>
          <a:xfrm>
            <a:off x="5413248" y="2121408"/>
            <a:ext cx="438912" cy="438912"/>
          </a:xfrm>
          <a:prstGeom prst="ellipse">
            <a:avLst/>
          </a:prstGeom>
          <a:solidFill>
            <a:srgbClr val="C9A227"/>
          </a:solidFill>
          <a:ln/>
        </p:spPr>
      </p:sp>
      <p:sp>
        <p:nvSpPr>
          <p:cNvPr id="15" name="Text 11"/>
          <p:cNvSpPr txBox="1"/>
          <p:nvPr/>
        </p:nvSpPr>
        <p:spPr>
          <a:xfrm>
            <a:off x="5413248" y="2121408"/>
            <a:ext cx="438912" cy="438912"/>
          </a:xfrm>
          <a:prstGeom prst="rect">
            <a:avLst/>
          </a:prstGeom>
          <a:noFill/>
          <a:ln/>
        </p:spPr>
        <p:txBody>
          <a:bodyPr wrap="square" lIns="0" tIns="0" rIns="0" bIns="0" rtlCol="0" anchor="ctr"/>
          <a:lstStyle/>
          <a:p>
            <a:pPr algn="ctr" indent="0" marL="0">
              <a:buNone/>
            </a:pPr>
            <a:r>
              <a:rPr lang="en-US" sz="1700" b="1" dirty="0">
                <a:solidFill>
                  <a:srgbClr val="1B2A52"/>
                </a:solidFill>
                <a:latin typeface="Cambria" pitchFamily="34" charset="0"/>
                <a:ea typeface="Cambria" pitchFamily="34" charset="-122"/>
                <a:cs typeface="Cambria" pitchFamily="34" charset="-120"/>
              </a:rPr>
              <a:t>2</a:t>
            </a:r>
            <a:endParaRPr lang="en-US" sz="1700" dirty="0"/>
          </a:p>
        </p:txBody>
      </p:sp>
      <p:sp>
        <p:nvSpPr>
          <p:cNvPr id="16" name="Text 12"/>
          <p:cNvSpPr txBox="1"/>
          <p:nvPr/>
        </p:nvSpPr>
        <p:spPr>
          <a:xfrm>
            <a:off x="3602736" y="2880360"/>
            <a:ext cx="2212848" cy="658368"/>
          </a:xfrm>
          <a:prstGeom prst="rect">
            <a:avLst/>
          </a:prstGeom>
          <a:noFill/>
          <a:ln/>
        </p:spPr>
        <p:txBody>
          <a:bodyPr wrap="square" lIns="0" tIns="0" rIns="0" bIns="0" rtlCol="0" anchor="ctr"/>
          <a:lstStyle/>
          <a:p>
            <a:pPr indent="0" marL="0">
              <a:buNone/>
            </a:pPr>
            <a:r>
              <a:rPr lang="en-US" sz="1500" b="1" dirty="0">
                <a:solidFill>
                  <a:srgbClr val="1B2A52"/>
                </a:solidFill>
                <a:latin typeface="Calibri" pitchFamily="34" charset="0"/>
                <a:ea typeface="Calibri" pitchFamily="34" charset="-122"/>
                <a:cs typeface="Calibri" pitchFamily="34" charset="-120"/>
              </a:rPr>
              <a:t>Read a scripture together</a:t>
            </a:r>
            <a:endParaRPr lang="en-US" sz="1500" dirty="0"/>
          </a:p>
        </p:txBody>
      </p:sp>
      <p:sp>
        <p:nvSpPr>
          <p:cNvPr id="17" name="Text 13"/>
          <p:cNvSpPr txBox="1"/>
          <p:nvPr/>
        </p:nvSpPr>
        <p:spPr>
          <a:xfrm>
            <a:off x="3602736" y="3566160"/>
            <a:ext cx="2212848" cy="1325880"/>
          </a:xfrm>
          <a:prstGeom prst="rect">
            <a:avLst/>
          </a:prstGeom>
          <a:noFill/>
          <a:ln/>
        </p:spPr>
        <p:txBody>
          <a:bodyPr wrap="square" lIns="0" tIns="0" rIns="0" bIns="0" rtlCol="0" anchor="t"/>
          <a:lstStyle/>
          <a:p>
            <a:pPr indent="0" marL="0">
              <a:buNone/>
            </a:pPr>
            <a:r>
              <a:rPr lang="en-US" sz="1100" dirty="0">
                <a:solidFill>
                  <a:srgbClr val="5C6575"/>
                </a:solidFill>
                <a:latin typeface="Calibri" pitchFamily="34" charset="0"/>
                <a:ea typeface="Calibri" pitchFamily="34" charset="-122"/>
                <a:cs typeface="Calibri" pitchFamily="34" charset="-120"/>
              </a:rPr>
              <a:t>Find verses that support it — what message does God have for you in it?</a:t>
            </a:r>
            <a:endParaRPr lang="en-US" sz="1100" dirty="0"/>
          </a:p>
        </p:txBody>
      </p:sp>
      <p:sp>
        <p:nvSpPr>
          <p:cNvPr id="18" name="Shape 14"/>
          <p:cNvSpPr/>
          <p:nvPr/>
        </p:nvSpPr>
        <p:spPr>
          <a:xfrm>
            <a:off x="6153912" y="1783080"/>
            <a:ext cx="2724912" cy="3246120"/>
          </a:xfrm>
          <a:prstGeom prst="roundRect">
            <a:avLst>
              <a:gd name="adj" fmla="val 4027"/>
            </a:avLst>
          </a:prstGeom>
          <a:solidFill>
            <a:srgbClr val="EDF1F8"/>
          </a:solidFill>
          <a:ln/>
        </p:spPr>
      </p:sp>
      <p:sp>
        <p:nvSpPr>
          <p:cNvPr id="19" name="Shape 15"/>
          <p:cNvSpPr/>
          <p:nvPr/>
        </p:nvSpPr>
        <p:spPr>
          <a:xfrm>
            <a:off x="6428232" y="2057400"/>
            <a:ext cx="566928" cy="566928"/>
          </a:xfrm>
          <a:prstGeom prst="ellipse">
            <a:avLst/>
          </a:prstGeom>
          <a:solidFill>
            <a:srgbClr val="1B2A52"/>
          </a:solidFill>
          <a:ln/>
        </p:spPr>
      </p:sp>
      <p:pic>
        <p:nvPicPr>
          <p:cNvPr id="20" name="Image 2" descr="preencoded.png">    </p:cNvPr>
          <p:cNvPicPr>
            <a:picLocks noChangeAspect="1"/>
          </p:cNvPicPr>
          <p:nvPr/>
        </p:nvPicPr>
        <p:blipFill>
          <a:blip r:embed="rId3"/>
          <a:stretch>
            <a:fillRect/>
          </a:stretch>
        </p:blipFill>
        <p:spPr>
          <a:xfrm>
            <a:off x="6581303" y="2210471"/>
            <a:ext cx="260787" cy="260787"/>
          </a:xfrm>
          <a:prstGeom prst="rect">
            <a:avLst/>
          </a:prstGeom>
        </p:spPr>
      </p:pic>
      <p:sp>
        <p:nvSpPr>
          <p:cNvPr id="21" name="Shape 16"/>
          <p:cNvSpPr/>
          <p:nvPr/>
        </p:nvSpPr>
        <p:spPr>
          <a:xfrm>
            <a:off x="8238744" y="2121408"/>
            <a:ext cx="438912" cy="438912"/>
          </a:xfrm>
          <a:prstGeom prst="ellipse">
            <a:avLst/>
          </a:prstGeom>
          <a:solidFill>
            <a:srgbClr val="C9A227"/>
          </a:solidFill>
          <a:ln/>
        </p:spPr>
      </p:sp>
      <p:sp>
        <p:nvSpPr>
          <p:cNvPr id="22" name="Text 17"/>
          <p:cNvSpPr txBox="1"/>
          <p:nvPr/>
        </p:nvSpPr>
        <p:spPr>
          <a:xfrm>
            <a:off x="8238744" y="2121408"/>
            <a:ext cx="438912" cy="438912"/>
          </a:xfrm>
          <a:prstGeom prst="rect">
            <a:avLst/>
          </a:prstGeom>
          <a:noFill/>
          <a:ln/>
        </p:spPr>
        <p:txBody>
          <a:bodyPr wrap="square" lIns="0" tIns="0" rIns="0" bIns="0" rtlCol="0" anchor="ctr"/>
          <a:lstStyle/>
          <a:p>
            <a:pPr algn="ctr" indent="0" marL="0">
              <a:buNone/>
            </a:pPr>
            <a:r>
              <a:rPr lang="en-US" sz="1700" b="1" dirty="0">
                <a:solidFill>
                  <a:srgbClr val="1B2A52"/>
                </a:solidFill>
                <a:latin typeface="Cambria" pitchFamily="34" charset="0"/>
                <a:ea typeface="Cambria" pitchFamily="34" charset="-122"/>
                <a:cs typeface="Cambria" pitchFamily="34" charset="-120"/>
              </a:rPr>
              <a:t>3</a:t>
            </a:r>
            <a:endParaRPr lang="en-US" sz="1700" dirty="0"/>
          </a:p>
        </p:txBody>
      </p:sp>
      <p:sp>
        <p:nvSpPr>
          <p:cNvPr id="23" name="Text 18"/>
          <p:cNvSpPr txBox="1"/>
          <p:nvPr/>
        </p:nvSpPr>
        <p:spPr>
          <a:xfrm>
            <a:off x="6428232" y="2880360"/>
            <a:ext cx="2212848" cy="658368"/>
          </a:xfrm>
          <a:prstGeom prst="rect">
            <a:avLst/>
          </a:prstGeom>
          <a:noFill/>
          <a:ln/>
        </p:spPr>
        <p:txBody>
          <a:bodyPr wrap="square" lIns="0" tIns="0" rIns="0" bIns="0" rtlCol="0" anchor="ctr"/>
          <a:lstStyle/>
          <a:p>
            <a:pPr indent="0" marL="0">
              <a:buNone/>
            </a:pPr>
            <a:r>
              <a:rPr lang="en-US" sz="1500" b="1" dirty="0">
                <a:solidFill>
                  <a:srgbClr val="1B2A52"/>
                </a:solidFill>
                <a:latin typeface="Calibri" pitchFamily="34" charset="0"/>
                <a:ea typeface="Calibri" pitchFamily="34" charset="-122"/>
                <a:cs typeface="Calibri" pitchFamily="34" charset="-120"/>
              </a:rPr>
              <a:t>Share a personal story</a:t>
            </a:r>
            <a:endParaRPr lang="en-US" sz="1500" dirty="0"/>
          </a:p>
        </p:txBody>
      </p:sp>
      <p:sp>
        <p:nvSpPr>
          <p:cNvPr id="24" name="Text 19"/>
          <p:cNvSpPr txBox="1"/>
          <p:nvPr/>
        </p:nvSpPr>
        <p:spPr>
          <a:xfrm>
            <a:off x="6428232" y="3566160"/>
            <a:ext cx="2212848" cy="1325880"/>
          </a:xfrm>
          <a:prstGeom prst="rect">
            <a:avLst/>
          </a:prstGeom>
          <a:noFill/>
          <a:ln/>
        </p:spPr>
        <p:txBody>
          <a:bodyPr wrap="square" lIns="0" tIns="0" rIns="0" bIns="0" rtlCol="0" anchor="t"/>
          <a:lstStyle/>
          <a:p>
            <a:pPr indent="0" marL="0">
              <a:buNone/>
            </a:pPr>
            <a:r>
              <a:rPr lang="en-US" sz="1100" dirty="0">
                <a:solidFill>
                  <a:srgbClr val="5C6575"/>
                </a:solidFill>
                <a:latin typeface="Calibri" pitchFamily="34" charset="0"/>
                <a:ea typeface="Calibri" pitchFamily="34" charset="-122"/>
                <a:cs typeface="Calibri" pitchFamily="34" charset="-120"/>
              </a:rPr>
              <a:t>An experience living this truth, or a promised blessing the Lord has kept.</a:t>
            </a:r>
            <a:endParaRPr lang="en-US" sz="1100" dirty="0"/>
          </a:p>
        </p:txBody>
      </p:sp>
      <p:sp>
        <p:nvSpPr>
          <p:cNvPr id="25" name="Shape 20"/>
          <p:cNvSpPr/>
          <p:nvPr/>
        </p:nvSpPr>
        <p:spPr>
          <a:xfrm>
            <a:off x="8979408" y="1783080"/>
            <a:ext cx="2724912" cy="3246120"/>
          </a:xfrm>
          <a:prstGeom prst="roundRect">
            <a:avLst>
              <a:gd name="adj" fmla="val 4027"/>
            </a:avLst>
          </a:prstGeom>
          <a:solidFill>
            <a:srgbClr val="EDF1F8"/>
          </a:solidFill>
          <a:ln/>
        </p:spPr>
      </p:sp>
      <p:sp>
        <p:nvSpPr>
          <p:cNvPr id="26" name="Shape 21"/>
          <p:cNvSpPr/>
          <p:nvPr/>
        </p:nvSpPr>
        <p:spPr>
          <a:xfrm>
            <a:off x="9253728" y="2057400"/>
            <a:ext cx="566928" cy="566928"/>
          </a:xfrm>
          <a:prstGeom prst="ellipse">
            <a:avLst/>
          </a:prstGeom>
          <a:solidFill>
            <a:srgbClr val="1B2A52"/>
          </a:solidFill>
          <a:ln/>
        </p:spPr>
      </p:sp>
      <p:pic>
        <p:nvPicPr>
          <p:cNvPr id="27" name="Image 3" descr="preencoded.png">    </p:cNvPr>
          <p:cNvPicPr>
            <a:picLocks noChangeAspect="1"/>
          </p:cNvPicPr>
          <p:nvPr/>
        </p:nvPicPr>
        <p:blipFill>
          <a:blip r:embed="rId4"/>
          <a:stretch>
            <a:fillRect/>
          </a:stretch>
        </p:blipFill>
        <p:spPr>
          <a:xfrm>
            <a:off x="9406799" y="2210471"/>
            <a:ext cx="260787" cy="260787"/>
          </a:xfrm>
          <a:prstGeom prst="rect">
            <a:avLst/>
          </a:prstGeom>
        </p:spPr>
      </p:pic>
      <p:sp>
        <p:nvSpPr>
          <p:cNvPr id="28" name="Shape 22"/>
          <p:cNvSpPr/>
          <p:nvPr/>
        </p:nvSpPr>
        <p:spPr>
          <a:xfrm>
            <a:off x="11064240" y="2121408"/>
            <a:ext cx="438912" cy="438912"/>
          </a:xfrm>
          <a:prstGeom prst="ellipse">
            <a:avLst/>
          </a:prstGeom>
          <a:solidFill>
            <a:srgbClr val="C9A227"/>
          </a:solidFill>
          <a:ln/>
        </p:spPr>
      </p:sp>
      <p:sp>
        <p:nvSpPr>
          <p:cNvPr id="29" name="Text 23"/>
          <p:cNvSpPr txBox="1"/>
          <p:nvPr/>
        </p:nvSpPr>
        <p:spPr>
          <a:xfrm>
            <a:off x="11064240" y="2121408"/>
            <a:ext cx="438912" cy="438912"/>
          </a:xfrm>
          <a:prstGeom prst="rect">
            <a:avLst/>
          </a:prstGeom>
          <a:noFill/>
          <a:ln/>
        </p:spPr>
        <p:txBody>
          <a:bodyPr wrap="square" lIns="0" tIns="0" rIns="0" bIns="0" rtlCol="0" anchor="ctr"/>
          <a:lstStyle/>
          <a:p>
            <a:pPr algn="ctr" indent="0" marL="0">
              <a:buNone/>
            </a:pPr>
            <a:r>
              <a:rPr lang="en-US" sz="1700" b="1" dirty="0">
                <a:solidFill>
                  <a:srgbClr val="1B2A52"/>
                </a:solidFill>
                <a:latin typeface="Cambria" pitchFamily="34" charset="0"/>
                <a:ea typeface="Cambria" pitchFamily="34" charset="-122"/>
                <a:cs typeface="Cambria" pitchFamily="34" charset="-120"/>
              </a:rPr>
              <a:t>4</a:t>
            </a:r>
            <a:endParaRPr lang="en-US" sz="1700" dirty="0"/>
          </a:p>
        </p:txBody>
      </p:sp>
      <p:sp>
        <p:nvSpPr>
          <p:cNvPr id="30" name="Text 24"/>
          <p:cNvSpPr txBox="1"/>
          <p:nvPr/>
        </p:nvSpPr>
        <p:spPr>
          <a:xfrm>
            <a:off x="9253728" y="2880360"/>
            <a:ext cx="2212848" cy="658368"/>
          </a:xfrm>
          <a:prstGeom prst="rect">
            <a:avLst/>
          </a:prstGeom>
          <a:noFill/>
          <a:ln/>
        </p:spPr>
        <p:txBody>
          <a:bodyPr wrap="square" lIns="0" tIns="0" rIns="0" bIns="0" rtlCol="0" anchor="ctr"/>
          <a:lstStyle/>
          <a:p>
            <a:pPr indent="0" marL="0">
              <a:buNone/>
            </a:pPr>
            <a:r>
              <a:rPr lang="en-US" sz="1500" b="1" dirty="0">
                <a:solidFill>
                  <a:srgbClr val="1B2A52"/>
                </a:solidFill>
                <a:latin typeface="Calibri" pitchFamily="34" charset="0"/>
                <a:ea typeface="Calibri" pitchFamily="34" charset="-122"/>
                <a:cs typeface="Calibri" pitchFamily="34" charset="-120"/>
              </a:rPr>
              <a:t>Testify</a:t>
            </a:r>
            <a:endParaRPr lang="en-US" sz="1500" dirty="0"/>
          </a:p>
        </p:txBody>
      </p:sp>
      <p:sp>
        <p:nvSpPr>
          <p:cNvPr id="31" name="Text 25"/>
          <p:cNvSpPr txBox="1"/>
          <p:nvPr/>
        </p:nvSpPr>
        <p:spPr>
          <a:xfrm>
            <a:off x="9253728" y="3566160"/>
            <a:ext cx="2212848" cy="1325880"/>
          </a:xfrm>
          <a:prstGeom prst="rect">
            <a:avLst/>
          </a:prstGeom>
          <a:noFill/>
          <a:ln/>
        </p:spPr>
        <p:txBody>
          <a:bodyPr wrap="square" lIns="0" tIns="0" rIns="0" bIns="0" rtlCol="0" anchor="t"/>
          <a:lstStyle/>
          <a:p>
            <a:pPr indent="0" marL="0">
              <a:buNone/>
            </a:pPr>
            <a:r>
              <a:rPr lang="en-US" sz="1100" dirty="0">
                <a:solidFill>
                  <a:srgbClr val="5C6575"/>
                </a:solidFill>
                <a:latin typeface="Calibri" pitchFamily="34" charset="0"/>
                <a:ea typeface="Calibri" pitchFamily="34" charset="-122"/>
                <a:cs typeface="Calibri" pitchFamily="34" charset="-120"/>
              </a:rPr>
              <a:t>Share what you know from your own experience and what the Spirit has taught you.</a:t>
            </a:r>
            <a:endParaRPr lang="en-US" sz="1100" dirty="0"/>
          </a:p>
        </p:txBody>
      </p:sp>
      <p:sp>
        <p:nvSpPr>
          <p:cNvPr id="32" name="Shape 26"/>
          <p:cNvSpPr/>
          <p:nvPr/>
        </p:nvSpPr>
        <p:spPr>
          <a:xfrm>
            <a:off x="502920" y="5349240"/>
            <a:ext cx="11201400" cy="960120"/>
          </a:xfrm>
          <a:prstGeom prst="roundRect">
            <a:avLst>
              <a:gd name="adj" fmla="val 9524"/>
            </a:avLst>
          </a:prstGeom>
          <a:solidFill>
            <a:srgbClr val="F6EFDB"/>
          </a:solidFill>
          <a:ln/>
        </p:spPr>
      </p:sp>
      <p:pic>
        <p:nvPicPr>
          <p:cNvPr id="33" name="Image 4" descr="preencoded.png">    </p:cNvPr>
          <p:cNvPicPr>
            <a:picLocks noChangeAspect="1"/>
          </p:cNvPicPr>
          <p:nvPr/>
        </p:nvPicPr>
        <p:blipFill>
          <a:blip r:embed="rId5"/>
          <a:stretch>
            <a:fillRect/>
          </a:stretch>
        </p:blipFill>
        <p:spPr>
          <a:xfrm>
            <a:off x="841248" y="5605272"/>
            <a:ext cx="384048" cy="384048"/>
          </a:xfrm>
          <a:prstGeom prst="rect">
            <a:avLst/>
          </a:prstGeom>
        </p:spPr>
      </p:pic>
      <p:sp>
        <p:nvSpPr>
          <p:cNvPr id="34" name="Text 27"/>
          <p:cNvSpPr txBox="1"/>
          <p:nvPr/>
        </p:nvSpPr>
        <p:spPr>
          <a:xfrm>
            <a:off x="1371600" y="5504688"/>
            <a:ext cx="10149840" cy="685800"/>
          </a:xfrm>
          <a:prstGeom prst="rect">
            <a:avLst/>
          </a:prstGeom>
          <a:noFill/>
          <a:ln/>
        </p:spPr>
        <p:txBody>
          <a:bodyPr wrap="square" lIns="0" tIns="0" rIns="0" bIns="0" rtlCol="0" anchor="ctr"/>
          <a:lstStyle/>
          <a:p>
            <a:pPr indent="0" marL="0">
              <a:buNone/>
            </a:pPr>
            <a:r>
              <a:rPr lang="en-US" sz="1300" b="1" dirty="0">
                <a:solidFill>
                  <a:srgbClr val="1B2A52"/>
                </a:solidFill>
                <a:latin typeface="Calibri" pitchFamily="34" charset="0"/>
                <a:ea typeface="Calibri" pitchFamily="34" charset="-122"/>
                <a:cs typeface="Calibri" pitchFamily="34" charset="-120"/>
              </a:rPr>
              <a:t>Then: </a:t>
            </a:r>
            <a:pPr indent="0" marL="0">
              <a:buNone/>
            </a:pPr>
            <a:r>
              <a:rPr lang="en-US" sz="1300" dirty="0">
                <a:solidFill>
                  <a:srgbClr val="232A35"/>
                </a:solidFill>
                <a:latin typeface="Calibri" pitchFamily="34" charset="0"/>
                <a:ea typeface="Calibri" pitchFamily="34" charset="-122"/>
                <a:cs typeface="Calibri" pitchFamily="34" charset="-120"/>
              </a:rPr>
              <a:t>repeat with another truth as time allows — and each fast Sunday, choose an invitation from the guide (or one of your own) to live that month.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SEPTEMBER 2026  ·  THE FIRST MONTH</a:t>
            </a:r>
            <a:endParaRPr lang="en-US" sz="1200" dirty="0"/>
          </a:p>
        </p:txBody>
      </p:sp>
      <p:sp>
        <p:nvSpPr>
          <p:cNvPr id="3" name="Text 1"/>
          <p:cNvSpPr txBox="1"/>
          <p:nvPr/>
        </p:nvSpPr>
        <p:spPr>
          <a:xfrm>
            <a:off x="548640" y="749808"/>
            <a:ext cx="11064240" cy="731520"/>
          </a:xfrm>
          <a:prstGeom prst="rect">
            <a:avLst/>
          </a:prstGeom>
          <a:noFill/>
          <a:ln/>
        </p:spPr>
        <p:txBody>
          <a:bodyPr wrap="square" lIns="0" tIns="0" rIns="0" bIns="0" rtlCol="0" anchor="ctr"/>
          <a:lstStyle/>
          <a:p>
            <a:pPr algn="l" indent="0" marL="0">
              <a:buNone/>
            </a:pPr>
            <a:r>
              <a:rPr lang="en-US" sz="2700" b="1" dirty="0">
                <a:solidFill>
                  <a:srgbClr val="1B2A52"/>
                </a:solidFill>
                <a:latin typeface="Cambria" pitchFamily="34" charset="0"/>
                <a:ea typeface="Cambria" pitchFamily="34" charset="-122"/>
                <a:cs typeface="Cambria" pitchFamily="34" charset="-120"/>
              </a:rPr>
              <a:t>“You Are Blessed by Priesthood Keys and Authority”</a:t>
            </a:r>
            <a:endParaRPr lang="en-US" sz="2700" dirty="0"/>
          </a:p>
        </p:txBody>
      </p:sp>
      <p:sp>
        <p:nvSpPr>
          <p:cNvPr id="4" name="Shape 2"/>
          <p:cNvSpPr/>
          <p:nvPr/>
        </p:nvSpPr>
        <p:spPr>
          <a:xfrm>
            <a:off x="502920" y="1691640"/>
            <a:ext cx="4160520" cy="2377440"/>
          </a:xfrm>
          <a:prstGeom prst="roundRect">
            <a:avLst>
              <a:gd name="adj" fmla="val 4615"/>
            </a:avLst>
          </a:prstGeom>
          <a:solidFill>
            <a:srgbClr val="1B2A52"/>
          </a:solidFill>
          <a:ln/>
        </p:spPr>
      </p:sp>
      <p:sp>
        <p:nvSpPr>
          <p:cNvPr id="5" name="Shape 3"/>
          <p:cNvSpPr/>
          <p:nvPr/>
        </p:nvSpPr>
        <p:spPr>
          <a:xfrm>
            <a:off x="822960" y="1965960"/>
            <a:ext cx="566928" cy="566928"/>
          </a:xfrm>
          <a:prstGeom prst="ellipse">
            <a:avLst/>
          </a:prstGeom>
          <a:solidFill>
            <a:srgbClr val="C9A227"/>
          </a:solidFill>
          <a:ln/>
        </p:spPr>
      </p:sp>
      <p:pic>
        <p:nvPicPr>
          <p:cNvPr id="6" name="Image 0" descr="preencoded.png">    </p:cNvPr>
          <p:cNvPicPr>
            <a:picLocks noChangeAspect="1"/>
          </p:cNvPicPr>
          <p:nvPr/>
        </p:nvPicPr>
        <p:blipFill>
          <a:blip r:embed="rId1"/>
          <a:stretch>
            <a:fillRect/>
          </a:stretch>
        </p:blipFill>
        <p:spPr>
          <a:xfrm>
            <a:off x="976031" y="2119031"/>
            <a:ext cx="260787" cy="260787"/>
          </a:xfrm>
          <a:prstGeom prst="rect">
            <a:avLst/>
          </a:prstGeom>
        </p:spPr>
      </p:pic>
      <p:sp>
        <p:nvSpPr>
          <p:cNvPr id="7" name="Text 4"/>
          <p:cNvSpPr txBox="1"/>
          <p:nvPr/>
        </p:nvSpPr>
        <p:spPr>
          <a:xfrm>
            <a:off x="1572768" y="2103120"/>
            <a:ext cx="2926080" cy="274320"/>
          </a:xfrm>
          <a:prstGeom prst="rect">
            <a:avLst/>
          </a:prstGeom>
          <a:noFill/>
          <a:ln/>
        </p:spPr>
        <p:txBody>
          <a:bodyPr wrap="square" lIns="0" tIns="0" rIns="0" bIns="0"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MATTHEW 16:19</a:t>
            </a:r>
            <a:endParaRPr lang="en-US" sz="1100" dirty="0"/>
          </a:p>
        </p:txBody>
      </p:sp>
      <p:sp>
        <p:nvSpPr>
          <p:cNvPr id="8" name="Text 5"/>
          <p:cNvSpPr txBox="1"/>
          <p:nvPr/>
        </p:nvSpPr>
        <p:spPr>
          <a:xfrm>
            <a:off x="822960" y="2697480"/>
            <a:ext cx="3566160" cy="960120"/>
          </a:xfrm>
          <a:prstGeom prst="rect">
            <a:avLst/>
          </a:prstGeom>
          <a:noFill/>
          <a:ln/>
        </p:spPr>
        <p:txBody>
          <a:bodyPr wrap="square" lIns="0" tIns="0" rIns="0" bIns="0" rtlCol="0" anchor="ctr"/>
          <a:lstStyle/>
          <a:p>
            <a:pPr indent="0" marL="0">
              <a:buNone/>
            </a:pPr>
            <a:r>
              <a:rPr lang="en-US" sz="1550" i="1" dirty="0">
                <a:solidFill>
                  <a:srgbClr val="FFFFFF"/>
                </a:solidFill>
                <a:latin typeface="Cambria" pitchFamily="34" charset="0"/>
                <a:ea typeface="Cambria" pitchFamily="34" charset="-122"/>
                <a:cs typeface="Cambria" pitchFamily="34" charset="-120"/>
              </a:rPr>
              <a:t>“And I will give unto thee the keys of the kingdom of heaven …”</a:t>
            </a:r>
            <a:endParaRPr lang="en-US" sz="1550" dirty="0"/>
          </a:p>
        </p:txBody>
      </p:sp>
      <p:sp>
        <p:nvSpPr>
          <p:cNvPr id="9" name="Text 6"/>
          <p:cNvSpPr txBox="1"/>
          <p:nvPr/>
        </p:nvSpPr>
        <p:spPr>
          <a:xfrm>
            <a:off x="822960" y="3639312"/>
            <a:ext cx="3566160" cy="274320"/>
          </a:xfrm>
          <a:prstGeom prst="rect">
            <a:avLst/>
          </a:prstGeom>
          <a:noFill/>
          <a:ln/>
        </p:spPr>
        <p:txBody>
          <a:bodyPr wrap="square" lIns="0" tIns="0" rIns="0" bIns="0" rtlCol="0" anchor="ctr"/>
          <a:lstStyle/>
          <a:p>
            <a:pPr indent="0" marL="0">
              <a:buNone/>
            </a:pPr>
            <a:r>
              <a:rPr lang="en-US" sz="1050" dirty="0">
                <a:solidFill>
                  <a:srgbClr val="C9D6EF"/>
                </a:solidFill>
                <a:latin typeface="Calibri" pitchFamily="34" charset="0"/>
                <a:ea typeface="Calibri" pitchFamily="34" charset="-122"/>
                <a:cs typeface="Calibri" pitchFamily="34" charset="-120"/>
              </a:rPr>
              <a:t>The month's anchor scripture</a:t>
            </a:r>
            <a:endParaRPr lang="en-US" sz="1050" dirty="0"/>
          </a:p>
        </p:txBody>
      </p:sp>
      <p:sp>
        <p:nvSpPr>
          <p:cNvPr id="10" name="Text 7"/>
          <p:cNvSpPr txBox="1"/>
          <p:nvPr/>
        </p:nvSpPr>
        <p:spPr>
          <a:xfrm>
            <a:off x="548640" y="4297680"/>
            <a:ext cx="4114800" cy="274320"/>
          </a:xfrm>
          <a:prstGeom prst="rect">
            <a:avLst/>
          </a:prstGeom>
          <a:noFill/>
          <a:ln/>
        </p:spPr>
        <p:txBody>
          <a:bodyPr wrap="square" lIns="0" tIns="0" rIns="0" bIns="0" rtlCol="0" anchor="ctr"/>
          <a:lstStyle/>
          <a:p>
            <a:pPr indent="0" marL="0">
              <a:buNone/>
            </a:pPr>
            <a:r>
              <a:rPr lang="en-US" sz="1100" b="1" spc="200" kern="0" dirty="0">
                <a:solidFill>
                  <a:srgbClr val="8F7115"/>
                </a:solidFill>
                <a:latin typeface="Calibri" pitchFamily="34" charset="0"/>
                <a:ea typeface="Calibri" pitchFamily="34" charset="-122"/>
                <a:cs typeface="Calibri" pitchFamily="34" charset="-120"/>
              </a:rPr>
              <a:t>THE CHAPTER'S ETERNAL TRUTHS</a:t>
            </a:r>
            <a:endParaRPr lang="en-US" sz="1100" dirty="0"/>
          </a:p>
        </p:txBody>
      </p:sp>
      <p:sp>
        <p:nvSpPr>
          <p:cNvPr id="11" name="Shape 8"/>
          <p:cNvSpPr/>
          <p:nvPr/>
        </p:nvSpPr>
        <p:spPr>
          <a:xfrm>
            <a:off x="585216" y="4700016"/>
            <a:ext cx="100584" cy="100584"/>
          </a:xfrm>
          <a:prstGeom prst="ellipse">
            <a:avLst/>
          </a:prstGeom>
          <a:solidFill>
            <a:srgbClr val="C9A227"/>
          </a:solidFill>
          <a:ln/>
        </p:spPr>
      </p:sp>
      <p:sp>
        <p:nvSpPr>
          <p:cNvPr id="12" name="Text 9"/>
          <p:cNvSpPr txBox="1"/>
          <p:nvPr/>
        </p:nvSpPr>
        <p:spPr>
          <a:xfrm>
            <a:off x="841248" y="4645152"/>
            <a:ext cx="3840480" cy="530352"/>
          </a:xfrm>
          <a:prstGeom prst="rect">
            <a:avLst/>
          </a:prstGeom>
          <a:noFill/>
          <a:ln/>
        </p:spPr>
        <p:txBody>
          <a:bodyPr wrap="square" lIns="0" tIns="0" rIns="0" bIns="0" rtlCol="0" anchor="t"/>
          <a:lstStyle/>
          <a:p>
            <a:pPr indent="0" marL="0">
              <a:buNone/>
            </a:pPr>
            <a:r>
              <a:rPr lang="en-US" sz="1150" dirty="0">
                <a:solidFill>
                  <a:srgbClr val="232A35"/>
                </a:solidFill>
                <a:latin typeface="Calibri" pitchFamily="34" charset="0"/>
                <a:ea typeface="Calibri" pitchFamily="34" charset="-122"/>
                <a:cs typeface="Calibri" pitchFamily="34" charset="-120"/>
              </a:rPr>
              <a:t>All priesthood keys and authority come through Jesus Christ.</a:t>
            </a:r>
            <a:endParaRPr lang="en-US" sz="1150" dirty="0"/>
          </a:p>
        </p:txBody>
      </p:sp>
      <p:sp>
        <p:nvSpPr>
          <p:cNvPr id="13" name="Shape 10"/>
          <p:cNvSpPr/>
          <p:nvPr/>
        </p:nvSpPr>
        <p:spPr>
          <a:xfrm>
            <a:off x="585216" y="5266944"/>
            <a:ext cx="100584" cy="100584"/>
          </a:xfrm>
          <a:prstGeom prst="ellipse">
            <a:avLst/>
          </a:prstGeom>
          <a:solidFill>
            <a:srgbClr val="C9A227"/>
          </a:solidFill>
          <a:ln/>
        </p:spPr>
      </p:sp>
      <p:sp>
        <p:nvSpPr>
          <p:cNvPr id="14" name="Text 11"/>
          <p:cNvSpPr txBox="1"/>
          <p:nvPr/>
        </p:nvSpPr>
        <p:spPr>
          <a:xfrm>
            <a:off x="841248" y="5212080"/>
            <a:ext cx="3840480" cy="530352"/>
          </a:xfrm>
          <a:prstGeom prst="rect">
            <a:avLst/>
          </a:prstGeom>
          <a:noFill/>
          <a:ln/>
        </p:spPr>
        <p:txBody>
          <a:bodyPr wrap="square" lIns="0" tIns="0" rIns="0" bIns="0" rtlCol="0" anchor="t"/>
          <a:lstStyle/>
          <a:p>
            <a:pPr indent="0" marL="0">
              <a:buNone/>
            </a:pPr>
            <a:r>
              <a:rPr lang="en-US" sz="1150" dirty="0">
                <a:solidFill>
                  <a:srgbClr val="232A35"/>
                </a:solidFill>
                <a:latin typeface="Calibri" pitchFamily="34" charset="0"/>
                <a:ea typeface="Calibri" pitchFamily="34" charset="-122"/>
                <a:cs typeface="Calibri" pitchFamily="34" charset="-120"/>
              </a:rPr>
              <a:t>Jesus Christ has restored His priesthood in our day.</a:t>
            </a:r>
            <a:endParaRPr lang="en-US" sz="1150" dirty="0"/>
          </a:p>
        </p:txBody>
      </p:sp>
      <p:sp>
        <p:nvSpPr>
          <p:cNvPr id="15" name="Shape 12"/>
          <p:cNvSpPr/>
          <p:nvPr/>
        </p:nvSpPr>
        <p:spPr>
          <a:xfrm>
            <a:off x="585216" y="5833872"/>
            <a:ext cx="100584" cy="100584"/>
          </a:xfrm>
          <a:prstGeom prst="ellipse">
            <a:avLst/>
          </a:prstGeom>
          <a:solidFill>
            <a:srgbClr val="C9A227"/>
          </a:solidFill>
          <a:ln/>
        </p:spPr>
      </p:sp>
      <p:sp>
        <p:nvSpPr>
          <p:cNvPr id="16" name="Text 13"/>
          <p:cNvSpPr txBox="1"/>
          <p:nvPr/>
        </p:nvSpPr>
        <p:spPr>
          <a:xfrm>
            <a:off x="841248" y="5779008"/>
            <a:ext cx="3840480" cy="530352"/>
          </a:xfrm>
          <a:prstGeom prst="rect">
            <a:avLst/>
          </a:prstGeom>
          <a:noFill/>
          <a:ln/>
        </p:spPr>
        <p:txBody>
          <a:bodyPr wrap="square" lIns="0" tIns="0" rIns="0" bIns="0" rtlCol="0" anchor="t"/>
          <a:lstStyle/>
          <a:p>
            <a:pPr indent="0" marL="0">
              <a:buNone/>
            </a:pPr>
            <a:r>
              <a:rPr lang="en-US" sz="1150" dirty="0">
                <a:solidFill>
                  <a:srgbClr val="232A35"/>
                </a:solidFill>
                <a:latin typeface="Calibri" pitchFamily="34" charset="0"/>
                <a:ea typeface="Calibri" pitchFamily="34" charset="-122"/>
                <a:cs typeface="Calibri" pitchFamily="34" charset="-120"/>
              </a:rPr>
              <a:t>Priesthood authority blesses all of God's children.</a:t>
            </a:r>
            <a:endParaRPr lang="en-US" sz="1150" dirty="0"/>
          </a:p>
        </p:txBody>
      </p:sp>
      <p:sp>
        <p:nvSpPr>
          <p:cNvPr id="17" name="Shape 14"/>
          <p:cNvSpPr/>
          <p:nvPr/>
        </p:nvSpPr>
        <p:spPr>
          <a:xfrm>
            <a:off x="4937760" y="1691640"/>
            <a:ext cx="6720840" cy="1033272"/>
          </a:xfrm>
          <a:prstGeom prst="roundRect">
            <a:avLst>
              <a:gd name="adj" fmla="val 8850"/>
            </a:avLst>
          </a:prstGeom>
          <a:solidFill>
            <a:srgbClr val="EDF1F8"/>
          </a:solidFill>
          <a:ln/>
        </p:spPr>
      </p:sp>
      <p:sp>
        <p:nvSpPr>
          <p:cNvPr id="18" name="Shape 15"/>
          <p:cNvSpPr/>
          <p:nvPr/>
        </p:nvSpPr>
        <p:spPr>
          <a:xfrm>
            <a:off x="5138928" y="1938528"/>
            <a:ext cx="960120" cy="530352"/>
          </a:xfrm>
          <a:prstGeom prst="roundRect">
            <a:avLst>
              <a:gd name="adj" fmla="val 13793"/>
            </a:avLst>
          </a:prstGeom>
          <a:solidFill>
            <a:srgbClr val="1B2A52"/>
          </a:solidFill>
          <a:ln/>
        </p:spPr>
      </p:sp>
      <p:sp>
        <p:nvSpPr>
          <p:cNvPr id="19" name="Text 16"/>
          <p:cNvSpPr txBox="1"/>
          <p:nvPr/>
        </p:nvSpPr>
        <p:spPr>
          <a:xfrm>
            <a:off x="5138928" y="1938528"/>
            <a:ext cx="960120" cy="530352"/>
          </a:xfrm>
          <a:prstGeom prst="rect">
            <a:avLst/>
          </a:prstGeom>
          <a:noFill/>
          <a:ln/>
        </p:spPr>
        <p:txBody>
          <a:bodyPr wrap="square" lIns="0" tIns="0" rIns="0" bIns="0" rtlCol="0" anchor="ctr"/>
          <a:lstStyle/>
          <a:p>
            <a:pPr algn="ctr" indent="0" marL="0">
              <a:buNone/>
            </a:pPr>
            <a:r>
              <a:rPr lang="en-US" sz="1150" b="1" dirty="0">
                <a:solidFill>
                  <a:srgbClr val="C9A227"/>
                </a:solidFill>
                <a:latin typeface="Calibri" pitchFamily="34" charset="0"/>
                <a:ea typeface="Calibri" pitchFamily="34" charset="-122"/>
                <a:cs typeface="Calibri" pitchFamily="34" charset="-120"/>
              </a:rPr>
              <a:t>SEP 6</a:t>
            </a:r>
            <a:endParaRPr lang="en-US" sz="1150" dirty="0"/>
          </a:p>
        </p:txBody>
      </p:sp>
      <p:sp>
        <p:nvSpPr>
          <p:cNvPr id="20" name="Text 17"/>
          <p:cNvSpPr txBox="1"/>
          <p:nvPr/>
        </p:nvSpPr>
        <p:spPr>
          <a:xfrm>
            <a:off x="6309360" y="1819656"/>
            <a:ext cx="5212080" cy="329184"/>
          </a:xfrm>
          <a:prstGeom prst="rect">
            <a:avLst/>
          </a:prstGeom>
          <a:noFill/>
          <a:ln/>
        </p:spPr>
        <p:txBody>
          <a:bodyPr wrap="square" lIns="0" tIns="0" rIns="0" bIns="0" rtlCol="0" anchor="ctr"/>
          <a:lstStyle/>
          <a:p>
            <a:pPr indent="0" marL="0">
              <a:buNone/>
            </a:pPr>
            <a:r>
              <a:rPr lang="en-US" sz="1450" b="1" dirty="0">
                <a:solidFill>
                  <a:srgbClr val="1B2A52"/>
                </a:solidFill>
                <a:latin typeface="Calibri" pitchFamily="34" charset="0"/>
                <a:ea typeface="Calibri" pitchFamily="34" charset="-122"/>
                <a:cs typeface="Calibri" pitchFamily="34" charset="-120"/>
              </a:rPr>
              <a:t>Fast Sunday — study the chapter</a:t>
            </a:r>
            <a:endParaRPr lang="en-US" sz="1450" dirty="0"/>
          </a:p>
        </p:txBody>
      </p:sp>
      <p:sp>
        <p:nvSpPr>
          <p:cNvPr id="21" name="Text 18"/>
          <p:cNvSpPr txBox="1"/>
          <p:nvPr/>
        </p:nvSpPr>
        <p:spPr>
          <a:xfrm>
            <a:off x="6309360" y="2148840"/>
            <a:ext cx="5257800" cy="512064"/>
          </a:xfrm>
          <a:prstGeom prst="rect">
            <a:avLst/>
          </a:prstGeom>
          <a:noFill/>
          <a:ln/>
        </p:spPr>
        <p:txBody>
          <a:bodyPr wrap="square" lIns="0" tIns="0" rIns="0" bIns="0" rtlCol="0" anchor="t"/>
          <a:lstStyle/>
          <a:p>
            <a:pPr indent="0" marL="0">
              <a:buNone/>
            </a:pPr>
            <a:r>
              <a:rPr lang="en-US" sz="1050" dirty="0">
                <a:solidFill>
                  <a:srgbClr val="5C6575"/>
                </a:solidFill>
                <a:latin typeface="Calibri" pitchFamily="34" charset="0"/>
                <a:ea typeface="Calibri" pitchFamily="34" charset="-122"/>
                <a:cs typeface="Calibri" pitchFamily="34" charset="-120"/>
              </a:rPr>
              <a:t>FSY guide pages 46–49: discuss its truths and choose an invitation to live.</a:t>
            </a:r>
            <a:endParaRPr lang="en-US" sz="1050" dirty="0"/>
          </a:p>
        </p:txBody>
      </p:sp>
      <p:sp>
        <p:nvSpPr>
          <p:cNvPr id="22" name="Shape 19"/>
          <p:cNvSpPr/>
          <p:nvPr/>
        </p:nvSpPr>
        <p:spPr>
          <a:xfrm>
            <a:off x="4937760" y="2862072"/>
            <a:ext cx="6720840" cy="1033272"/>
          </a:xfrm>
          <a:prstGeom prst="roundRect">
            <a:avLst>
              <a:gd name="adj" fmla="val 8850"/>
            </a:avLst>
          </a:prstGeom>
          <a:solidFill>
            <a:srgbClr val="EDF1F8"/>
          </a:solidFill>
          <a:ln/>
        </p:spPr>
      </p:sp>
      <p:sp>
        <p:nvSpPr>
          <p:cNvPr id="23" name="Shape 20"/>
          <p:cNvSpPr/>
          <p:nvPr/>
        </p:nvSpPr>
        <p:spPr>
          <a:xfrm>
            <a:off x="5138928" y="3108960"/>
            <a:ext cx="960120" cy="530352"/>
          </a:xfrm>
          <a:prstGeom prst="roundRect">
            <a:avLst>
              <a:gd name="adj" fmla="val 13793"/>
            </a:avLst>
          </a:prstGeom>
          <a:solidFill>
            <a:srgbClr val="1B2A52"/>
          </a:solidFill>
          <a:ln/>
        </p:spPr>
      </p:sp>
      <p:sp>
        <p:nvSpPr>
          <p:cNvPr id="24" name="Text 21"/>
          <p:cNvSpPr txBox="1"/>
          <p:nvPr/>
        </p:nvSpPr>
        <p:spPr>
          <a:xfrm>
            <a:off x="5138928" y="3108960"/>
            <a:ext cx="960120" cy="530352"/>
          </a:xfrm>
          <a:prstGeom prst="rect">
            <a:avLst/>
          </a:prstGeom>
          <a:noFill/>
          <a:ln/>
        </p:spPr>
        <p:txBody>
          <a:bodyPr wrap="square" lIns="0" tIns="0" rIns="0" bIns="0" rtlCol="0" anchor="ctr"/>
          <a:lstStyle/>
          <a:p>
            <a:pPr algn="ctr" indent="0" marL="0">
              <a:buNone/>
            </a:pPr>
            <a:r>
              <a:rPr lang="en-US" sz="1150" b="1" dirty="0">
                <a:solidFill>
                  <a:srgbClr val="C9A227"/>
                </a:solidFill>
                <a:latin typeface="Calibri" pitchFamily="34" charset="0"/>
                <a:ea typeface="Calibri" pitchFamily="34" charset="-122"/>
                <a:cs typeface="Calibri" pitchFamily="34" charset="-120"/>
              </a:rPr>
              <a:t>SEP 13</a:t>
            </a:r>
            <a:endParaRPr lang="en-US" sz="1150" dirty="0"/>
          </a:p>
        </p:txBody>
      </p:sp>
      <p:sp>
        <p:nvSpPr>
          <p:cNvPr id="25" name="Text 22"/>
          <p:cNvSpPr txBox="1"/>
          <p:nvPr/>
        </p:nvSpPr>
        <p:spPr>
          <a:xfrm>
            <a:off x="6309360" y="2990088"/>
            <a:ext cx="5212080" cy="329184"/>
          </a:xfrm>
          <a:prstGeom prst="rect">
            <a:avLst/>
          </a:prstGeom>
          <a:noFill/>
          <a:ln/>
        </p:spPr>
        <p:txBody>
          <a:bodyPr wrap="square" lIns="0" tIns="0" rIns="0" bIns="0" rtlCol="0" anchor="ctr"/>
          <a:lstStyle/>
          <a:p>
            <a:pPr indent="0" marL="0">
              <a:buNone/>
            </a:pPr>
            <a:r>
              <a:rPr lang="en-US" sz="1450" b="1" dirty="0">
                <a:solidFill>
                  <a:srgbClr val="1B2A52"/>
                </a:solidFill>
                <a:latin typeface="Calibri" pitchFamily="34" charset="0"/>
                <a:ea typeface="Calibri" pitchFamily="34" charset="-122"/>
                <a:cs typeface="Calibri" pitchFamily="34" charset="-120"/>
              </a:rPr>
              <a:t>The restoration of the priesthood</a:t>
            </a:r>
            <a:endParaRPr lang="en-US" sz="1450" dirty="0"/>
          </a:p>
        </p:txBody>
      </p:sp>
      <p:sp>
        <p:nvSpPr>
          <p:cNvPr id="26" name="Text 23"/>
          <p:cNvSpPr txBox="1"/>
          <p:nvPr/>
        </p:nvSpPr>
        <p:spPr>
          <a:xfrm>
            <a:off x="6309360" y="3319272"/>
            <a:ext cx="5257800" cy="512064"/>
          </a:xfrm>
          <a:prstGeom prst="rect">
            <a:avLst/>
          </a:prstGeom>
          <a:noFill/>
          <a:ln/>
        </p:spPr>
        <p:txBody>
          <a:bodyPr wrap="square" lIns="0" tIns="0" rIns="0" bIns="0" rtlCol="0" anchor="t"/>
          <a:lstStyle/>
          <a:p>
            <a:pPr indent="0" marL="0">
              <a:buNone/>
            </a:pPr>
            <a:r>
              <a:rPr lang="en-US" sz="1050" dirty="0">
                <a:solidFill>
                  <a:srgbClr val="5C6575"/>
                </a:solidFill>
                <a:latin typeface="Calibri" pitchFamily="34" charset="0"/>
                <a:ea typeface="Calibri" pitchFamily="34" charset="-122"/>
                <a:cs typeface="Calibri" pitchFamily="34" charset="-120"/>
              </a:rPr>
              <a:t>How the Savior blesses us through both priesthoods — D&amp;C 13; 107:18–20; 84:20–21.</a:t>
            </a:r>
            <a:endParaRPr lang="en-US" sz="1050" dirty="0"/>
          </a:p>
        </p:txBody>
      </p:sp>
      <p:sp>
        <p:nvSpPr>
          <p:cNvPr id="27" name="Shape 24"/>
          <p:cNvSpPr/>
          <p:nvPr/>
        </p:nvSpPr>
        <p:spPr>
          <a:xfrm>
            <a:off x="4937760" y="4032504"/>
            <a:ext cx="6720840" cy="1033272"/>
          </a:xfrm>
          <a:prstGeom prst="roundRect">
            <a:avLst>
              <a:gd name="adj" fmla="val 8850"/>
            </a:avLst>
          </a:prstGeom>
          <a:solidFill>
            <a:srgbClr val="EDF1F8"/>
          </a:solidFill>
          <a:ln/>
        </p:spPr>
      </p:sp>
      <p:sp>
        <p:nvSpPr>
          <p:cNvPr id="28" name="Shape 25"/>
          <p:cNvSpPr/>
          <p:nvPr/>
        </p:nvSpPr>
        <p:spPr>
          <a:xfrm>
            <a:off x="5138928" y="4279392"/>
            <a:ext cx="960120" cy="530352"/>
          </a:xfrm>
          <a:prstGeom prst="roundRect">
            <a:avLst>
              <a:gd name="adj" fmla="val 13793"/>
            </a:avLst>
          </a:prstGeom>
          <a:solidFill>
            <a:srgbClr val="1B2A52"/>
          </a:solidFill>
          <a:ln/>
        </p:spPr>
      </p:sp>
      <p:sp>
        <p:nvSpPr>
          <p:cNvPr id="29" name="Text 26"/>
          <p:cNvSpPr txBox="1"/>
          <p:nvPr/>
        </p:nvSpPr>
        <p:spPr>
          <a:xfrm>
            <a:off x="5138928" y="4279392"/>
            <a:ext cx="960120" cy="530352"/>
          </a:xfrm>
          <a:prstGeom prst="rect">
            <a:avLst/>
          </a:prstGeom>
          <a:noFill/>
          <a:ln/>
        </p:spPr>
        <p:txBody>
          <a:bodyPr wrap="square" lIns="0" tIns="0" rIns="0" bIns="0" rtlCol="0" anchor="ctr"/>
          <a:lstStyle/>
          <a:p>
            <a:pPr algn="ctr" indent="0" marL="0">
              <a:buNone/>
            </a:pPr>
            <a:r>
              <a:rPr lang="en-US" sz="1150" b="1" dirty="0">
                <a:solidFill>
                  <a:srgbClr val="C9A227"/>
                </a:solidFill>
                <a:latin typeface="Calibri" pitchFamily="34" charset="0"/>
                <a:ea typeface="Calibri" pitchFamily="34" charset="-122"/>
                <a:cs typeface="Calibri" pitchFamily="34" charset="-120"/>
              </a:rPr>
              <a:t>SEP 20</a:t>
            </a:r>
            <a:endParaRPr lang="en-US" sz="1150" dirty="0"/>
          </a:p>
        </p:txBody>
      </p:sp>
      <p:sp>
        <p:nvSpPr>
          <p:cNvPr id="30" name="Text 27"/>
          <p:cNvSpPr txBox="1"/>
          <p:nvPr/>
        </p:nvSpPr>
        <p:spPr>
          <a:xfrm>
            <a:off x="6309360" y="4160520"/>
            <a:ext cx="5212080" cy="329184"/>
          </a:xfrm>
          <a:prstGeom prst="rect">
            <a:avLst/>
          </a:prstGeom>
          <a:noFill/>
          <a:ln/>
        </p:spPr>
        <p:txBody>
          <a:bodyPr wrap="square" lIns="0" tIns="0" rIns="0" bIns="0" rtlCol="0" anchor="ctr"/>
          <a:lstStyle/>
          <a:p>
            <a:pPr indent="0" marL="0">
              <a:buNone/>
            </a:pPr>
            <a:r>
              <a:rPr lang="en-US" sz="1450" b="1" dirty="0">
                <a:solidFill>
                  <a:srgbClr val="1B2A52"/>
                </a:solidFill>
                <a:latin typeface="Calibri" pitchFamily="34" charset="0"/>
                <a:ea typeface="Calibri" pitchFamily="34" charset="-122"/>
                <a:cs typeface="Calibri" pitchFamily="34" charset="-120"/>
              </a:rPr>
              <a:t>Priesthood keys</a:t>
            </a:r>
            <a:endParaRPr lang="en-US" sz="1450" dirty="0"/>
          </a:p>
        </p:txBody>
      </p:sp>
      <p:sp>
        <p:nvSpPr>
          <p:cNvPr id="31" name="Text 28"/>
          <p:cNvSpPr txBox="1"/>
          <p:nvPr/>
        </p:nvSpPr>
        <p:spPr>
          <a:xfrm>
            <a:off x="6309360" y="4489704"/>
            <a:ext cx="5257800" cy="512064"/>
          </a:xfrm>
          <a:prstGeom prst="rect">
            <a:avLst/>
          </a:prstGeom>
          <a:noFill/>
          <a:ln/>
        </p:spPr>
        <p:txBody>
          <a:bodyPr wrap="square" lIns="0" tIns="0" rIns="0" bIns="0" rtlCol="0" anchor="t"/>
          <a:lstStyle/>
          <a:p>
            <a:pPr indent="0" marL="0">
              <a:buNone/>
            </a:pPr>
            <a:r>
              <a:rPr lang="en-US" sz="1050" dirty="0">
                <a:solidFill>
                  <a:srgbClr val="5C6575"/>
                </a:solidFill>
                <a:latin typeface="Calibri" pitchFamily="34" charset="0"/>
                <a:ea typeface="Calibri" pitchFamily="34" charset="-122"/>
                <a:cs typeface="Calibri" pitchFamily="34" charset="-120"/>
              </a:rPr>
              <a:t>What keys are and what they unlock — D&amp;C 13; 27:12–13; 110:11–16.</a:t>
            </a:r>
            <a:endParaRPr lang="en-US" sz="1050" dirty="0"/>
          </a:p>
        </p:txBody>
      </p:sp>
      <p:sp>
        <p:nvSpPr>
          <p:cNvPr id="32" name="Shape 29"/>
          <p:cNvSpPr/>
          <p:nvPr/>
        </p:nvSpPr>
        <p:spPr>
          <a:xfrm>
            <a:off x="4937760" y="5202936"/>
            <a:ext cx="6720840" cy="1033272"/>
          </a:xfrm>
          <a:prstGeom prst="roundRect">
            <a:avLst>
              <a:gd name="adj" fmla="val 8850"/>
            </a:avLst>
          </a:prstGeom>
          <a:solidFill>
            <a:srgbClr val="EDF1F8"/>
          </a:solidFill>
          <a:ln/>
        </p:spPr>
      </p:sp>
      <p:sp>
        <p:nvSpPr>
          <p:cNvPr id="33" name="Shape 30"/>
          <p:cNvSpPr/>
          <p:nvPr/>
        </p:nvSpPr>
        <p:spPr>
          <a:xfrm>
            <a:off x="5138928" y="5449824"/>
            <a:ext cx="960120" cy="530352"/>
          </a:xfrm>
          <a:prstGeom prst="roundRect">
            <a:avLst>
              <a:gd name="adj" fmla="val 13793"/>
            </a:avLst>
          </a:prstGeom>
          <a:solidFill>
            <a:srgbClr val="1B2A52"/>
          </a:solidFill>
          <a:ln/>
        </p:spPr>
      </p:sp>
      <p:sp>
        <p:nvSpPr>
          <p:cNvPr id="34" name="Text 31"/>
          <p:cNvSpPr txBox="1"/>
          <p:nvPr/>
        </p:nvSpPr>
        <p:spPr>
          <a:xfrm>
            <a:off x="5138928" y="5449824"/>
            <a:ext cx="960120" cy="530352"/>
          </a:xfrm>
          <a:prstGeom prst="rect">
            <a:avLst/>
          </a:prstGeom>
          <a:noFill/>
          <a:ln/>
        </p:spPr>
        <p:txBody>
          <a:bodyPr wrap="square" lIns="0" tIns="0" rIns="0" bIns="0" rtlCol="0" anchor="ctr"/>
          <a:lstStyle/>
          <a:p>
            <a:pPr algn="ctr" indent="0" marL="0">
              <a:buNone/>
            </a:pPr>
            <a:r>
              <a:rPr lang="en-US" sz="1150" b="1" dirty="0">
                <a:solidFill>
                  <a:srgbClr val="C9A227"/>
                </a:solidFill>
                <a:latin typeface="Calibri" pitchFamily="34" charset="0"/>
                <a:ea typeface="Calibri" pitchFamily="34" charset="-122"/>
                <a:cs typeface="Calibri" pitchFamily="34" charset="-120"/>
              </a:rPr>
              <a:t>SEP 27</a:t>
            </a:r>
            <a:endParaRPr lang="en-US" sz="1150" dirty="0"/>
          </a:p>
        </p:txBody>
      </p:sp>
      <p:sp>
        <p:nvSpPr>
          <p:cNvPr id="35" name="Text 32"/>
          <p:cNvSpPr txBox="1"/>
          <p:nvPr/>
        </p:nvSpPr>
        <p:spPr>
          <a:xfrm>
            <a:off x="6309360" y="5330952"/>
            <a:ext cx="5212080" cy="329184"/>
          </a:xfrm>
          <a:prstGeom prst="rect">
            <a:avLst/>
          </a:prstGeom>
          <a:noFill/>
          <a:ln/>
        </p:spPr>
        <p:txBody>
          <a:bodyPr wrap="square" lIns="0" tIns="0" rIns="0" bIns="0" rtlCol="0" anchor="ctr"/>
          <a:lstStyle/>
          <a:p>
            <a:pPr indent="0" marL="0">
              <a:buNone/>
            </a:pPr>
            <a:r>
              <a:rPr lang="en-US" sz="1450" b="1" dirty="0">
                <a:solidFill>
                  <a:srgbClr val="1B2A52"/>
                </a:solidFill>
                <a:latin typeface="Calibri" pitchFamily="34" charset="0"/>
                <a:ea typeface="Calibri" pitchFamily="34" charset="-122"/>
                <a:cs typeface="Calibri" pitchFamily="34" charset="-120"/>
              </a:rPr>
              <a:t>Covenant daughters and sons of God</a:t>
            </a:r>
            <a:endParaRPr lang="en-US" sz="1450" dirty="0"/>
          </a:p>
        </p:txBody>
      </p:sp>
      <p:sp>
        <p:nvSpPr>
          <p:cNvPr id="36" name="Text 33"/>
          <p:cNvSpPr txBox="1"/>
          <p:nvPr/>
        </p:nvSpPr>
        <p:spPr>
          <a:xfrm>
            <a:off x="6309360" y="5660136"/>
            <a:ext cx="5257800" cy="512064"/>
          </a:xfrm>
          <a:prstGeom prst="rect">
            <a:avLst/>
          </a:prstGeom>
          <a:noFill/>
          <a:ln/>
        </p:spPr>
        <p:txBody>
          <a:bodyPr wrap="square" lIns="0" tIns="0" rIns="0" bIns="0" rtlCol="0" anchor="t"/>
          <a:lstStyle/>
          <a:p>
            <a:pPr indent="0" marL="0">
              <a:buNone/>
            </a:pPr>
            <a:r>
              <a:rPr lang="en-US" sz="1050" dirty="0">
                <a:solidFill>
                  <a:srgbClr val="5C6575"/>
                </a:solidFill>
                <a:latin typeface="Calibri" pitchFamily="34" charset="0"/>
                <a:ea typeface="Calibri" pitchFamily="34" charset="-122"/>
                <a:cs typeface="Calibri" pitchFamily="34" charset="-120"/>
              </a:rPr>
              <a:t>YW learn from Emma Smith (D&amp;C 25); quorums from Joseph Smith (JS—History 1:66–73).</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FROM THE SEPTEMBER FSY MAGAZINE</a:t>
            </a:r>
            <a:endParaRPr lang="en-US" sz="1200" dirty="0"/>
          </a:p>
        </p:txBody>
      </p:sp>
      <p:sp>
        <p:nvSpPr>
          <p:cNvPr id="3" name="Text 1"/>
          <p:cNvSpPr txBox="1"/>
          <p:nvPr/>
        </p:nvSpPr>
        <p:spPr>
          <a:xfrm>
            <a:off x="548640" y="566928"/>
            <a:ext cx="11064240" cy="457200"/>
          </a:xfrm>
          <a:prstGeom prst="rect">
            <a:avLst/>
          </a:prstGeom>
          <a:noFill/>
          <a:ln/>
        </p:spPr>
        <p:txBody>
          <a:bodyPr wrap="square" lIns="0" tIns="0" rIns="0" bIns="0" rtlCol="0" anchor="ctr"/>
          <a:lstStyle/>
          <a:p>
            <a:pPr algn="l" indent="0" marL="0">
              <a:buNone/>
            </a:pPr>
            <a:r>
              <a:rPr lang="en-US" sz="2400" b="1" dirty="0">
                <a:solidFill>
                  <a:srgbClr val="1B2A52"/>
                </a:solidFill>
                <a:latin typeface="Cambria" pitchFamily="34" charset="0"/>
                <a:ea typeface="Cambria" pitchFamily="34" charset="-122"/>
                <a:cs typeface="Cambria" pitchFamily="34" charset="-120"/>
              </a:rPr>
              <a:t>Fast Sunday &amp; Second Sunday</a:t>
            </a:r>
            <a:endParaRPr lang="en-US" sz="2400" dirty="0"/>
          </a:p>
        </p:txBody>
      </p:sp>
      <p:pic>
        <p:nvPicPr>
          <p:cNvPr id="4" name="Image 0" descr="/tmp/claude-0/-home-user-parmagirlscamp/a7f8ea76-9be0-5be3-98e9-56e74a6c155c/scratchpad/mag/pg-2.png">    </p:cNvPr>
          <p:cNvPicPr>
            <a:picLocks noChangeAspect="1"/>
          </p:cNvPicPr>
          <p:nvPr/>
        </p:nvPicPr>
        <p:blipFill>
          <a:blip r:embed="rId1"/>
          <a:stretch>
            <a:fillRect/>
          </a:stretch>
        </p:blipFill>
        <p:spPr>
          <a:xfrm>
            <a:off x="1751072" y="1188720"/>
            <a:ext cx="4114804" cy="5349240"/>
          </a:xfrm>
          <a:prstGeom prst="rect">
            <a:avLst/>
          </a:prstGeom>
          <a:effectLst>
            <a:outerShdw sx="100000" sy="100000" kx="0" ky="0" algn="bl" rotWithShape="0" blurRad="114300" dist="38100" dir="5400000">
              <a:srgbClr val="8B93A5">
                <a:alpha val="45000"/>
              </a:srgbClr>
            </a:outerShdw>
          </a:effectLst>
        </p:spPr>
      </p:pic>
      <p:pic>
        <p:nvPicPr>
          <p:cNvPr id="5" name="Image 1" descr="/tmp/claude-0/-home-user-parmagirlscamp/a7f8ea76-9be0-5be3-98e9-56e74a6c155c/scratchpad/mag/pg-3.png">    </p:cNvPr>
          <p:cNvPicPr>
            <a:picLocks noChangeAspect="1"/>
          </p:cNvPicPr>
          <p:nvPr/>
        </p:nvPicPr>
        <p:blipFill>
          <a:blip r:embed="rId2"/>
          <a:stretch>
            <a:fillRect/>
          </a:stretch>
        </p:blipFill>
        <p:spPr>
          <a:xfrm>
            <a:off x="6323076" y="1188720"/>
            <a:ext cx="4114804" cy="5349240"/>
          </a:xfrm>
          <a:prstGeom prst="rect">
            <a:avLst/>
          </a:prstGeom>
          <a:effectLst>
            <a:outerShdw sx="100000" sy="100000" kx="0" ky="0" algn="bl" rotWithShape="0" blurRad="114300" dist="38100" dir="5400000">
              <a:srgbClr val="8B93A5">
                <a:alpha val="45000"/>
              </a:srgbClr>
            </a:outerShdw>
          </a:effectLst>
        </p:spPr>
      </p:pic>
      <p:sp>
        <p:nvSpPr>
          <p:cNvPr id="6" name="Text 2"/>
          <p:cNvSpPr txBox="1"/>
          <p:nvPr/>
        </p:nvSpPr>
        <p:spPr>
          <a:xfrm>
            <a:off x="548640" y="6601968"/>
            <a:ext cx="11064240" cy="228600"/>
          </a:xfrm>
          <a:prstGeom prst="rect">
            <a:avLst/>
          </a:prstGeom>
          <a:noFill/>
          <a:ln/>
        </p:spPr>
        <p:txBody>
          <a:bodyPr wrap="square" lIns="0" tIns="0" rIns="0" bIns="0" rtlCol="0" anchor="ctr"/>
          <a:lstStyle/>
          <a:p>
            <a:pPr indent="0" marL="0">
              <a:buNone/>
            </a:pPr>
            <a:r>
              <a:rPr lang="en-US" sz="850" dirty="0">
                <a:solidFill>
                  <a:srgbClr val="9AA1AD"/>
                </a:solidFill>
                <a:latin typeface="Calibri" pitchFamily="34" charset="0"/>
                <a:ea typeface="Calibri" pitchFamily="34" charset="-122"/>
                <a:cs typeface="Calibri" pitchFamily="34" charset="-120"/>
              </a:rPr>
              <a:t>© Intellectual Reserve, Inc. For the Strength of Youth magazine, September 2026 — shown for Church instruction.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FROM THE SEPTEMBER FSY MAGAZINE</a:t>
            </a:r>
            <a:endParaRPr lang="en-US" sz="1200" dirty="0"/>
          </a:p>
        </p:txBody>
      </p:sp>
      <p:sp>
        <p:nvSpPr>
          <p:cNvPr id="3" name="Text 1"/>
          <p:cNvSpPr txBox="1"/>
          <p:nvPr/>
        </p:nvSpPr>
        <p:spPr>
          <a:xfrm>
            <a:off x="548640" y="566928"/>
            <a:ext cx="11064240" cy="457200"/>
          </a:xfrm>
          <a:prstGeom prst="rect">
            <a:avLst/>
          </a:prstGeom>
          <a:noFill/>
          <a:ln/>
        </p:spPr>
        <p:txBody>
          <a:bodyPr wrap="square" lIns="0" tIns="0" rIns="0" bIns="0" rtlCol="0" anchor="ctr"/>
          <a:lstStyle/>
          <a:p>
            <a:pPr algn="l" indent="0" marL="0">
              <a:buNone/>
            </a:pPr>
            <a:r>
              <a:rPr lang="en-US" sz="2400" b="1" dirty="0">
                <a:solidFill>
                  <a:srgbClr val="1B2A52"/>
                </a:solidFill>
                <a:latin typeface="Cambria" pitchFamily="34" charset="0"/>
                <a:ea typeface="Cambria" pitchFamily="34" charset="-122"/>
                <a:cs typeface="Cambria" pitchFamily="34" charset="-120"/>
              </a:rPr>
              <a:t>Third Sunday: Priesthood Keys</a:t>
            </a:r>
            <a:endParaRPr lang="en-US" sz="2400" dirty="0"/>
          </a:p>
        </p:txBody>
      </p:sp>
      <p:pic>
        <p:nvPicPr>
          <p:cNvPr id="4" name="Image 0" descr="/tmp/claude-0/-home-user-parmagirlscamp/a7f8ea76-9be0-5be3-98e9-56e74a6c155c/scratchpad/mag/pg-4.png">    </p:cNvPr>
          <p:cNvPicPr>
            <a:picLocks noChangeAspect="1"/>
          </p:cNvPicPr>
          <p:nvPr/>
        </p:nvPicPr>
        <p:blipFill>
          <a:blip r:embed="rId1"/>
          <a:stretch>
            <a:fillRect/>
          </a:stretch>
        </p:blipFill>
        <p:spPr>
          <a:xfrm>
            <a:off x="1751072" y="1188720"/>
            <a:ext cx="4114804" cy="5349240"/>
          </a:xfrm>
          <a:prstGeom prst="rect">
            <a:avLst/>
          </a:prstGeom>
          <a:effectLst>
            <a:outerShdw sx="100000" sy="100000" kx="0" ky="0" algn="bl" rotWithShape="0" blurRad="114300" dist="38100" dir="5400000">
              <a:srgbClr val="8B93A5">
                <a:alpha val="45000"/>
              </a:srgbClr>
            </a:outerShdw>
          </a:effectLst>
        </p:spPr>
      </p:pic>
      <p:pic>
        <p:nvPicPr>
          <p:cNvPr id="5" name="Image 1" descr="/tmp/claude-0/-home-user-parmagirlscamp/a7f8ea76-9be0-5be3-98e9-56e74a6c155c/scratchpad/mag/pg-5.png">    </p:cNvPr>
          <p:cNvPicPr>
            <a:picLocks noChangeAspect="1"/>
          </p:cNvPicPr>
          <p:nvPr/>
        </p:nvPicPr>
        <p:blipFill>
          <a:blip r:embed="rId2"/>
          <a:stretch>
            <a:fillRect/>
          </a:stretch>
        </p:blipFill>
        <p:spPr>
          <a:xfrm>
            <a:off x="6323076" y="1188720"/>
            <a:ext cx="4114804" cy="5349240"/>
          </a:xfrm>
          <a:prstGeom prst="rect">
            <a:avLst/>
          </a:prstGeom>
          <a:effectLst>
            <a:outerShdw sx="100000" sy="100000" kx="0" ky="0" algn="bl" rotWithShape="0" blurRad="114300" dist="38100" dir="5400000">
              <a:srgbClr val="8B93A5">
                <a:alpha val="45000"/>
              </a:srgbClr>
            </a:outerShdw>
          </a:effectLst>
        </p:spPr>
      </p:pic>
      <p:sp>
        <p:nvSpPr>
          <p:cNvPr id="6" name="Text 2"/>
          <p:cNvSpPr txBox="1"/>
          <p:nvPr/>
        </p:nvSpPr>
        <p:spPr>
          <a:xfrm>
            <a:off x="548640" y="6601968"/>
            <a:ext cx="11064240" cy="228600"/>
          </a:xfrm>
          <a:prstGeom prst="rect">
            <a:avLst/>
          </a:prstGeom>
          <a:noFill/>
          <a:ln/>
        </p:spPr>
        <p:txBody>
          <a:bodyPr wrap="square" lIns="0" tIns="0" rIns="0" bIns="0" rtlCol="0" anchor="ctr"/>
          <a:lstStyle/>
          <a:p>
            <a:pPr indent="0" marL="0">
              <a:buNone/>
            </a:pPr>
            <a:r>
              <a:rPr lang="en-US" sz="850" dirty="0">
                <a:solidFill>
                  <a:srgbClr val="9AA1AD"/>
                </a:solidFill>
                <a:latin typeface="Calibri" pitchFamily="34" charset="0"/>
                <a:ea typeface="Calibri" pitchFamily="34" charset="-122"/>
                <a:cs typeface="Calibri" pitchFamily="34" charset="-120"/>
              </a:rPr>
              <a:t>© Intellectual Reserve, Inc. For the Strength of Youth magazine, September 2026 — shown for Church instruction.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FROM THE SEPTEMBER FSY MAGAZINE</a:t>
            </a:r>
            <a:endParaRPr lang="en-US" sz="1200" dirty="0"/>
          </a:p>
        </p:txBody>
      </p:sp>
      <p:sp>
        <p:nvSpPr>
          <p:cNvPr id="3" name="Text 1"/>
          <p:cNvSpPr txBox="1"/>
          <p:nvPr/>
        </p:nvSpPr>
        <p:spPr>
          <a:xfrm>
            <a:off x="548640" y="566928"/>
            <a:ext cx="11064240" cy="457200"/>
          </a:xfrm>
          <a:prstGeom prst="rect">
            <a:avLst/>
          </a:prstGeom>
          <a:noFill/>
          <a:ln/>
        </p:spPr>
        <p:txBody>
          <a:bodyPr wrap="square" lIns="0" tIns="0" rIns="0" bIns="0" rtlCol="0" anchor="ctr"/>
          <a:lstStyle/>
          <a:p>
            <a:pPr algn="l" indent="0" marL="0">
              <a:buNone/>
            </a:pPr>
            <a:r>
              <a:rPr lang="en-US" sz="2400" b="1" dirty="0">
                <a:solidFill>
                  <a:srgbClr val="1B2A52"/>
                </a:solidFill>
                <a:latin typeface="Cambria" pitchFamily="34" charset="0"/>
                <a:ea typeface="Cambria" pitchFamily="34" charset="-122"/>
                <a:cs typeface="Cambria" pitchFamily="34" charset="-120"/>
              </a:rPr>
              <a:t>Last Sunday: Young Women &amp; Aaronic Priesthood</a:t>
            </a:r>
            <a:endParaRPr lang="en-US" sz="2400" dirty="0"/>
          </a:p>
        </p:txBody>
      </p:sp>
      <p:pic>
        <p:nvPicPr>
          <p:cNvPr id="4" name="Image 0" descr="/tmp/claude-0/-home-user-parmagirlscamp/a7f8ea76-9be0-5be3-98e9-56e74a6c155c/scratchpad/mag/pg-6.png">    </p:cNvPr>
          <p:cNvPicPr>
            <a:picLocks noChangeAspect="1"/>
          </p:cNvPicPr>
          <p:nvPr/>
        </p:nvPicPr>
        <p:blipFill>
          <a:blip r:embed="rId1"/>
          <a:stretch>
            <a:fillRect/>
          </a:stretch>
        </p:blipFill>
        <p:spPr>
          <a:xfrm>
            <a:off x="1751072" y="1188720"/>
            <a:ext cx="4114804" cy="5349240"/>
          </a:xfrm>
          <a:prstGeom prst="rect">
            <a:avLst/>
          </a:prstGeom>
          <a:effectLst>
            <a:outerShdw sx="100000" sy="100000" kx="0" ky="0" algn="bl" rotWithShape="0" blurRad="114300" dist="38100" dir="5400000">
              <a:srgbClr val="8B93A5">
                <a:alpha val="45000"/>
              </a:srgbClr>
            </a:outerShdw>
          </a:effectLst>
        </p:spPr>
      </p:pic>
      <p:pic>
        <p:nvPicPr>
          <p:cNvPr id="5" name="Image 1" descr="/tmp/claude-0/-home-user-parmagirlscamp/a7f8ea76-9be0-5be3-98e9-56e74a6c155c/scratchpad/mag/pg-7.png">    </p:cNvPr>
          <p:cNvPicPr>
            <a:picLocks noChangeAspect="1"/>
          </p:cNvPicPr>
          <p:nvPr/>
        </p:nvPicPr>
        <p:blipFill>
          <a:blip r:embed="rId2"/>
          <a:stretch>
            <a:fillRect/>
          </a:stretch>
        </p:blipFill>
        <p:spPr>
          <a:xfrm>
            <a:off x="6323076" y="1188720"/>
            <a:ext cx="4114804" cy="5349240"/>
          </a:xfrm>
          <a:prstGeom prst="rect">
            <a:avLst/>
          </a:prstGeom>
          <a:effectLst>
            <a:outerShdw sx="100000" sy="100000" kx="0" ky="0" algn="bl" rotWithShape="0" blurRad="114300" dist="38100" dir="5400000">
              <a:srgbClr val="8B93A5">
                <a:alpha val="45000"/>
              </a:srgbClr>
            </a:outerShdw>
          </a:effectLst>
        </p:spPr>
      </p:pic>
      <p:sp>
        <p:nvSpPr>
          <p:cNvPr id="6" name="Text 2"/>
          <p:cNvSpPr txBox="1"/>
          <p:nvPr/>
        </p:nvSpPr>
        <p:spPr>
          <a:xfrm>
            <a:off x="548640" y="6601968"/>
            <a:ext cx="11064240" cy="228600"/>
          </a:xfrm>
          <a:prstGeom prst="rect">
            <a:avLst/>
          </a:prstGeom>
          <a:noFill/>
          <a:ln/>
        </p:spPr>
        <p:txBody>
          <a:bodyPr wrap="square" lIns="0" tIns="0" rIns="0" bIns="0" rtlCol="0" anchor="ctr"/>
          <a:lstStyle/>
          <a:p>
            <a:pPr indent="0" marL="0">
              <a:buNone/>
            </a:pPr>
            <a:r>
              <a:rPr lang="en-US" sz="850" dirty="0">
                <a:solidFill>
                  <a:srgbClr val="9AA1AD"/>
                </a:solidFill>
                <a:latin typeface="Calibri" pitchFamily="34" charset="0"/>
                <a:ea typeface="Calibri" pitchFamily="34" charset="-122"/>
                <a:cs typeface="Calibri" pitchFamily="34" charset="-120"/>
              </a:rPr>
              <a:t>© Intellectual Reserve, Inc. For the Strength of Youth magazine, September 2026 — shown for Church instruction.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FROM THE SEPTEMBER FSY MAGAZINE</a:t>
            </a:r>
            <a:endParaRPr lang="en-US" sz="1200" dirty="0"/>
          </a:p>
        </p:txBody>
      </p:sp>
      <p:sp>
        <p:nvSpPr>
          <p:cNvPr id="3" name="Text 1"/>
          <p:cNvSpPr txBox="1"/>
          <p:nvPr/>
        </p:nvSpPr>
        <p:spPr>
          <a:xfrm>
            <a:off x="548640" y="566928"/>
            <a:ext cx="11064240" cy="457200"/>
          </a:xfrm>
          <a:prstGeom prst="rect">
            <a:avLst/>
          </a:prstGeom>
          <a:noFill/>
          <a:ln/>
        </p:spPr>
        <p:txBody>
          <a:bodyPr wrap="square" lIns="0" tIns="0" rIns="0" bIns="0" rtlCol="0" anchor="ctr"/>
          <a:lstStyle/>
          <a:p>
            <a:pPr algn="l" indent="0" marL="0">
              <a:buNone/>
            </a:pPr>
            <a:r>
              <a:rPr lang="en-US" sz="2400" b="1" dirty="0">
                <a:solidFill>
                  <a:srgbClr val="1B2A52"/>
                </a:solidFill>
                <a:latin typeface="Cambria" pitchFamily="34" charset="0"/>
                <a:ea typeface="Cambria" pitchFamily="34" charset="-122"/>
                <a:cs typeface="Cambria" pitchFamily="34" charset="-120"/>
              </a:rPr>
              <a:t>The Month Opener &amp; a Midweek Activity</a:t>
            </a:r>
            <a:endParaRPr lang="en-US" sz="2400" dirty="0"/>
          </a:p>
        </p:txBody>
      </p:sp>
      <p:pic>
        <p:nvPicPr>
          <p:cNvPr id="4" name="Image 0" descr="/tmp/claude-0/-home-user-parmagirlscamp/a7f8ea76-9be0-5be3-98e9-56e74a6c155c/scratchpad/mag/pg-1.png">    </p:cNvPr>
          <p:cNvPicPr>
            <a:picLocks noChangeAspect="1"/>
          </p:cNvPicPr>
          <p:nvPr/>
        </p:nvPicPr>
        <p:blipFill>
          <a:blip r:embed="rId1"/>
          <a:stretch>
            <a:fillRect/>
          </a:stretch>
        </p:blipFill>
        <p:spPr>
          <a:xfrm>
            <a:off x="1751072" y="1188720"/>
            <a:ext cx="4114804" cy="5349240"/>
          </a:xfrm>
          <a:prstGeom prst="rect">
            <a:avLst/>
          </a:prstGeom>
          <a:effectLst>
            <a:outerShdw sx="100000" sy="100000" kx="0" ky="0" algn="bl" rotWithShape="0" blurRad="114300" dist="38100" dir="5400000">
              <a:srgbClr val="8B93A5">
                <a:alpha val="45000"/>
              </a:srgbClr>
            </a:outerShdw>
          </a:effectLst>
        </p:spPr>
      </p:pic>
      <p:pic>
        <p:nvPicPr>
          <p:cNvPr id="5" name="Image 1" descr="/tmp/claude-0/-home-user-parmagirlscamp/a7f8ea76-9be0-5be3-98e9-56e74a6c155c/scratchpad/mag/pg-8.png">    </p:cNvPr>
          <p:cNvPicPr>
            <a:picLocks noChangeAspect="1"/>
          </p:cNvPicPr>
          <p:nvPr/>
        </p:nvPicPr>
        <p:blipFill>
          <a:blip r:embed="rId2"/>
          <a:stretch>
            <a:fillRect/>
          </a:stretch>
        </p:blipFill>
        <p:spPr>
          <a:xfrm>
            <a:off x="6323076" y="1188720"/>
            <a:ext cx="4114804" cy="5349240"/>
          </a:xfrm>
          <a:prstGeom prst="rect">
            <a:avLst/>
          </a:prstGeom>
          <a:effectLst>
            <a:outerShdw sx="100000" sy="100000" kx="0" ky="0" algn="bl" rotWithShape="0" blurRad="114300" dist="38100" dir="5400000">
              <a:srgbClr val="8B93A5">
                <a:alpha val="45000"/>
              </a:srgbClr>
            </a:outerShdw>
          </a:effectLst>
        </p:spPr>
      </p:pic>
      <p:sp>
        <p:nvSpPr>
          <p:cNvPr id="6" name="Text 2"/>
          <p:cNvSpPr txBox="1"/>
          <p:nvPr/>
        </p:nvSpPr>
        <p:spPr>
          <a:xfrm>
            <a:off x="548640" y="6601968"/>
            <a:ext cx="11064240" cy="228600"/>
          </a:xfrm>
          <a:prstGeom prst="rect">
            <a:avLst/>
          </a:prstGeom>
          <a:noFill/>
          <a:ln/>
        </p:spPr>
        <p:txBody>
          <a:bodyPr wrap="square" lIns="0" tIns="0" rIns="0" bIns="0" rtlCol="0" anchor="ctr"/>
          <a:lstStyle/>
          <a:p>
            <a:pPr indent="0" marL="0">
              <a:buNone/>
            </a:pPr>
            <a:r>
              <a:rPr lang="en-US" sz="850" dirty="0">
                <a:solidFill>
                  <a:srgbClr val="9AA1AD"/>
                </a:solidFill>
                <a:latin typeface="Calibri" pitchFamily="34" charset="0"/>
                <a:ea typeface="Calibri" pitchFamily="34" charset="-122"/>
                <a:cs typeface="Calibri" pitchFamily="34" charset="-120"/>
              </a:rPr>
              <a:t>© Intellectual Reserve, Inc. For the Strength of Youth magazine, September 2026 — shown for Church instruction.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RESOURCES</a:t>
            </a:r>
            <a:endParaRPr lang="en-US" sz="1200" dirty="0"/>
          </a:p>
        </p:txBody>
      </p:sp>
      <p:sp>
        <p:nvSpPr>
          <p:cNvPr id="3" name="Text 1"/>
          <p:cNvSpPr txBox="1"/>
          <p:nvPr/>
        </p:nvSpPr>
        <p:spPr>
          <a:xfrm>
            <a:off x="548640" y="749808"/>
            <a:ext cx="11064240" cy="731520"/>
          </a:xfrm>
          <a:prstGeom prst="rect">
            <a:avLst/>
          </a:prstGeom>
          <a:noFill/>
          <a:ln/>
        </p:spPr>
        <p:txBody>
          <a:bodyPr wrap="square" lIns="0" tIns="0" rIns="0" bIns="0" rtlCol="0" anchor="ctr"/>
          <a:lstStyle/>
          <a:p>
            <a:pPr algn="l" indent="0" marL="0">
              <a:buNone/>
            </a:pPr>
            <a:r>
              <a:rPr lang="en-US" sz="3400" b="1" dirty="0">
                <a:solidFill>
                  <a:srgbClr val="1B2A52"/>
                </a:solidFill>
                <a:latin typeface="Cambria" pitchFamily="34" charset="0"/>
                <a:ea typeface="Cambria" pitchFamily="34" charset="-122"/>
                <a:cs typeface="Cambria" pitchFamily="34" charset="-120"/>
              </a:rPr>
              <a:t>Where to Find Everything</a:t>
            </a:r>
            <a:endParaRPr lang="en-US" sz="3400" dirty="0"/>
          </a:p>
        </p:txBody>
      </p:sp>
      <p:sp>
        <p:nvSpPr>
          <p:cNvPr id="4" name="Shape 2"/>
          <p:cNvSpPr/>
          <p:nvPr/>
        </p:nvSpPr>
        <p:spPr>
          <a:xfrm>
            <a:off x="502920" y="1783080"/>
            <a:ext cx="2724912" cy="3017520"/>
          </a:xfrm>
          <a:prstGeom prst="roundRect">
            <a:avLst>
              <a:gd name="adj" fmla="val 4027"/>
            </a:avLst>
          </a:prstGeom>
          <a:solidFill>
            <a:srgbClr val="EDF1F8"/>
          </a:solidFill>
          <a:ln/>
        </p:spPr>
      </p:sp>
      <p:sp>
        <p:nvSpPr>
          <p:cNvPr id="5" name="Shape 3"/>
          <p:cNvSpPr/>
          <p:nvPr/>
        </p:nvSpPr>
        <p:spPr>
          <a:xfrm>
            <a:off x="777240" y="2057400"/>
            <a:ext cx="566928" cy="566928"/>
          </a:xfrm>
          <a:prstGeom prst="ellipse">
            <a:avLst/>
          </a:prstGeom>
          <a:solidFill>
            <a:srgbClr val="1B2A52"/>
          </a:solidFill>
          <a:ln/>
        </p:spPr>
      </p:sp>
      <p:pic>
        <p:nvPicPr>
          <p:cNvPr id="6" name="Image 0" descr="preencoded.png">    </p:cNvPr>
          <p:cNvPicPr>
            <a:picLocks noChangeAspect="1"/>
          </p:cNvPicPr>
          <p:nvPr/>
        </p:nvPicPr>
        <p:blipFill>
          <a:blip r:embed="rId1"/>
          <a:stretch>
            <a:fillRect/>
          </a:stretch>
        </p:blipFill>
        <p:spPr>
          <a:xfrm>
            <a:off x="930311" y="2210471"/>
            <a:ext cx="260787" cy="260787"/>
          </a:xfrm>
          <a:prstGeom prst="rect">
            <a:avLst/>
          </a:prstGeom>
        </p:spPr>
      </p:pic>
      <p:sp>
        <p:nvSpPr>
          <p:cNvPr id="7" name="Text 4"/>
          <p:cNvSpPr txBox="1"/>
          <p:nvPr/>
        </p:nvSpPr>
        <p:spPr>
          <a:xfrm>
            <a:off x="777240" y="2834640"/>
            <a:ext cx="2212848" cy="640080"/>
          </a:xfrm>
          <a:prstGeom prst="rect">
            <a:avLst/>
          </a:prstGeom>
          <a:noFill/>
          <a:ln/>
        </p:spPr>
        <p:txBody>
          <a:bodyPr wrap="square" lIns="0" tIns="0" rIns="0" bIns="0" rtlCol="0" anchor="ctr"/>
          <a:lstStyle/>
          <a:p>
            <a:pPr indent="0" marL="0">
              <a:buNone/>
            </a:pPr>
            <a:r>
              <a:rPr lang="en-US" sz="1500" b="1" dirty="0">
                <a:solidFill>
                  <a:srgbClr val="1B2A52"/>
                </a:solidFill>
                <a:latin typeface="Calibri" pitchFamily="34" charset="0"/>
                <a:ea typeface="Calibri" pitchFamily="34" charset="-122"/>
                <a:cs typeface="Calibri" pitchFamily="34" charset="-120"/>
              </a:rPr>
              <a:t>FSY Guide</a:t>
            </a:r>
            <a:endParaRPr lang="en-US" sz="1500" dirty="0"/>
          </a:p>
        </p:txBody>
      </p:sp>
      <p:sp>
        <p:nvSpPr>
          <p:cNvPr id="8" name="Text 5"/>
          <p:cNvSpPr txBox="1"/>
          <p:nvPr/>
        </p:nvSpPr>
        <p:spPr>
          <a:xfrm>
            <a:off x="777240" y="3383280"/>
            <a:ext cx="2212848" cy="1051560"/>
          </a:xfrm>
          <a:prstGeom prst="rect">
            <a:avLst/>
          </a:prstGeom>
          <a:noFill/>
          <a:ln/>
        </p:spPr>
        <p:txBody>
          <a:bodyPr wrap="square" lIns="0" tIns="0" rIns="0" bIns="0" rtlCol="0" anchor="t"/>
          <a:lstStyle/>
          <a:p>
            <a:pPr indent="0" marL="0">
              <a:buNone/>
            </a:pPr>
            <a:r>
              <a:rPr lang="en-US" sz="1100" dirty="0">
                <a:solidFill>
                  <a:srgbClr val="5C6575"/>
                </a:solidFill>
                <a:latin typeface="Calibri" pitchFamily="34" charset="0"/>
                <a:ea typeface="Calibri" pitchFamily="34" charset="-122"/>
                <a:cs typeface="Calibri" pitchFamily="34" charset="-120"/>
              </a:rPr>
              <a:t>For the Strength of Youth: A Guide for Making Choices — in the Gospel Library app and in print.</a:t>
            </a:r>
            <a:endParaRPr lang="en-US" sz="1100" dirty="0"/>
          </a:p>
        </p:txBody>
      </p:sp>
      <p:sp>
        <p:nvSpPr>
          <p:cNvPr id="9" name="Shape 6"/>
          <p:cNvSpPr/>
          <p:nvPr/>
        </p:nvSpPr>
        <p:spPr>
          <a:xfrm>
            <a:off x="3328416" y="1783080"/>
            <a:ext cx="2724912" cy="3017520"/>
          </a:xfrm>
          <a:prstGeom prst="roundRect">
            <a:avLst>
              <a:gd name="adj" fmla="val 4027"/>
            </a:avLst>
          </a:prstGeom>
          <a:solidFill>
            <a:srgbClr val="EDF1F8"/>
          </a:solidFill>
          <a:ln/>
        </p:spPr>
      </p:sp>
      <p:sp>
        <p:nvSpPr>
          <p:cNvPr id="10" name="Shape 7"/>
          <p:cNvSpPr/>
          <p:nvPr/>
        </p:nvSpPr>
        <p:spPr>
          <a:xfrm>
            <a:off x="3602736" y="2057400"/>
            <a:ext cx="566928" cy="566928"/>
          </a:xfrm>
          <a:prstGeom prst="ellipse">
            <a:avLst/>
          </a:prstGeom>
          <a:solidFill>
            <a:srgbClr val="1B2A52"/>
          </a:solidFill>
          <a:ln/>
        </p:spPr>
      </p:sp>
      <p:pic>
        <p:nvPicPr>
          <p:cNvPr id="11" name="Image 1" descr="preencoded.png">    </p:cNvPr>
          <p:cNvPicPr>
            <a:picLocks noChangeAspect="1"/>
          </p:cNvPicPr>
          <p:nvPr/>
        </p:nvPicPr>
        <p:blipFill>
          <a:blip r:embed="rId2"/>
          <a:stretch>
            <a:fillRect/>
          </a:stretch>
        </p:blipFill>
        <p:spPr>
          <a:xfrm>
            <a:off x="3755807" y="2210471"/>
            <a:ext cx="260787" cy="260787"/>
          </a:xfrm>
          <a:prstGeom prst="rect">
            <a:avLst/>
          </a:prstGeom>
        </p:spPr>
      </p:pic>
      <p:sp>
        <p:nvSpPr>
          <p:cNvPr id="12" name="Text 8"/>
          <p:cNvSpPr txBox="1"/>
          <p:nvPr/>
        </p:nvSpPr>
        <p:spPr>
          <a:xfrm>
            <a:off x="3602736" y="2834640"/>
            <a:ext cx="2212848" cy="640080"/>
          </a:xfrm>
          <a:prstGeom prst="rect">
            <a:avLst/>
          </a:prstGeom>
          <a:noFill/>
          <a:ln/>
        </p:spPr>
        <p:txBody>
          <a:bodyPr wrap="square" lIns="0" tIns="0" rIns="0" bIns="0" rtlCol="0" anchor="ctr"/>
          <a:lstStyle/>
          <a:p>
            <a:pPr indent="0" marL="0">
              <a:buNone/>
            </a:pPr>
            <a:r>
              <a:rPr lang="en-US" sz="1500" b="1" dirty="0">
                <a:solidFill>
                  <a:srgbClr val="1B2A52"/>
                </a:solidFill>
                <a:latin typeface="Calibri" pitchFamily="34" charset="0"/>
                <a:ea typeface="Calibri" pitchFamily="34" charset="-122"/>
                <a:cs typeface="Calibri" pitchFamily="34" charset="-120"/>
              </a:rPr>
              <a:t>FSY Magazine</a:t>
            </a:r>
            <a:endParaRPr lang="en-US" sz="1500" dirty="0"/>
          </a:p>
        </p:txBody>
      </p:sp>
      <p:sp>
        <p:nvSpPr>
          <p:cNvPr id="13" name="Text 9"/>
          <p:cNvSpPr txBox="1"/>
          <p:nvPr/>
        </p:nvSpPr>
        <p:spPr>
          <a:xfrm>
            <a:off x="3602736" y="3383280"/>
            <a:ext cx="2212848" cy="1051560"/>
          </a:xfrm>
          <a:prstGeom prst="rect">
            <a:avLst/>
          </a:prstGeom>
          <a:noFill/>
          <a:ln/>
        </p:spPr>
        <p:txBody>
          <a:bodyPr wrap="square" lIns="0" tIns="0" rIns="0" bIns="0" rtlCol="0" anchor="t"/>
          <a:lstStyle/>
          <a:p>
            <a:pPr indent="0" marL="0">
              <a:buNone/>
            </a:pPr>
            <a:r>
              <a:rPr lang="en-US" sz="1100" dirty="0">
                <a:solidFill>
                  <a:srgbClr val="5C6575"/>
                </a:solidFill>
                <a:latin typeface="Calibri" pitchFamily="34" charset="0"/>
                <a:ea typeface="Calibri" pitchFamily="34" charset="-122"/>
                <a:cs typeface="Calibri" pitchFamily="34" charset="-120"/>
              </a:rPr>
              <a:t>Monthly stories and articles on each theme. One free print subscription per household.</a:t>
            </a:r>
            <a:endParaRPr lang="en-US" sz="1100" dirty="0"/>
          </a:p>
        </p:txBody>
      </p:sp>
      <p:sp>
        <p:nvSpPr>
          <p:cNvPr id="14" name="Text 10"/>
          <p:cNvSpPr txBox="1"/>
          <p:nvPr/>
        </p:nvSpPr>
        <p:spPr>
          <a:xfrm>
            <a:off x="3529584" y="4425696"/>
            <a:ext cx="2432304" cy="274320"/>
          </a:xfrm>
          <a:prstGeom prst="rect">
            <a:avLst/>
          </a:prstGeom>
          <a:noFill/>
          <a:ln/>
        </p:spPr>
        <p:txBody>
          <a:bodyPr wrap="square" lIns="0" tIns="0" rIns="0" bIns="0" rtlCol="0" anchor="ctr"/>
          <a:lstStyle/>
          <a:p>
            <a:pPr indent="0" marL="0">
              <a:buNone/>
            </a:pPr>
            <a:r>
              <a:rPr lang="en-US" sz="870" b="1" dirty="0">
                <a:solidFill>
                  <a:srgbClr val="1B2A52"/>
                </a:solidFill>
                <a:latin typeface="Calibri" pitchFamily="34" charset="0"/>
                <a:ea typeface="Calibri" pitchFamily="34" charset="-122"/>
                <a:cs typeface="Calibri" pitchFamily="34" charset="-120"/>
              </a:rPr>
              <a:t>magazines.ChurchofJesusChrist.org</a:t>
            </a:r>
            <a:endParaRPr lang="en-US" sz="870" dirty="0"/>
          </a:p>
        </p:txBody>
      </p:sp>
      <p:sp>
        <p:nvSpPr>
          <p:cNvPr id="15" name="Shape 11"/>
          <p:cNvSpPr/>
          <p:nvPr/>
        </p:nvSpPr>
        <p:spPr>
          <a:xfrm>
            <a:off x="6153912" y="1783080"/>
            <a:ext cx="2724912" cy="3017520"/>
          </a:xfrm>
          <a:prstGeom prst="roundRect">
            <a:avLst>
              <a:gd name="adj" fmla="val 4027"/>
            </a:avLst>
          </a:prstGeom>
          <a:solidFill>
            <a:srgbClr val="EDF1F8"/>
          </a:solidFill>
          <a:ln/>
        </p:spPr>
      </p:sp>
      <p:sp>
        <p:nvSpPr>
          <p:cNvPr id="16" name="Shape 12"/>
          <p:cNvSpPr/>
          <p:nvPr/>
        </p:nvSpPr>
        <p:spPr>
          <a:xfrm>
            <a:off x="6428232" y="2057400"/>
            <a:ext cx="566928" cy="566928"/>
          </a:xfrm>
          <a:prstGeom prst="ellipse">
            <a:avLst/>
          </a:prstGeom>
          <a:solidFill>
            <a:srgbClr val="1B2A52"/>
          </a:solidFill>
          <a:ln/>
        </p:spPr>
      </p:sp>
      <p:pic>
        <p:nvPicPr>
          <p:cNvPr id="17" name="Image 2" descr="preencoded.png">    </p:cNvPr>
          <p:cNvPicPr>
            <a:picLocks noChangeAspect="1"/>
          </p:cNvPicPr>
          <p:nvPr/>
        </p:nvPicPr>
        <p:blipFill>
          <a:blip r:embed="rId3"/>
          <a:stretch>
            <a:fillRect/>
          </a:stretch>
        </p:blipFill>
        <p:spPr>
          <a:xfrm>
            <a:off x="6581303" y="2210471"/>
            <a:ext cx="260787" cy="260787"/>
          </a:xfrm>
          <a:prstGeom prst="rect">
            <a:avLst/>
          </a:prstGeom>
        </p:spPr>
      </p:pic>
      <p:sp>
        <p:nvSpPr>
          <p:cNvPr id="18" name="Text 13"/>
          <p:cNvSpPr txBox="1"/>
          <p:nvPr/>
        </p:nvSpPr>
        <p:spPr>
          <a:xfrm>
            <a:off x="6428232" y="2834640"/>
            <a:ext cx="2212848" cy="640080"/>
          </a:xfrm>
          <a:prstGeom prst="rect">
            <a:avLst/>
          </a:prstGeom>
          <a:noFill/>
          <a:ln/>
        </p:spPr>
        <p:txBody>
          <a:bodyPr wrap="square" lIns="0" tIns="0" rIns="0" bIns="0" rtlCol="0" anchor="ctr"/>
          <a:lstStyle/>
          <a:p>
            <a:pPr indent="0" marL="0">
              <a:buNone/>
            </a:pPr>
            <a:r>
              <a:rPr lang="en-US" sz="1500" b="1" dirty="0">
                <a:solidFill>
                  <a:srgbClr val="1B2A52"/>
                </a:solidFill>
                <a:latin typeface="Calibri" pitchFamily="34" charset="0"/>
                <a:ea typeface="Calibri" pitchFamily="34" charset="-122"/>
                <a:cs typeface="Calibri" pitchFamily="34" charset="-120"/>
              </a:rPr>
              <a:t>Gospel Library</a:t>
            </a:r>
            <a:endParaRPr lang="en-US" sz="1500" dirty="0"/>
          </a:p>
        </p:txBody>
      </p:sp>
      <p:sp>
        <p:nvSpPr>
          <p:cNvPr id="19" name="Text 14"/>
          <p:cNvSpPr txBox="1"/>
          <p:nvPr/>
        </p:nvSpPr>
        <p:spPr>
          <a:xfrm>
            <a:off x="6428232" y="3383280"/>
            <a:ext cx="2212848" cy="1051560"/>
          </a:xfrm>
          <a:prstGeom prst="rect">
            <a:avLst/>
          </a:prstGeom>
          <a:noFill/>
          <a:ln/>
        </p:spPr>
        <p:txBody>
          <a:bodyPr wrap="square" lIns="0" tIns="0" rIns="0" bIns="0" rtlCol="0" anchor="t"/>
          <a:lstStyle/>
          <a:p>
            <a:pPr indent="0" marL="0">
              <a:buNone/>
            </a:pPr>
            <a:r>
              <a:rPr lang="en-US" sz="1100" dirty="0">
                <a:solidFill>
                  <a:srgbClr val="5C6575"/>
                </a:solidFill>
                <a:latin typeface="Calibri" pitchFamily="34" charset="0"/>
                <a:ea typeface="Calibri" pitchFamily="34" charset="-122"/>
                <a:cs typeface="Calibri" pitchFamily="34" charset="-120"/>
              </a:rPr>
              <a:t>The FSY lessons for every Sunday, plus Come, Follow Me — all in the Gospel Library app.</a:t>
            </a:r>
            <a:endParaRPr lang="en-US" sz="1100" dirty="0"/>
          </a:p>
        </p:txBody>
      </p:sp>
      <p:sp>
        <p:nvSpPr>
          <p:cNvPr id="20" name="Shape 15"/>
          <p:cNvSpPr/>
          <p:nvPr/>
        </p:nvSpPr>
        <p:spPr>
          <a:xfrm>
            <a:off x="8979408" y="1783080"/>
            <a:ext cx="2724912" cy="3017520"/>
          </a:xfrm>
          <a:prstGeom prst="roundRect">
            <a:avLst>
              <a:gd name="adj" fmla="val 4027"/>
            </a:avLst>
          </a:prstGeom>
          <a:solidFill>
            <a:srgbClr val="EDF1F8"/>
          </a:solidFill>
          <a:ln/>
        </p:spPr>
      </p:sp>
      <p:sp>
        <p:nvSpPr>
          <p:cNvPr id="21" name="Shape 16"/>
          <p:cNvSpPr/>
          <p:nvPr/>
        </p:nvSpPr>
        <p:spPr>
          <a:xfrm>
            <a:off x="9253728" y="2057400"/>
            <a:ext cx="566928" cy="566928"/>
          </a:xfrm>
          <a:prstGeom prst="ellipse">
            <a:avLst/>
          </a:prstGeom>
          <a:solidFill>
            <a:srgbClr val="1B2A52"/>
          </a:solidFill>
          <a:ln/>
        </p:spPr>
      </p:sp>
      <p:pic>
        <p:nvPicPr>
          <p:cNvPr id="22" name="Image 3" descr="preencoded.png">    </p:cNvPr>
          <p:cNvPicPr>
            <a:picLocks noChangeAspect="1"/>
          </p:cNvPicPr>
          <p:nvPr/>
        </p:nvPicPr>
        <p:blipFill>
          <a:blip r:embed="rId4"/>
          <a:stretch>
            <a:fillRect/>
          </a:stretch>
        </p:blipFill>
        <p:spPr>
          <a:xfrm>
            <a:off x="9406799" y="2210471"/>
            <a:ext cx="260787" cy="260787"/>
          </a:xfrm>
          <a:prstGeom prst="rect">
            <a:avLst/>
          </a:prstGeom>
        </p:spPr>
      </p:pic>
      <p:sp>
        <p:nvSpPr>
          <p:cNvPr id="23" name="Text 17"/>
          <p:cNvSpPr txBox="1"/>
          <p:nvPr/>
        </p:nvSpPr>
        <p:spPr>
          <a:xfrm>
            <a:off x="9253728" y="2834640"/>
            <a:ext cx="2212848" cy="640080"/>
          </a:xfrm>
          <a:prstGeom prst="rect">
            <a:avLst/>
          </a:prstGeom>
          <a:noFill/>
          <a:ln/>
        </p:spPr>
        <p:txBody>
          <a:bodyPr wrap="square" lIns="0" tIns="0" rIns="0" bIns="0" rtlCol="0" anchor="ctr"/>
          <a:lstStyle/>
          <a:p>
            <a:pPr indent="0" marL="0">
              <a:buNone/>
            </a:pPr>
            <a:r>
              <a:rPr lang="en-US" sz="1500" b="1" dirty="0">
                <a:solidFill>
                  <a:srgbClr val="1B2A52"/>
                </a:solidFill>
                <a:latin typeface="Calibri" pitchFamily="34" charset="0"/>
                <a:ea typeface="Calibri" pitchFamily="34" charset="-122"/>
                <a:cs typeface="Calibri" pitchFamily="34" charset="-120"/>
              </a:rPr>
              <a:t>Sunday Website</a:t>
            </a:r>
            <a:endParaRPr lang="en-US" sz="1500" dirty="0"/>
          </a:p>
        </p:txBody>
      </p:sp>
      <p:sp>
        <p:nvSpPr>
          <p:cNvPr id="24" name="Text 18"/>
          <p:cNvSpPr txBox="1"/>
          <p:nvPr/>
        </p:nvSpPr>
        <p:spPr>
          <a:xfrm>
            <a:off x="9253728" y="3383280"/>
            <a:ext cx="2212848" cy="1051560"/>
          </a:xfrm>
          <a:prstGeom prst="rect">
            <a:avLst/>
          </a:prstGeom>
          <a:noFill/>
          <a:ln/>
        </p:spPr>
        <p:txBody>
          <a:bodyPr wrap="square" lIns="0" tIns="0" rIns="0" bIns="0" rtlCol="0" anchor="t"/>
          <a:lstStyle/>
          <a:p>
            <a:pPr indent="0" marL="0">
              <a:buNone/>
            </a:pPr>
            <a:r>
              <a:rPr lang="en-US" sz="1100" dirty="0">
                <a:solidFill>
                  <a:srgbClr val="5C6575"/>
                </a:solidFill>
                <a:latin typeface="Calibri" pitchFamily="34" charset="0"/>
                <a:ea typeface="Calibri" pitchFamily="34" charset="-122"/>
                <a:cs typeface="Calibri" pitchFamily="34" charset="-120"/>
              </a:rPr>
              <a:t>Instructional videos, the implementation guide, and answers to common questions.</a:t>
            </a:r>
            <a:endParaRPr lang="en-US" sz="1100" dirty="0"/>
          </a:p>
        </p:txBody>
      </p:sp>
      <p:sp>
        <p:nvSpPr>
          <p:cNvPr id="25" name="Text 19"/>
          <p:cNvSpPr txBox="1"/>
          <p:nvPr/>
        </p:nvSpPr>
        <p:spPr>
          <a:xfrm>
            <a:off x="9180576" y="4425696"/>
            <a:ext cx="2432304" cy="274320"/>
          </a:xfrm>
          <a:prstGeom prst="rect">
            <a:avLst/>
          </a:prstGeom>
          <a:noFill/>
          <a:ln/>
        </p:spPr>
        <p:txBody>
          <a:bodyPr wrap="square" lIns="0" tIns="0" rIns="0" bIns="0" rtlCol="0" anchor="ctr"/>
          <a:lstStyle/>
          <a:p>
            <a:pPr indent="0" marL="0">
              <a:buNone/>
            </a:pPr>
            <a:r>
              <a:rPr lang="en-US" sz="870" b="1" dirty="0">
                <a:solidFill>
                  <a:srgbClr val="1B2A52"/>
                </a:solidFill>
                <a:latin typeface="Calibri" pitchFamily="34" charset="0"/>
                <a:ea typeface="Calibri" pitchFamily="34" charset="-122"/>
                <a:cs typeface="Calibri" pitchFamily="34" charset="-120"/>
              </a:rPr>
              <a:t>sunday.ChurchofJesusChrist.org</a:t>
            </a:r>
            <a:endParaRPr lang="en-US" sz="870" dirty="0"/>
          </a:p>
        </p:txBody>
      </p:sp>
      <p:sp>
        <p:nvSpPr>
          <p:cNvPr id="26" name="Shape 20"/>
          <p:cNvSpPr/>
          <p:nvPr/>
        </p:nvSpPr>
        <p:spPr>
          <a:xfrm>
            <a:off x="502920" y="5120640"/>
            <a:ext cx="11201400" cy="1051560"/>
          </a:xfrm>
          <a:prstGeom prst="roundRect">
            <a:avLst>
              <a:gd name="adj" fmla="val 8696"/>
            </a:avLst>
          </a:prstGeom>
          <a:solidFill>
            <a:srgbClr val="1B2A52"/>
          </a:solidFill>
          <a:ln/>
        </p:spPr>
      </p:sp>
      <p:sp>
        <p:nvSpPr>
          <p:cNvPr id="27" name="Shape 21"/>
          <p:cNvSpPr/>
          <p:nvPr/>
        </p:nvSpPr>
        <p:spPr>
          <a:xfrm>
            <a:off x="777240" y="5349240"/>
            <a:ext cx="566928" cy="566928"/>
          </a:xfrm>
          <a:prstGeom prst="ellipse">
            <a:avLst/>
          </a:prstGeom>
          <a:solidFill>
            <a:srgbClr val="C9A227"/>
          </a:solidFill>
          <a:ln/>
        </p:spPr>
      </p:sp>
      <p:pic>
        <p:nvPicPr>
          <p:cNvPr id="28" name="Image 4" descr="preencoded.png">    </p:cNvPr>
          <p:cNvPicPr>
            <a:picLocks noChangeAspect="1"/>
          </p:cNvPicPr>
          <p:nvPr/>
        </p:nvPicPr>
        <p:blipFill>
          <a:blip r:embed="rId5"/>
          <a:stretch>
            <a:fillRect/>
          </a:stretch>
        </p:blipFill>
        <p:spPr>
          <a:xfrm>
            <a:off x="930311" y="5502311"/>
            <a:ext cx="260787" cy="260787"/>
          </a:xfrm>
          <a:prstGeom prst="rect">
            <a:avLst/>
          </a:prstGeom>
        </p:spPr>
      </p:pic>
      <p:sp>
        <p:nvSpPr>
          <p:cNvPr id="29" name="Text 22"/>
          <p:cNvSpPr txBox="1"/>
          <p:nvPr/>
        </p:nvSpPr>
        <p:spPr>
          <a:xfrm>
            <a:off x="1554480" y="5321808"/>
            <a:ext cx="9966960" cy="685800"/>
          </a:xfrm>
          <a:prstGeom prst="rect">
            <a:avLst/>
          </a:prstGeom>
          <a:noFill/>
          <a:ln/>
        </p:spPr>
        <p:txBody>
          <a:bodyPr wrap="square" lIns="0" tIns="0" rIns="0" bIns="0" rtlCol="0" anchor="ctr"/>
          <a:lstStyle/>
          <a:p>
            <a:pPr indent="0" marL="0">
              <a:buNone/>
            </a:pPr>
            <a:r>
              <a:rPr lang="en-US" sz="1350" b="1" dirty="0">
                <a:solidFill>
                  <a:srgbClr val="C9A227"/>
                </a:solidFill>
                <a:latin typeface="Calibri" pitchFamily="34" charset="0"/>
                <a:ea typeface="Calibri" pitchFamily="34" charset="-122"/>
                <a:cs typeface="Calibri" pitchFamily="34" charset="-120"/>
              </a:rPr>
              <a:t>For parents: </a:t>
            </a:r>
            <a:pPr indent="0" marL="0">
              <a:buNone/>
            </a:pPr>
            <a:r>
              <a:rPr lang="en-US" sz="1350" dirty="0">
                <a:solidFill>
                  <a:srgbClr val="FFFFFF"/>
                </a:solidFill>
                <a:latin typeface="Calibri" pitchFamily="34" charset="0"/>
                <a:ea typeface="Calibri" pitchFamily="34" charset="-122"/>
                <a:cs typeface="Calibri" pitchFamily="34" charset="-120"/>
              </a:rPr>
              <a:t>the same guide, magazine, and lessons at home make Sunday classes an easy, natural topic for family conversation all month long.</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52"/>
        </a:solidFill>
      </p:bgPr>
    </p:bg>
    <p:spTree>
      <p:nvGrpSpPr>
        <p:cNvPr id="1" name=""/>
        <p:cNvGrpSpPr/>
        <p:nvPr/>
      </p:nvGrpSpPr>
      <p:grpSpPr>
        <a:xfrm>
          <a:off x="0" y="0"/>
          <a:ext cx="0" cy="0"/>
          <a:chOff x="0" y="0"/>
          <a:chExt cx="0" cy="0"/>
        </a:xfrm>
      </p:grpSpPr>
      <p:sp>
        <p:nvSpPr>
          <p:cNvPr id="2" name="Shape 0"/>
          <p:cNvSpPr/>
          <p:nvPr/>
        </p:nvSpPr>
        <p:spPr>
          <a:xfrm>
            <a:off x="9052560" y="-1920240"/>
            <a:ext cx="4937760" cy="4937760"/>
          </a:xfrm>
          <a:prstGeom prst="ellipse">
            <a:avLst/>
          </a:prstGeom>
          <a:ln w="19050">
            <a:solidFill>
              <a:srgbClr val="31437A"/>
            </a:solidFill>
            <a:prstDash val="solid"/>
          </a:ln>
        </p:spPr>
      </p:sp>
      <p:sp>
        <p:nvSpPr>
          <p:cNvPr id="3" name="Shape 1"/>
          <p:cNvSpPr/>
          <p:nvPr/>
        </p:nvSpPr>
        <p:spPr>
          <a:xfrm>
            <a:off x="-1463040" y="4572000"/>
            <a:ext cx="4023360" cy="4023360"/>
          </a:xfrm>
          <a:prstGeom prst="ellipse">
            <a:avLst/>
          </a:prstGeom>
          <a:ln w="19050">
            <a:solidFill>
              <a:srgbClr val="31437A"/>
            </a:solidFill>
            <a:prstDash val="solid"/>
          </a:ln>
        </p:spPr>
      </p:sp>
      <p:sp>
        <p:nvSpPr>
          <p:cNvPr id="4" name="Text 2"/>
          <p:cNvSpPr txBox="1"/>
          <p:nvPr/>
        </p:nvSpPr>
        <p:spPr>
          <a:xfrm>
            <a:off x="548640" y="438912"/>
            <a:ext cx="11064240" cy="292608"/>
          </a:xfrm>
          <a:prstGeom prst="rect">
            <a:avLst/>
          </a:prstGeom>
          <a:noFill/>
          <a:ln/>
        </p:spPr>
        <p:txBody>
          <a:bodyPr wrap="square" lIns="0" tIns="0" rIns="0" bIns="0" rtlCol="0" anchor="ctr"/>
          <a:lstStyle/>
          <a:p>
            <a:pPr algn="l" indent="0" marL="0">
              <a:buNone/>
            </a:pPr>
            <a:r>
              <a:rPr lang="en-US" sz="1200" b="1" spc="300" kern="0" dirty="0">
                <a:solidFill>
                  <a:srgbClr val="C9A227"/>
                </a:solidFill>
                <a:latin typeface="Calibri" pitchFamily="34" charset="0"/>
                <a:ea typeface="Calibri" pitchFamily="34" charset="-122"/>
                <a:cs typeface="Calibri" pitchFamily="34" charset="-120"/>
              </a:rPr>
              <a:t>WATCH TOGETHER  ·  WE'LL STOP ALONG THE WAY</a:t>
            </a:r>
            <a:endParaRPr lang="en-US" sz="1200" dirty="0"/>
          </a:p>
        </p:txBody>
      </p:sp>
      <p:sp>
        <p:nvSpPr>
          <p:cNvPr id="5" name="Text 3"/>
          <p:cNvSpPr txBox="1"/>
          <p:nvPr/>
        </p:nvSpPr>
        <p:spPr>
          <a:xfrm>
            <a:off x="548640" y="749808"/>
            <a:ext cx="11064240" cy="73152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The Instructional Video</a:t>
            </a:r>
            <a:endParaRPr lang="en-US" sz="3400" dirty="0"/>
          </a:p>
        </p:txBody>
      </p:sp>
      <p:sp>
        <p:nvSpPr>
          <p:cNvPr id="6" name="Shape 4"/>
          <p:cNvSpPr/>
          <p:nvPr/>
        </p:nvSpPr>
        <p:spPr>
          <a:xfrm>
            <a:off x="1051560" y="2103120"/>
            <a:ext cx="1371600" cy="1371600"/>
          </a:xfrm>
          <a:prstGeom prst="ellipse">
            <a:avLst/>
          </a:prstGeom>
          <a:solidFill>
            <a:srgbClr val="C9A227"/>
          </a:solidFill>
          <a:ln/>
        </p:spPr>
      </p:sp>
      <p:pic>
        <p:nvPicPr>
          <p:cNvPr id="7" name="Image 0" descr="preencoded.png">    </p:cNvPr>
          <p:cNvPicPr>
            <a:picLocks noChangeAspect="1"/>
          </p:cNvPicPr>
          <p:nvPr/>
        </p:nvPicPr>
        <p:blipFill>
          <a:blip r:embed="rId1"/>
          <a:stretch>
            <a:fillRect/>
          </a:stretch>
        </p:blipFill>
        <p:spPr>
          <a:xfrm>
            <a:off x="1536192" y="2542032"/>
            <a:ext cx="493776" cy="493776"/>
          </a:xfrm>
          <a:prstGeom prst="rect">
            <a:avLst/>
          </a:prstGeom>
        </p:spPr>
      </p:pic>
      <p:sp>
        <p:nvSpPr>
          <p:cNvPr id="8" name="Text 5"/>
          <p:cNvSpPr txBox="1"/>
          <p:nvPr/>
        </p:nvSpPr>
        <p:spPr>
          <a:xfrm>
            <a:off x="566928" y="3794760"/>
            <a:ext cx="3200400" cy="10058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 message from President Timothy L. Farnes and President Emily Belle Freeman.</a:t>
            </a:r>
            <a:endParaRPr lang="en-US" sz="1250" dirty="0"/>
          </a:p>
        </p:txBody>
      </p:sp>
      <p:sp>
        <p:nvSpPr>
          <p:cNvPr id="9" name="Text 6"/>
          <p:cNvSpPr txBox="1"/>
          <p:nvPr/>
        </p:nvSpPr>
        <p:spPr>
          <a:xfrm>
            <a:off x="566928" y="4892040"/>
            <a:ext cx="3200400" cy="1097280"/>
          </a:xfrm>
          <a:prstGeom prst="rect">
            <a:avLst/>
          </a:prstGeom>
          <a:noFill/>
          <a:ln/>
        </p:spPr>
        <p:txBody>
          <a:bodyPr wrap="square" lIns="0" tIns="0" rIns="0" bIns="0" rtlCol="0" anchor="ctr"/>
          <a:lstStyle/>
          <a:p>
            <a:pPr indent="0" marL="0">
              <a:buNone/>
            </a:pPr>
            <a:r>
              <a:rPr lang="en-US" sz="1050" dirty="0">
                <a:solidFill>
                  <a:srgbClr val="8FA0C8"/>
                </a:solidFill>
                <a:latin typeface="Calibri" pitchFamily="34" charset="0"/>
                <a:ea typeface="Calibri" pitchFamily="34" charset="-122"/>
                <a:cs typeface="Calibri" pitchFamily="34" charset="-120"/>
              </a:rPr>
              <a:t>Gospel Library → Changes to the Sunday Class Meeting Schedule → Youth Fifth-Sunday Instruction Materials</a:t>
            </a:r>
            <a:endParaRPr lang="en-US" sz="1050" dirty="0"/>
          </a:p>
        </p:txBody>
      </p:sp>
      <p:sp>
        <p:nvSpPr>
          <p:cNvPr id="10" name="Shape 7"/>
          <p:cNvSpPr/>
          <p:nvPr/>
        </p:nvSpPr>
        <p:spPr>
          <a:xfrm>
            <a:off x="4160520" y="1691640"/>
            <a:ext cx="7498080" cy="795528"/>
          </a:xfrm>
          <a:prstGeom prst="roundRect">
            <a:avLst>
              <a:gd name="adj" fmla="val 11494"/>
            </a:avLst>
          </a:prstGeom>
          <a:solidFill>
            <a:srgbClr val="24356B"/>
          </a:solidFill>
          <a:ln/>
        </p:spPr>
      </p:sp>
      <p:sp>
        <p:nvSpPr>
          <p:cNvPr id="11" name="Shape 8"/>
          <p:cNvSpPr/>
          <p:nvPr/>
        </p:nvSpPr>
        <p:spPr>
          <a:xfrm>
            <a:off x="4343400" y="1856232"/>
            <a:ext cx="868680" cy="457200"/>
          </a:xfrm>
          <a:prstGeom prst="roundRect">
            <a:avLst>
              <a:gd name="adj" fmla="val 16000"/>
            </a:avLst>
          </a:prstGeom>
          <a:solidFill>
            <a:srgbClr val="C9A227"/>
          </a:solidFill>
          <a:ln/>
        </p:spPr>
      </p:sp>
      <p:sp>
        <p:nvSpPr>
          <p:cNvPr id="12" name="Text 9"/>
          <p:cNvSpPr txBox="1"/>
          <p:nvPr/>
        </p:nvSpPr>
        <p:spPr>
          <a:xfrm>
            <a:off x="4343400" y="1856232"/>
            <a:ext cx="868680" cy="457200"/>
          </a:xfrm>
          <a:prstGeom prst="rect">
            <a:avLst/>
          </a:prstGeom>
          <a:noFill/>
          <a:ln/>
        </p:spPr>
        <p:txBody>
          <a:bodyPr wrap="square" lIns="0" tIns="0" rIns="0" bIns="0" rtlCol="0" anchor="ctr"/>
          <a:lstStyle/>
          <a:p>
            <a:pPr algn="ctr" indent="0" marL="0">
              <a:buNone/>
            </a:pPr>
            <a:r>
              <a:rPr lang="en-US" sz="1250" b="1" dirty="0">
                <a:solidFill>
                  <a:srgbClr val="1B2A52"/>
                </a:solidFill>
                <a:latin typeface="Calibri" pitchFamily="34" charset="0"/>
                <a:ea typeface="Calibri" pitchFamily="34" charset="-122"/>
                <a:cs typeface="Calibri" pitchFamily="34" charset="-120"/>
              </a:rPr>
              <a:t>7:20</a:t>
            </a:r>
            <a:endParaRPr lang="en-US" sz="1250" dirty="0"/>
          </a:p>
        </p:txBody>
      </p:sp>
      <p:sp>
        <p:nvSpPr>
          <p:cNvPr id="13" name="Text 10"/>
          <p:cNvSpPr txBox="1"/>
          <p:nvPr/>
        </p:nvSpPr>
        <p:spPr>
          <a:xfrm>
            <a:off x="5394960" y="1783080"/>
            <a:ext cx="6126480" cy="6217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Pause and discuss — </a:t>
            </a:r>
            <a:pPr indent="0" marL="0">
              <a:buNone/>
            </a:pPr>
            <a:r>
              <a:rPr lang="en-US" sz="1200" dirty="0">
                <a:solidFill>
                  <a:srgbClr val="C9D6EF"/>
                </a:solidFill>
                <a:latin typeface="Calibri" pitchFamily="34" charset="0"/>
                <a:ea typeface="Calibri" pitchFamily="34" charset="-122"/>
                <a:cs typeface="Calibri" pitchFamily="34" charset="-120"/>
              </a:rPr>
              <a:t>Then ask: “Why do you think the FSY guide is structured this way?”</a:t>
            </a:r>
            <a:endParaRPr lang="en-US" sz="1200" dirty="0"/>
          </a:p>
        </p:txBody>
      </p:sp>
      <p:sp>
        <p:nvSpPr>
          <p:cNvPr id="14" name="Shape 11"/>
          <p:cNvSpPr/>
          <p:nvPr/>
        </p:nvSpPr>
        <p:spPr>
          <a:xfrm>
            <a:off x="4160520" y="2624328"/>
            <a:ext cx="7498080" cy="795528"/>
          </a:xfrm>
          <a:prstGeom prst="roundRect">
            <a:avLst>
              <a:gd name="adj" fmla="val 11494"/>
            </a:avLst>
          </a:prstGeom>
          <a:solidFill>
            <a:srgbClr val="24356B"/>
          </a:solidFill>
          <a:ln/>
        </p:spPr>
      </p:sp>
      <p:sp>
        <p:nvSpPr>
          <p:cNvPr id="15" name="Shape 12"/>
          <p:cNvSpPr/>
          <p:nvPr/>
        </p:nvSpPr>
        <p:spPr>
          <a:xfrm>
            <a:off x="4343400" y="2788920"/>
            <a:ext cx="868680" cy="457200"/>
          </a:xfrm>
          <a:prstGeom prst="roundRect">
            <a:avLst>
              <a:gd name="adj" fmla="val 16000"/>
            </a:avLst>
          </a:prstGeom>
          <a:solidFill>
            <a:srgbClr val="C9A227"/>
          </a:solidFill>
          <a:ln/>
        </p:spPr>
      </p:sp>
      <p:sp>
        <p:nvSpPr>
          <p:cNvPr id="16" name="Text 13"/>
          <p:cNvSpPr txBox="1"/>
          <p:nvPr/>
        </p:nvSpPr>
        <p:spPr>
          <a:xfrm>
            <a:off x="4343400" y="2788920"/>
            <a:ext cx="868680" cy="457200"/>
          </a:xfrm>
          <a:prstGeom prst="rect">
            <a:avLst/>
          </a:prstGeom>
          <a:noFill/>
          <a:ln/>
        </p:spPr>
        <p:txBody>
          <a:bodyPr wrap="square" lIns="0" tIns="0" rIns="0" bIns="0" rtlCol="0" anchor="ctr"/>
          <a:lstStyle/>
          <a:p>
            <a:pPr algn="ctr" indent="0" marL="0">
              <a:buNone/>
            </a:pPr>
            <a:r>
              <a:rPr lang="en-US" sz="1250" b="1" dirty="0">
                <a:solidFill>
                  <a:srgbClr val="1B2A52"/>
                </a:solidFill>
                <a:latin typeface="Calibri" pitchFamily="34" charset="0"/>
                <a:ea typeface="Calibri" pitchFamily="34" charset="-122"/>
                <a:cs typeface="Calibri" pitchFamily="34" charset="-120"/>
              </a:rPr>
              <a:t>10:00</a:t>
            </a:r>
            <a:endParaRPr lang="en-US" sz="1250" dirty="0"/>
          </a:p>
        </p:txBody>
      </p:sp>
      <p:sp>
        <p:nvSpPr>
          <p:cNvPr id="17" name="Text 14"/>
          <p:cNvSpPr txBox="1"/>
          <p:nvPr/>
        </p:nvSpPr>
        <p:spPr>
          <a:xfrm>
            <a:off x="5394960" y="2715768"/>
            <a:ext cx="6126480" cy="6217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structure of the Sundays — </a:t>
            </a:r>
            <a:pPr indent="0" marL="0">
              <a:buNone/>
            </a:pPr>
            <a:r>
              <a:rPr lang="en-US" sz="1200" dirty="0">
                <a:solidFill>
                  <a:srgbClr val="C9D6EF"/>
                </a:solidFill>
                <a:latin typeface="Calibri" pitchFamily="34" charset="0"/>
                <a:ea typeface="Calibri" pitchFamily="34" charset="-122"/>
                <a:cs typeface="Calibri" pitchFamily="34" charset="-120"/>
              </a:rPr>
              <a:t>How the four weeks of each month fit together.</a:t>
            </a:r>
            <a:endParaRPr lang="en-US" sz="1200" dirty="0"/>
          </a:p>
        </p:txBody>
      </p:sp>
      <p:sp>
        <p:nvSpPr>
          <p:cNvPr id="18" name="Shape 15"/>
          <p:cNvSpPr/>
          <p:nvPr/>
        </p:nvSpPr>
        <p:spPr>
          <a:xfrm>
            <a:off x="4160520" y="3557016"/>
            <a:ext cx="7498080" cy="795528"/>
          </a:xfrm>
          <a:prstGeom prst="roundRect">
            <a:avLst>
              <a:gd name="adj" fmla="val 11494"/>
            </a:avLst>
          </a:prstGeom>
          <a:solidFill>
            <a:srgbClr val="24356B"/>
          </a:solidFill>
          <a:ln/>
        </p:spPr>
      </p:sp>
      <p:sp>
        <p:nvSpPr>
          <p:cNvPr id="19" name="Shape 16"/>
          <p:cNvSpPr/>
          <p:nvPr/>
        </p:nvSpPr>
        <p:spPr>
          <a:xfrm>
            <a:off x="4343400" y="3721608"/>
            <a:ext cx="868680" cy="457200"/>
          </a:xfrm>
          <a:prstGeom prst="roundRect">
            <a:avLst>
              <a:gd name="adj" fmla="val 16000"/>
            </a:avLst>
          </a:prstGeom>
          <a:solidFill>
            <a:srgbClr val="C9A227"/>
          </a:solidFill>
          <a:ln/>
        </p:spPr>
      </p:sp>
      <p:sp>
        <p:nvSpPr>
          <p:cNvPr id="20" name="Text 17"/>
          <p:cNvSpPr txBox="1"/>
          <p:nvPr/>
        </p:nvSpPr>
        <p:spPr>
          <a:xfrm>
            <a:off x="4343400" y="3721608"/>
            <a:ext cx="868680" cy="457200"/>
          </a:xfrm>
          <a:prstGeom prst="rect">
            <a:avLst/>
          </a:prstGeom>
          <a:noFill/>
          <a:ln/>
        </p:spPr>
        <p:txBody>
          <a:bodyPr wrap="square" lIns="0" tIns="0" rIns="0" bIns="0" rtlCol="0" anchor="ctr"/>
          <a:lstStyle/>
          <a:p>
            <a:pPr algn="ctr" indent="0" marL="0">
              <a:buNone/>
            </a:pPr>
            <a:r>
              <a:rPr lang="en-US" sz="1250" b="1" dirty="0">
                <a:solidFill>
                  <a:srgbClr val="1B2A52"/>
                </a:solidFill>
                <a:latin typeface="Calibri" pitchFamily="34" charset="0"/>
                <a:ea typeface="Calibri" pitchFamily="34" charset="-122"/>
                <a:cs typeface="Calibri" pitchFamily="34" charset="-120"/>
              </a:rPr>
              <a:t>12:00</a:t>
            </a:r>
            <a:endParaRPr lang="en-US" sz="1250" dirty="0"/>
          </a:p>
        </p:txBody>
      </p:sp>
      <p:sp>
        <p:nvSpPr>
          <p:cNvPr id="21" name="Text 18"/>
          <p:cNvSpPr txBox="1"/>
          <p:nvPr/>
        </p:nvSpPr>
        <p:spPr>
          <a:xfrm>
            <a:off x="5394960" y="3648456"/>
            <a:ext cx="6126480" cy="6217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last-Sunday lessons — </a:t>
            </a:r>
            <a:pPr indent="0" marL="0">
              <a:buNone/>
            </a:pPr>
            <a:r>
              <a:rPr lang="en-US" sz="1200" dirty="0">
                <a:solidFill>
                  <a:srgbClr val="C9D6EF"/>
                </a:solidFill>
                <a:latin typeface="Calibri" pitchFamily="34" charset="0"/>
                <a:ea typeface="Calibri" pitchFamily="34" charset="-122"/>
                <a:cs typeface="Calibri" pitchFamily="34" charset="-120"/>
              </a:rPr>
              <a:t>Young Women and Aaronic Priesthood quorums each have their own.</a:t>
            </a:r>
            <a:endParaRPr lang="en-US" sz="1200" dirty="0"/>
          </a:p>
        </p:txBody>
      </p:sp>
      <p:sp>
        <p:nvSpPr>
          <p:cNvPr id="22" name="Shape 19"/>
          <p:cNvSpPr/>
          <p:nvPr/>
        </p:nvSpPr>
        <p:spPr>
          <a:xfrm>
            <a:off x="4160520" y="4489704"/>
            <a:ext cx="7498080" cy="795528"/>
          </a:xfrm>
          <a:prstGeom prst="roundRect">
            <a:avLst>
              <a:gd name="adj" fmla="val 11494"/>
            </a:avLst>
          </a:prstGeom>
          <a:solidFill>
            <a:srgbClr val="24356B"/>
          </a:solidFill>
          <a:ln/>
        </p:spPr>
      </p:sp>
      <p:sp>
        <p:nvSpPr>
          <p:cNvPr id="23" name="Shape 20"/>
          <p:cNvSpPr/>
          <p:nvPr/>
        </p:nvSpPr>
        <p:spPr>
          <a:xfrm>
            <a:off x="4343400" y="4654296"/>
            <a:ext cx="868680" cy="457200"/>
          </a:xfrm>
          <a:prstGeom prst="roundRect">
            <a:avLst>
              <a:gd name="adj" fmla="val 16000"/>
            </a:avLst>
          </a:prstGeom>
          <a:solidFill>
            <a:srgbClr val="C9A227"/>
          </a:solidFill>
          <a:ln/>
        </p:spPr>
      </p:sp>
      <p:sp>
        <p:nvSpPr>
          <p:cNvPr id="24" name="Text 21"/>
          <p:cNvSpPr txBox="1"/>
          <p:nvPr/>
        </p:nvSpPr>
        <p:spPr>
          <a:xfrm>
            <a:off x="4343400" y="4654296"/>
            <a:ext cx="868680" cy="457200"/>
          </a:xfrm>
          <a:prstGeom prst="rect">
            <a:avLst/>
          </a:prstGeom>
          <a:noFill/>
          <a:ln/>
        </p:spPr>
        <p:txBody>
          <a:bodyPr wrap="square" lIns="0" tIns="0" rIns="0" bIns="0" rtlCol="0" anchor="ctr"/>
          <a:lstStyle/>
          <a:p>
            <a:pPr algn="ctr" indent="0" marL="0">
              <a:buNone/>
            </a:pPr>
            <a:r>
              <a:rPr lang="en-US" sz="1250" b="1" dirty="0">
                <a:solidFill>
                  <a:srgbClr val="1B2A52"/>
                </a:solidFill>
                <a:latin typeface="Calibri" pitchFamily="34" charset="0"/>
                <a:ea typeface="Calibri" pitchFamily="34" charset="-122"/>
                <a:cs typeface="Calibri" pitchFamily="34" charset="-120"/>
              </a:rPr>
              <a:t>18:30</a:t>
            </a:r>
            <a:endParaRPr lang="en-US" sz="1250" dirty="0"/>
          </a:p>
        </p:txBody>
      </p:sp>
      <p:sp>
        <p:nvSpPr>
          <p:cNvPr id="25" name="Text 22"/>
          <p:cNvSpPr txBox="1"/>
          <p:nvPr/>
        </p:nvSpPr>
        <p:spPr>
          <a:xfrm>
            <a:off x="5394960" y="4581144"/>
            <a:ext cx="6126480" cy="6217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Pause and discuss — </a:t>
            </a:r>
            <a:pPr indent="0" marL="0">
              <a:buNone/>
            </a:pPr>
            <a:r>
              <a:rPr lang="en-US" sz="1200" dirty="0">
                <a:solidFill>
                  <a:srgbClr val="C9D6EF"/>
                </a:solidFill>
                <a:latin typeface="Calibri" pitchFamily="34" charset="0"/>
                <a:ea typeface="Calibri" pitchFamily="34" charset="-122"/>
                <a:cs typeface="Calibri" pitchFamily="34" charset="-120"/>
              </a:rPr>
              <a:t>Talk about what we've seen so far.</a:t>
            </a:r>
            <a:endParaRPr lang="en-US" sz="1200" dirty="0"/>
          </a:p>
        </p:txBody>
      </p:sp>
      <p:sp>
        <p:nvSpPr>
          <p:cNvPr id="26" name="Shape 23"/>
          <p:cNvSpPr/>
          <p:nvPr/>
        </p:nvSpPr>
        <p:spPr>
          <a:xfrm>
            <a:off x="4160520" y="5422392"/>
            <a:ext cx="7498080" cy="795528"/>
          </a:xfrm>
          <a:prstGeom prst="roundRect">
            <a:avLst>
              <a:gd name="adj" fmla="val 11494"/>
            </a:avLst>
          </a:prstGeom>
          <a:solidFill>
            <a:srgbClr val="24356B"/>
          </a:solidFill>
          <a:ln/>
        </p:spPr>
      </p:sp>
      <p:sp>
        <p:nvSpPr>
          <p:cNvPr id="27" name="Shape 24"/>
          <p:cNvSpPr/>
          <p:nvPr/>
        </p:nvSpPr>
        <p:spPr>
          <a:xfrm>
            <a:off x="4343400" y="5586984"/>
            <a:ext cx="868680" cy="457200"/>
          </a:xfrm>
          <a:prstGeom prst="roundRect">
            <a:avLst>
              <a:gd name="adj" fmla="val 16000"/>
            </a:avLst>
          </a:prstGeom>
          <a:solidFill>
            <a:srgbClr val="C9A227"/>
          </a:solidFill>
          <a:ln/>
        </p:spPr>
      </p:sp>
      <p:sp>
        <p:nvSpPr>
          <p:cNvPr id="28" name="Text 25"/>
          <p:cNvSpPr txBox="1"/>
          <p:nvPr/>
        </p:nvSpPr>
        <p:spPr>
          <a:xfrm>
            <a:off x="4343400" y="5586984"/>
            <a:ext cx="868680" cy="457200"/>
          </a:xfrm>
          <a:prstGeom prst="rect">
            <a:avLst/>
          </a:prstGeom>
          <a:noFill/>
          <a:ln/>
        </p:spPr>
        <p:txBody>
          <a:bodyPr wrap="square" lIns="0" tIns="0" rIns="0" bIns="0" rtlCol="0" anchor="ctr"/>
          <a:lstStyle/>
          <a:p>
            <a:pPr algn="ctr" indent="0" marL="0">
              <a:buNone/>
            </a:pPr>
            <a:r>
              <a:rPr lang="en-US" sz="1250" b="1" dirty="0">
                <a:solidFill>
                  <a:srgbClr val="1B2A52"/>
                </a:solidFill>
                <a:latin typeface="Calibri" pitchFamily="34" charset="0"/>
                <a:ea typeface="Calibri" pitchFamily="34" charset="-122"/>
                <a:cs typeface="Calibri" pitchFamily="34" charset="-120"/>
              </a:rPr>
              <a:t>22:00</a:t>
            </a:r>
            <a:endParaRPr lang="en-US" sz="1250" dirty="0"/>
          </a:p>
        </p:txBody>
      </p:sp>
      <p:sp>
        <p:nvSpPr>
          <p:cNvPr id="29" name="Text 26"/>
          <p:cNvSpPr txBox="1"/>
          <p:nvPr/>
        </p:nvSpPr>
        <p:spPr>
          <a:xfrm>
            <a:off x="5394960" y="5513832"/>
            <a:ext cx="6126480" cy="6217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Closing question — </a:t>
            </a:r>
            <a:pPr indent="0" marL="0">
              <a:buNone/>
            </a:pPr>
            <a:r>
              <a:rPr lang="en-US" sz="1200" dirty="0">
                <a:solidFill>
                  <a:srgbClr val="C9D6EF"/>
                </a:solidFill>
                <a:latin typeface="Calibri" pitchFamily="34" charset="0"/>
                <a:ea typeface="Calibri" pitchFamily="34" charset="-122"/>
                <a:cs typeface="Calibri" pitchFamily="34" charset="-120"/>
              </a:rPr>
              <a:t>Ask: “What statements stood out to you?”</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1064240" cy="292608"/>
          </a:xfrm>
          <a:prstGeom prst="rect">
            <a:avLst/>
          </a:prstGeom>
          <a:noFill/>
          <a:ln/>
        </p:spPr>
        <p:txBody>
          <a:bodyPr wrap="square" lIns="0" tIns="0" rIns="0" bIns="0" rtlCol="0" anchor="ctr"/>
          <a:lstStyle/>
          <a:p>
            <a:pPr algn="l" indent="0" marL="0">
              <a:buNone/>
            </a:pPr>
            <a:r>
              <a:rPr lang="en-US" sz="1200" b="1" spc="300" kern="0" dirty="0">
                <a:solidFill>
                  <a:srgbClr val="8F7115"/>
                </a:solidFill>
                <a:latin typeface="Calibri" pitchFamily="34" charset="0"/>
                <a:ea typeface="Calibri" pitchFamily="34" charset="-122"/>
                <a:cs typeface="Calibri" pitchFamily="34" charset="-120"/>
              </a:rPr>
              <a:t>PAUSE AND DISCUSS</a:t>
            </a:r>
            <a:endParaRPr lang="en-US" sz="1200" dirty="0"/>
          </a:p>
        </p:txBody>
      </p:sp>
      <p:sp>
        <p:nvSpPr>
          <p:cNvPr id="3" name="Text 1"/>
          <p:cNvSpPr txBox="1"/>
          <p:nvPr/>
        </p:nvSpPr>
        <p:spPr>
          <a:xfrm>
            <a:off x="548640" y="749808"/>
            <a:ext cx="11064240" cy="731520"/>
          </a:xfrm>
          <a:prstGeom prst="rect">
            <a:avLst/>
          </a:prstGeom>
          <a:noFill/>
          <a:ln/>
        </p:spPr>
        <p:txBody>
          <a:bodyPr wrap="square" lIns="0" tIns="0" rIns="0" bIns="0" rtlCol="0" anchor="ctr"/>
          <a:lstStyle/>
          <a:p>
            <a:pPr algn="l" indent="0" marL="0">
              <a:buNone/>
            </a:pPr>
            <a:r>
              <a:rPr lang="en-US" sz="3400" b="1" dirty="0">
                <a:solidFill>
                  <a:srgbClr val="1B2A52"/>
                </a:solidFill>
                <a:latin typeface="Cambria" pitchFamily="34" charset="0"/>
                <a:ea typeface="Cambria" pitchFamily="34" charset="-122"/>
                <a:cs typeface="Cambria" pitchFamily="34" charset="-120"/>
              </a:rPr>
              <a:t>Let's Talk About It</a:t>
            </a:r>
            <a:endParaRPr lang="en-US" sz="3400" dirty="0"/>
          </a:p>
        </p:txBody>
      </p:sp>
      <p:sp>
        <p:nvSpPr>
          <p:cNvPr id="4" name="Shape 2"/>
          <p:cNvSpPr/>
          <p:nvPr/>
        </p:nvSpPr>
        <p:spPr>
          <a:xfrm>
            <a:off x="502920" y="1828800"/>
            <a:ext cx="3639312" cy="3657600"/>
          </a:xfrm>
          <a:prstGeom prst="roundRect">
            <a:avLst>
              <a:gd name="adj" fmla="val 3015"/>
            </a:avLst>
          </a:prstGeom>
          <a:solidFill>
            <a:srgbClr val="EDF1F8"/>
          </a:solidFill>
          <a:ln/>
        </p:spPr>
      </p:sp>
      <p:sp>
        <p:nvSpPr>
          <p:cNvPr id="5" name="Shape 3"/>
          <p:cNvSpPr/>
          <p:nvPr/>
        </p:nvSpPr>
        <p:spPr>
          <a:xfrm>
            <a:off x="822960" y="2148840"/>
            <a:ext cx="603504" cy="603504"/>
          </a:xfrm>
          <a:prstGeom prst="ellipse">
            <a:avLst/>
          </a:prstGeom>
          <a:solidFill>
            <a:srgbClr val="C9A227"/>
          </a:solidFill>
          <a:ln/>
        </p:spPr>
      </p:sp>
      <p:sp>
        <p:nvSpPr>
          <p:cNvPr id="6" name="Text 4"/>
          <p:cNvSpPr txBox="1"/>
          <p:nvPr/>
        </p:nvSpPr>
        <p:spPr>
          <a:xfrm>
            <a:off x="822960" y="2148840"/>
            <a:ext cx="603504" cy="603504"/>
          </a:xfrm>
          <a:prstGeom prst="rect">
            <a:avLst/>
          </a:prstGeom>
          <a:noFill/>
          <a:ln/>
        </p:spPr>
        <p:txBody>
          <a:bodyPr wrap="square" lIns="0" tIns="0" rIns="0" bIns="0" rtlCol="0" anchor="ctr"/>
          <a:lstStyle/>
          <a:p>
            <a:pPr algn="ctr" indent="0" marL="0">
              <a:buNone/>
            </a:pPr>
            <a:r>
              <a:rPr lang="en-US" sz="2200" b="1" dirty="0">
                <a:solidFill>
                  <a:srgbClr val="1B2A52"/>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822960" y="3017520"/>
            <a:ext cx="3017520" cy="2194560"/>
          </a:xfrm>
          <a:prstGeom prst="rect">
            <a:avLst/>
          </a:prstGeom>
          <a:noFill/>
          <a:ln/>
        </p:spPr>
        <p:txBody>
          <a:bodyPr wrap="square" lIns="0" tIns="0" rIns="0" bIns="0" rtlCol="0" anchor="ctr"/>
          <a:lstStyle/>
          <a:p>
            <a:pPr indent="0" marL="0">
              <a:buNone/>
            </a:pPr>
            <a:r>
              <a:rPr lang="en-US" sz="1500" dirty="0">
                <a:solidFill>
                  <a:srgbClr val="232A35"/>
                </a:solidFill>
                <a:latin typeface="Calibri" pitchFamily="34" charset="0"/>
                <a:ea typeface="Calibri" pitchFamily="34" charset="-122"/>
                <a:cs typeface="Calibri" pitchFamily="34" charset="-120"/>
              </a:rPr>
              <a:t>How will we be blessed by the updated FSY guide and the new Sunday curriculum?</a:t>
            </a:r>
            <a:endParaRPr lang="en-US" sz="1500" dirty="0"/>
          </a:p>
        </p:txBody>
      </p:sp>
      <p:sp>
        <p:nvSpPr>
          <p:cNvPr id="8" name="Shape 6"/>
          <p:cNvSpPr/>
          <p:nvPr/>
        </p:nvSpPr>
        <p:spPr>
          <a:xfrm>
            <a:off x="4288536" y="1828800"/>
            <a:ext cx="3639312" cy="3657600"/>
          </a:xfrm>
          <a:prstGeom prst="roundRect">
            <a:avLst>
              <a:gd name="adj" fmla="val 3015"/>
            </a:avLst>
          </a:prstGeom>
          <a:solidFill>
            <a:srgbClr val="1B2A52"/>
          </a:solidFill>
          <a:ln/>
        </p:spPr>
      </p:sp>
      <p:sp>
        <p:nvSpPr>
          <p:cNvPr id="9" name="Shape 7"/>
          <p:cNvSpPr/>
          <p:nvPr/>
        </p:nvSpPr>
        <p:spPr>
          <a:xfrm>
            <a:off x="4608576" y="2148840"/>
            <a:ext cx="603504" cy="603504"/>
          </a:xfrm>
          <a:prstGeom prst="ellipse">
            <a:avLst/>
          </a:prstGeom>
          <a:solidFill>
            <a:srgbClr val="C9A227"/>
          </a:solidFill>
          <a:ln/>
        </p:spPr>
      </p:sp>
      <p:sp>
        <p:nvSpPr>
          <p:cNvPr id="10" name="Text 8"/>
          <p:cNvSpPr txBox="1"/>
          <p:nvPr/>
        </p:nvSpPr>
        <p:spPr>
          <a:xfrm>
            <a:off x="4608576" y="2148840"/>
            <a:ext cx="603504" cy="603504"/>
          </a:xfrm>
          <a:prstGeom prst="rect">
            <a:avLst/>
          </a:prstGeom>
          <a:noFill/>
          <a:ln/>
        </p:spPr>
        <p:txBody>
          <a:bodyPr wrap="square" lIns="0" tIns="0" rIns="0" bIns="0" rtlCol="0" anchor="ctr"/>
          <a:lstStyle/>
          <a:p>
            <a:pPr algn="ctr" indent="0" marL="0">
              <a:buNone/>
            </a:pPr>
            <a:r>
              <a:rPr lang="en-US" sz="2200" b="1" dirty="0">
                <a:solidFill>
                  <a:srgbClr val="1B2A52"/>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608576" y="3017520"/>
            <a:ext cx="3017520" cy="21945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Doctrine and Covenants 88:122 teaches that all may speak and all may be edified. How can we make our classes places where everyone feels uplifted?</a:t>
            </a:r>
            <a:endParaRPr lang="en-US" sz="1500" dirty="0"/>
          </a:p>
        </p:txBody>
      </p:sp>
      <p:sp>
        <p:nvSpPr>
          <p:cNvPr id="12" name="Shape 10"/>
          <p:cNvSpPr/>
          <p:nvPr/>
        </p:nvSpPr>
        <p:spPr>
          <a:xfrm>
            <a:off x="8074152" y="1828800"/>
            <a:ext cx="3639312" cy="3657600"/>
          </a:xfrm>
          <a:prstGeom prst="roundRect">
            <a:avLst>
              <a:gd name="adj" fmla="val 3015"/>
            </a:avLst>
          </a:prstGeom>
          <a:solidFill>
            <a:srgbClr val="EDF1F8"/>
          </a:solidFill>
          <a:ln/>
        </p:spPr>
      </p:sp>
      <p:sp>
        <p:nvSpPr>
          <p:cNvPr id="13" name="Shape 11"/>
          <p:cNvSpPr/>
          <p:nvPr/>
        </p:nvSpPr>
        <p:spPr>
          <a:xfrm>
            <a:off x="8394192" y="2148840"/>
            <a:ext cx="603504" cy="603504"/>
          </a:xfrm>
          <a:prstGeom prst="ellipse">
            <a:avLst/>
          </a:prstGeom>
          <a:solidFill>
            <a:srgbClr val="C9A227"/>
          </a:solidFill>
          <a:ln/>
        </p:spPr>
      </p:sp>
      <p:sp>
        <p:nvSpPr>
          <p:cNvPr id="14" name="Text 12"/>
          <p:cNvSpPr txBox="1"/>
          <p:nvPr/>
        </p:nvSpPr>
        <p:spPr>
          <a:xfrm>
            <a:off x="8394192" y="2148840"/>
            <a:ext cx="603504" cy="603504"/>
          </a:xfrm>
          <a:prstGeom prst="rect">
            <a:avLst/>
          </a:prstGeom>
          <a:noFill/>
          <a:ln/>
        </p:spPr>
        <p:txBody>
          <a:bodyPr wrap="square" lIns="0" tIns="0" rIns="0" bIns="0" rtlCol="0" anchor="ctr"/>
          <a:lstStyle/>
          <a:p>
            <a:pPr algn="ctr" indent="0" marL="0">
              <a:buNone/>
            </a:pPr>
            <a:r>
              <a:rPr lang="en-US" sz="2200" b="1" dirty="0">
                <a:solidFill>
                  <a:srgbClr val="1B2A52"/>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394192" y="3017520"/>
            <a:ext cx="3017520" cy="2194560"/>
          </a:xfrm>
          <a:prstGeom prst="rect">
            <a:avLst/>
          </a:prstGeom>
          <a:noFill/>
          <a:ln/>
        </p:spPr>
        <p:txBody>
          <a:bodyPr wrap="square" lIns="0" tIns="0" rIns="0" bIns="0" rtlCol="0" anchor="ctr"/>
          <a:lstStyle/>
          <a:p>
            <a:pPr indent="0" marL="0">
              <a:buNone/>
            </a:pPr>
            <a:r>
              <a:rPr lang="en-US" sz="1500" dirty="0">
                <a:solidFill>
                  <a:srgbClr val="232A35"/>
                </a:solidFill>
                <a:latin typeface="Calibri" pitchFamily="34" charset="0"/>
                <a:ea typeface="Calibri" pitchFamily="34" charset="-122"/>
                <a:cs typeface="Calibri" pitchFamily="34" charset="-120"/>
              </a:rPr>
              <a:t>How can we use the new schedule and guides to build stronger relationships in our quorums and classes?</a:t>
            </a:r>
            <a:endParaRPr lang="en-US" sz="1500" dirty="0"/>
          </a:p>
        </p:txBody>
      </p:sp>
      <p:sp>
        <p:nvSpPr>
          <p:cNvPr id="16" name="Text 14"/>
          <p:cNvSpPr txBox="1"/>
          <p:nvPr/>
        </p:nvSpPr>
        <p:spPr>
          <a:xfrm>
            <a:off x="548640" y="5806440"/>
            <a:ext cx="10972800" cy="320040"/>
          </a:xfrm>
          <a:prstGeom prst="rect">
            <a:avLst/>
          </a:prstGeom>
          <a:noFill/>
          <a:ln/>
        </p:spPr>
        <p:txBody>
          <a:bodyPr wrap="square" lIns="0" tIns="0" rIns="0" bIns="0" rtlCol="0" anchor="ctr"/>
          <a:lstStyle/>
          <a:p>
            <a:pPr indent="0" marL="0">
              <a:buNone/>
            </a:pPr>
            <a:r>
              <a:rPr lang="en-US" sz="1100" i="1" dirty="0">
                <a:solidFill>
                  <a:srgbClr val="5C6575"/>
                </a:solidFill>
                <a:latin typeface="Calibri" pitchFamily="34" charset="0"/>
                <a:ea typeface="Calibri" pitchFamily="34" charset="-122"/>
                <a:cs typeface="Calibri" pitchFamily="34" charset="-120"/>
              </a:rPr>
              <a:t>Adapted from the official fifth-Sunday instruction outline, August 30, 2026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52"/>
        </a:solidFill>
      </p:bgPr>
    </p:bg>
    <p:spTree>
      <p:nvGrpSpPr>
        <p:cNvPr id="1" name=""/>
        <p:cNvGrpSpPr/>
        <p:nvPr/>
      </p:nvGrpSpPr>
      <p:grpSpPr>
        <a:xfrm>
          <a:off x="0" y="0"/>
          <a:ext cx="0" cy="0"/>
          <a:chOff x="0" y="0"/>
          <a:chExt cx="0" cy="0"/>
        </a:xfrm>
      </p:grpSpPr>
      <p:sp>
        <p:nvSpPr>
          <p:cNvPr id="2" name="Shape 0"/>
          <p:cNvSpPr/>
          <p:nvPr/>
        </p:nvSpPr>
        <p:spPr>
          <a:xfrm>
            <a:off x="10149840" y="4480560"/>
            <a:ext cx="4754880" cy="4754880"/>
          </a:xfrm>
          <a:prstGeom prst="ellipse">
            <a:avLst/>
          </a:prstGeom>
          <a:ln w="25400">
            <a:solidFill>
              <a:srgbClr val="C9A227"/>
            </a:solidFill>
            <a:prstDash val="solid"/>
          </a:ln>
        </p:spPr>
      </p:sp>
      <p:sp>
        <p:nvSpPr>
          <p:cNvPr id="3" name="Shape 1"/>
          <p:cNvSpPr/>
          <p:nvPr/>
        </p:nvSpPr>
        <p:spPr>
          <a:xfrm>
            <a:off x="10424160" y="-2103120"/>
            <a:ext cx="3931920" cy="3931920"/>
          </a:xfrm>
          <a:prstGeom prst="ellipse">
            <a:avLst/>
          </a:prstGeom>
          <a:ln w="19050">
            <a:solidFill>
              <a:srgbClr val="31437A"/>
            </a:solidFill>
            <a:prstDash val="solid"/>
          </a:ln>
        </p:spPr>
      </p:sp>
      <p:sp>
        <p:nvSpPr>
          <p:cNvPr id="4" name="Text 2"/>
          <p:cNvSpPr txBox="1"/>
          <p:nvPr/>
        </p:nvSpPr>
        <p:spPr>
          <a:xfrm>
            <a:off x="548640" y="438912"/>
            <a:ext cx="11064240" cy="292608"/>
          </a:xfrm>
          <a:prstGeom prst="rect">
            <a:avLst/>
          </a:prstGeom>
          <a:noFill/>
          <a:ln/>
        </p:spPr>
        <p:txBody>
          <a:bodyPr wrap="square" lIns="0" tIns="0" rIns="0" bIns="0" rtlCol="0" anchor="ctr"/>
          <a:lstStyle/>
          <a:p>
            <a:pPr algn="l" indent="0" marL="0">
              <a:buNone/>
            </a:pPr>
            <a:r>
              <a:rPr lang="en-US" sz="1200" b="1" spc="300" kern="0" dirty="0">
                <a:solidFill>
                  <a:srgbClr val="C9A227"/>
                </a:solidFill>
                <a:latin typeface="Calibri" pitchFamily="34" charset="0"/>
                <a:ea typeface="Calibri" pitchFamily="34" charset="-122"/>
                <a:cs typeface="Calibri" pitchFamily="34" charset="-120"/>
              </a:rPr>
              <a:t>BEFORE SEPTEMBER 6</a:t>
            </a:r>
            <a:endParaRPr lang="en-US" sz="1200" dirty="0"/>
          </a:p>
        </p:txBody>
      </p:sp>
      <p:sp>
        <p:nvSpPr>
          <p:cNvPr id="5" name="Text 3"/>
          <p:cNvSpPr txBox="1"/>
          <p:nvPr/>
        </p:nvSpPr>
        <p:spPr>
          <a:xfrm>
            <a:off x="548640" y="749808"/>
            <a:ext cx="11064240" cy="73152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An Invitation</a:t>
            </a:r>
            <a:endParaRPr lang="en-US" sz="3400" dirty="0"/>
          </a:p>
        </p:txBody>
      </p:sp>
      <p:sp>
        <p:nvSpPr>
          <p:cNvPr id="6" name="Shape 4"/>
          <p:cNvSpPr/>
          <p:nvPr/>
        </p:nvSpPr>
        <p:spPr>
          <a:xfrm>
            <a:off x="566928" y="1783080"/>
            <a:ext cx="566928" cy="566928"/>
          </a:xfrm>
          <a:prstGeom prst="ellipse">
            <a:avLst/>
          </a:prstGeom>
          <a:solidFill>
            <a:srgbClr val="C9A227"/>
          </a:solidFill>
          <a:ln/>
        </p:spPr>
      </p:sp>
      <p:pic>
        <p:nvPicPr>
          <p:cNvPr id="7" name="Image 0" descr="preencoded.png">    </p:cNvPr>
          <p:cNvPicPr>
            <a:picLocks noChangeAspect="1"/>
          </p:cNvPicPr>
          <p:nvPr/>
        </p:nvPicPr>
        <p:blipFill>
          <a:blip r:embed="rId1"/>
          <a:stretch>
            <a:fillRect/>
          </a:stretch>
        </p:blipFill>
        <p:spPr>
          <a:xfrm>
            <a:off x="719999" y="1936151"/>
            <a:ext cx="260787" cy="260787"/>
          </a:xfrm>
          <a:prstGeom prst="rect">
            <a:avLst/>
          </a:prstGeom>
        </p:spPr>
      </p:pic>
      <p:sp>
        <p:nvSpPr>
          <p:cNvPr id="8" name="Text 5"/>
          <p:cNvSpPr txBox="1"/>
          <p:nvPr/>
        </p:nvSpPr>
        <p:spPr>
          <a:xfrm>
            <a:off x="1371600" y="1746504"/>
            <a:ext cx="1828800" cy="320040"/>
          </a:xfrm>
          <a:prstGeom prst="rect">
            <a:avLst/>
          </a:prstGeom>
          <a:noFill/>
          <a:ln/>
        </p:spPr>
        <p:txBody>
          <a:bodyPr wrap="square" lIns="0" tIns="0" rIns="0" bIns="0" rtlCol="0" anchor="ctr"/>
          <a:lstStyle/>
          <a:p>
            <a:pPr indent="0" marL="0">
              <a:buNone/>
            </a:pPr>
            <a:r>
              <a:rPr lang="en-US" sz="1650" b="1" dirty="0">
                <a:solidFill>
                  <a:srgbClr val="C9A227"/>
                </a:solidFill>
                <a:latin typeface="Calibri" pitchFamily="34" charset="0"/>
                <a:ea typeface="Calibri" pitchFamily="34" charset="-122"/>
                <a:cs typeface="Calibri" pitchFamily="34" charset="-120"/>
              </a:rPr>
              <a:t>Youth</a:t>
            </a:r>
            <a:endParaRPr lang="en-US" sz="1650" dirty="0"/>
          </a:p>
        </p:txBody>
      </p:sp>
      <p:sp>
        <p:nvSpPr>
          <p:cNvPr id="9" name="Text 6"/>
          <p:cNvSpPr txBox="1"/>
          <p:nvPr/>
        </p:nvSpPr>
        <p:spPr>
          <a:xfrm>
            <a:off x="1371600" y="2084832"/>
            <a:ext cx="7863840" cy="6858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Read September's chapter — “You Are Blessed by Priesthood Keys and Authority” — and come ready to share.</a:t>
            </a:r>
            <a:endParaRPr lang="en-US" sz="1350" dirty="0"/>
          </a:p>
        </p:txBody>
      </p:sp>
      <p:sp>
        <p:nvSpPr>
          <p:cNvPr id="10" name="Shape 7"/>
          <p:cNvSpPr/>
          <p:nvPr/>
        </p:nvSpPr>
        <p:spPr>
          <a:xfrm>
            <a:off x="566928" y="2971800"/>
            <a:ext cx="566928" cy="566928"/>
          </a:xfrm>
          <a:prstGeom prst="ellipse">
            <a:avLst/>
          </a:prstGeom>
          <a:solidFill>
            <a:srgbClr val="C9A227"/>
          </a:solidFill>
          <a:ln/>
        </p:spPr>
      </p:sp>
      <p:pic>
        <p:nvPicPr>
          <p:cNvPr id="11" name="Image 1" descr="preencoded.png">    </p:cNvPr>
          <p:cNvPicPr>
            <a:picLocks noChangeAspect="1"/>
          </p:cNvPicPr>
          <p:nvPr/>
        </p:nvPicPr>
        <p:blipFill>
          <a:blip r:embed="rId2"/>
          <a:stretch>
            <a:fillRect/>
          </a:stretch>
        </p:blipFill>
        <p:spPr>
          <a:xfrm>
            <a:off x="719999" y="3124871"/>
            <a:ext cx="260787" cy="260787"/>
          </a:xfrm>
          <a:prstGeom prst="rect">
            <a:avLst/>
          </a:prstGeom>
        </p:spPr>
      </p:pic>
      <p:sp>
        <p:nvSpPr>
          <p:cNvPr id="12" name="Text 8"/>
          <p:cNvSpPr txBox="1"/>
          <p:nvPr/>
        </p:nvSpPr>
        <p:spPr>
          <a:xfrm>
            <a:off x="1371600" y="2935224"/>
            <a:ext cx="1828800" cy="320040"/>
          </a:xfrm>
          <a:prstGeom prst="rect">
            <a:avLst/>
          </a:prstGeom>
          <a:noFill/>
          <a:ln/>
        </p:spPr>
        <p:txBody>
          <a:bodyPr wrap="square" lIns="0" tIns="0" rIns="0" bIns="0" rtlCol="0" anchor="ctr"/>
          <a:lstStyle/>
          <a:p>
            <a:pPr indent="0" marL="0">
              <a:buNone/>
            </a:pPr>
            <a:r>
              <a:rPr lang="en-US" sz="1650" b="1" dirty="0">
                <a:solidFill>
                  <a:srgbClr val="C9A227"/>
                </a:solidFill>
                <a:latin typeface="Calibri" pitchFamily="34" charset="0"/>
                <a:ea typeface="Calibri" pitchFamily="34" charset="-122"/>
                <a:cs typeface="Calibri" pitchFamily="34" charset="-120"/>
              </a:rPr>
              <a:t>Parents</a:t>
            </a:r>
            <a:endParaRPr lang="en-US" sz="1650" dirty="0"/>
          </a:p>
        </p:txBody>
      </p:sp>
      <p:sp>
        <p:nvSpPr>
          <p:cNvPr id="13" name="Text 9"/>
          <p:cNvSpPr txBox="1"/>
          <p:nvPr/>
        </p:nvSpPr>
        <p:spPr>
          <a:xfrm>
            <a:off x="1371600" y="3273552"/>
            <a:ext cx="7863840" cy="6858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Sign up for the free FSY magazine and ask about each week's lesson around the dinner table.</a:t>
            </a:r>
            <a:endParaRPr lang="en-US" sz="1350" dirty="0"/>
          </a:p>
        </p:txBody>
      </p:sp>
      <p:sp>
        <p:nvSpPr>
          <p:cNvPr id="14" name="Shape 10"/>
          <p:cNvSpPr/>
          <p:nvPr/>
        </p:nvSpPr>
        <p:spPr>
          <a:xfrm>
            <a:off x="566928" y="4160520"/>
            <a:ext cx="566928" cy="566928"/>
          </a:xfrm>
          <a:prstGeom prst="ellipse">
            <a:avLst/>
          </a:prstGeom>
          <a:solidFill>
            <a:srgbClr val="C9A227"/>
          </a:solidFill>
          <a:ln/>
        </p:spPr>
      </p:sp>
      <p:pic>
        <p:nvPicPr>
          <p:cNvPr id="15" name="Image 2" descr="preencoded.png">    </p:cNvPr>
          <p:cNvPicPr>
            <a:picLocks noChangeAspect="1"/>
          </p:cNvPicPr>
          <p:nvPr/>
        </p:nvPicPr>
        <p:blipFill>
          <a:blip r:embed="rId3"/>
          <a:stretch>
            <a:fillRect/>
          </a:stretch>
        </p:blipFill>
        <p:spPr>
          <a:xfrm>
            <a:off x="719999" y="4313591"/>
            <a:ext cx="260787" cy="260787"/>
          </a:xfrm>
          <a:prstGeom prst="rect">
            <a:avLst/>
          </a:prstGeom>
        </p:spPr>
      </p:pic>
      <p:sp>
        <p:nvSpPr>
          <p:cNvPr id="16" name="Text 11"/>
          <p:cNvSpPr txBox="1"/>
          <p:nvPr/>
        </p:nvSpPr>
        <p:spPr>
          <a:xfrm>
            <a:off x="1371600" y="4123944"/>
            <a:ext cx="1828800" cy="320040"/>
          </a:xfrm>
          <a:prstGeom prst="rect">
            <a:avLst/>
          </a:prstGeom>
          <a:noFill/>
          <a:ln/>
        </p:spPr>
        <p:txBody>
          <a:bodyPr wrap="square" lIns="0" tIns="0" rIns="0" bIns="0" rtlCol="0" anchor="ctr"/>
          <a:lstStyle/>
          <a:p>
            <a:pPr indent="0" marL="0">
              <a:buNone/>
            </a:pPr>
            <a:r>
              <a:rPr lang="en-US" sz="1650" b="1" dirty="0">
                <a:solidFill>
                  <a:srgbClr val="C9A227"/>
                </a:solidFill>
                <a:latin typeface="Calibri" pitchFamily="34" charset="0"/>
                <a:ea typeface="Calibri" pitchFamily="34" charset="-122"/>
                <a:cs typeface="Calibri" pitchFamily="34" charset="-120"/>
              </a:rPr>
              <a:t>Leaders</a:t>
            </a:r>
            <a:endParaRPr lang="en-US" sz="1650" dirty="0"/>
          </a:p>
        </p:txBody>
      </p:sp>
      <p:sp>
        <p:nvSpPr>
          <p:cNvPr id="17" name="Text 12"/>
          <p:cNvSpPr txBox="1"/>
          <p:nvPr/>
        </p:nvSpPr>
        <p:spPr>
          <a:xfrm>
            <a:off x="1371600" y="4462272"/>
            <a:ext cx="7863840" cy="6858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Watch the instructional videos and prepare with the lesson materials in Gospel Library.</a:t>
            </a:r>
            <a:endParaRPr lang="en-US" sz="1350" dirty="0"/>
          </a:p>
        </p:txBody>
      </p:sp>
      <p:sp>
        <p:nvSpPr>
          <p:cNvPr id="18" name="Text 13"/>
          <p:cNvSpPr txBox="1"/>
          <p:nvPr/>
        </p:nvSpPr>
        <p:spPr>
          <a:xfrm>
            <a:off x="566928" y="5486400"/>
            <a:ext cx="8686800" cy="685800"/>
          </a:xfrm>
          <a:prstGeom prst="rect">
            <a:avLst/>
          </a:prstGeom>
          <a:noFill/>
          <a:ln/>
        </p:spPr>
        <p:txBody>
          <a:bodyPr wrap="square" lIns="0" tIns="0" rIns="0" bIns="0" rtlCol="0" anchor="ctr"/>
          <a:lstStyle/>
          <a:p>
            <a:pPr indent="0" marL="0">
              <a:buNone/>
            </a:pPr>
            <a:r>
              <a:rPr lang="en-US" sz="1600" i="1" dirty="0">
                <a:solidFill>
                  <a:srgbClr val="C9D6EF"/>
                </a:solidFill>
                <a:latin typeface="Cambria" pitchFamily="34" charset="0"/>
                <a:ea typeface="Cambria" pitchFamily="34" charset="-122"/>
                <a:cs typeface="Cambria" pitchFamily="34" charset="-120"/>
              </a:rPr>
              <a:t>“… simple and meaningful ways to grow closer to Jesus Christ and feel more connected to Him and each other.”</a:t>
            </a:r>
            <a:endParaRPr lang="en-US" sz="1600" dirty="0"/>
          </a:p>
        </p:txBody>
      </p:sp>
      <p:sp>
        <p:nvSpPr>
          <p:cNvPr id="19" name="Text 14"/>
          <p:cNvSpPr txBox="1"/>
          <p:nvPr/>
        </p:nvSpPr>
        <p:spPr>
          <a:xfrm>
            <a:off x="566928" y="6355080"/>
            <a:ext cx="9326880" cy="320040"/>
          </a:xfrm>
          <a:prstGeom prst="rect">
            <a:avLst/>
          </a:prstGeom>
          <a:noFill/>
          <a:ln/>
        </p:spPr>
        <p:txBody>
          <a:bodyPr wrap="square" lIns="0" tIns="0" rIns="0" bIns="0" rtlCol="0" anchor="ctr"/>
          <a:lstStyle/>
          <a:p>
            <a:pPr indent="0" marL="0">
              <a:buNone/>
            </a:pPr>
            <a:r>
              <a:rPr lang="en-US" sz="950" dirty="0">
                <a:solidFill>
                  <a:srgbClr val="8FA0C8"/>
                </a:solidFill>
                <a:latin typeface="Calibri" pitchFamily="34" charset="0"/>
                <a:ea typeface="Calibri" pitchFamily="34" charset="-122"/>
                <a:cs typeface="Calibri" pitchFamily="34" charset="-120"/>
              </a:rPr>
              <a:t>Sources: “Changes to the Sunday Class Meeting Schedule and Instruction (2026)” and For the Strength of Youth, September 2026 — ChurchofJesusChrist.org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Sunday for Youth</dc:title>
  <dc:subject>PptxGenJS Presentation</dc:subject>
  <dc:creator>Prepared with Claude Code</dc:creator>
  <cp:lastModifiedBy>Prepared with Claude Code</cp:lastModifiedBy>
  <cp:revision>1</cp:revision>
  <dcterms:created xsi:type="dcterms:W3CDTF">2026-08-30T01:50:27Z</dcterms:created>
  <dcterms:modified xsi:type="dcterms:W3CDTF">2026-08-30T01:50:27Z</dcterms:modified>
</cp:coreProperties>
</file>