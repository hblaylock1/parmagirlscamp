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for the whole meeting: by the end, everyone should know three things — how to use the new FSY guide, how to use the new magazine, and how the youth themselves participate in these new weekly classes. Everything in the video and the slides that follow ties back to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chapter teaches three eternal truths (on the slide), invites youth to accept callings and serve faithfully, sustain those God has called, and fulfill assignments from leaders, and promises that they can trust their ordinances are authorized by Jesus Christ and will become instruments in the Lord's hands. The magazine's closing question for the month: how would your life be different if the priesthood hadn't been restored? Third Sunday: youth fill out a table mapping D&amp;C 13, 27, and 110 to the heavenly messengers and keys restored. Last Sunday: Young Women study Emma Smith in D&amp;C 25; Aaronic Priesthood quorums study Joseph Smith—History 1:66-73. Midweek activity ideas from the magazine: the One-Match Fire Challenge, and A Flashlight and God's Priesthood Power. Encourage youth to read the chapter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video queued in Gospel Library before the meeting. Your watch plan: stop at 7:20 — discuss, then ask why they think the FSY guide is structured this way (truths, invitations, promised blessings). At 10:00, talk through the structure of the Sundays — you can flip back to the monthly-rhythm slide if helpful. At 12:00, cover the last-Sunday split lessons for Young Women and Aaronic Priesthood quorums. Stop again at 18:30 to discuss. At 22:00, ask what statements stood out to them. Then move to the discussion-questions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OUR PURPOSE TODAY</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Three Things to Take Home</a:t>
            </a:r>
            <a:endParaRPr lang="en-US" sz="3400" dirty="0"/>
          </a:p>
        </p:txBody>
      </p:sp>
      <p:sp>
        <p:nvSpPr>
          <p:cNvPr id="4" name="Shape 2"/>
          <p:cNvSpPr/>
          <p:nvPr/>
        </p:nvSpPr>
        <p:spPr>
          <a:xfrm>
            <a:off x="502920" y="1874520"/>
            <a:ext cx="11201400" cy="1325880"/>
          </a:xfrm>
          <a:prstGeom prst="roundRect">
            <a:avLst>
              <a:gd name="adj" fmla="val 8276"/>
            </a:avLst>
          </a:prstGeom>
          <a:solidFill>
            <a:srgbClr val="EDF1F8"/>
          </a:solidFill>
          <a:ln/>
        </p:spPr>
      </p:sp>
      <p:sp>
        <p:nvSpPr>
          <p:cNvPr id="5" name="Shape 3"/>
          <p:cNvSpPr/>
          <p:nvPr/>
        </p:nvSpPr>
        <p:spPr>
          <a:xfrm>
            <a:off x="822960" y="2258568"/>
            <a:ext cx="548640" cy="548640"/>
          </a:xfrm>
          <a:prstGeom prst="ellipse">
            <a:avLst/>
          </a:prstGeom>
          <a:solidFill>
            <a:srgbClr val="C9A227"/>
          </a:solidFill>
          <a:ln/>
        </p:spPr>
      </p:sp>
      <p:sp>
        <p:nvSpPr>
          <p:cNvPr id="6" name="Text 4"/>
          <p:cNvSpPr txBox="1"/>
          <p:nvPr/>
        </p:nvSpPr>
        <p:spPr>
          <a:xfrm>
            <a:off x="822960" y="2258568"/>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1</a:t>
            </a:r>
            <a:endParaRPr lang="en-US" sz="2000" dirty="0"/>
          </a:p>
        </p:txBody>
      </p:sp>
      <p:sp>
        <p:nvSpPr>
          <p:cNvPr id="7" name="Shape 5"/>
          <p:cNvSpPr/>
          <p:nvPr/>
        </p:nvSpPr>
        <p:spPr>
          <a:xfrm>
            <a:off x="1600200" y="2249424"/>
            <a:ext cx="566928" cy="566928"/>
          </a:xfrm>
          <a:prstGeom prst="ellipse">
            <a:avLst/>
          </a:prstGeom>
          <a:solidFill>
            <a:srgbClr val="1B2A52"/>
          </a:solidFill>
          <a:ln/>
        </p:spPr>
      </p:sp>
      <p:pic>
        <p:nvPicPr>
          <p:cNvPr id="8" name="Image 0" descr="preencoded.png">    </p:cNvPr>
          <p:cNvPicPr>
            <a:picLocks noChangeAspect="1"/>
          </p:cNvPicPr>
          <p:nvPr/>
        </p:nvPicPr>
        <p:blipFill>
          <a:blip r:embed="rId1"/>
          <a:stretch>
            <a:fillRect/>
          </a:stretch>
        </p:blipFill>
        <p:spPr>
          <a:xfrm>
            <a:off x="1753271" y="2402495"/>
            <a:ext cx="260787" cy="260787"/>
          </a:xfrm>
          <a:prstGeom prst="rect">
            <a:avLst/>
          </a:prstGeom>
        </p:spPr>
      </p:pic>
      <p:sp>
        <p:nvSpPr>
          <p:cNvPr id="9" name="Text 6"/>
          <p:cNvSpPr txBox="1"/>
          <p:nvPr/>
        </p:nvSpPr>
        <p:spPr>
          <a:xfrm>
            <a:off x="2423160" y="2093976"/>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FSY guide</a:t>
            </a:r>
            <a:endParaRPr lang="en-US" sz="1650" dirty="0"/>
          </a:p>
        </p:txBody>
      </p:sp>
      <p:sp>
        <p:nvSpPr>
          <p:cNvPr id="10" name="Text 7"/>
          <p:cNvSpPr txBox="1"/>
          <p:nvPr/>
        </p:nvSpPr>
        <p:spPr>
          <a:xfrm>
            <a:off x="2423160" y="2478024"/>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Each month's chapter gives us eternal truths, invitations, and promised blessings — the heart of every Sunday lesson.</a:t>
            </a:r>
            <a:endParaRPr lang="en-US" sz="1250" dirty="0"/>
          </a:p>
        </p:txBody>
      </p:sp>
      <p:sp>
        <p:nvSpPr>
          <p:cNvPr id="11" name="Shape 8"/>
          <p:cNvSpPr/>
          <p:nvPr/>
        </p:nvSpPr>
        <p:spPr>
          <a:xfrm>
            <a:off x="502920" y="3355848"/>
            <a:ext cx="11201400" cy="1325880"/>
          </a:xfrm>
          <a:prstGeom prst="roundRect">
            <a:avLst>
              <a:gd name="adj" fmla="val 8276"/>
            </a:avLst>
          </a:prstGeom>
          <a:solidFill>
            <a:srgbClr val="EDF1F8"/>
          </a:solidFill>
          <a:ln/>
        </p:spPr>
      </p:sp>
      <p:sp>
        <p:nvSpPr>
          <p:cNvPr id="12" name="Shape 9"/>
          <p:cNvSpPr/>
          <p:nvPr/>
        </p:nvSpPr>
        <p:spPr>
          <a:xfrm>
            <a:off x="822960" y="3739896"/>
            <a:ext cx="548640" cy="548640"/>
          </a:xfrm>
          <a:prstGeom prst="ellipse">
            <a:avLst/>
          </a:prstGeom>
          <a:solidFill>
            <a:srgbClr val="C9A227"/>
          </a:solidFill>
          <a:ln/>
        </p:spPr>
      </p:sp>
      <p:sp>
        <p:nvSpPr>
          <p:cNvPr id="13" name="Text 10"/>
          <p:cNvSpPr txBox="1"/>
          <p:nvPr/>
        </p:nvSpPr>
        <p:spPr>
          <a:xfrm>
            <a:off x="822960" y="3739896"/>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2</a:t>
            </a:r>
            <a:endParaRPr lang="en-US" sz="2000" dirty="0"/>
          </a:p>
        </p:txBody>
      </p:sp>
      <p:sp>
        <p:nvSpPr>
          <p:cNvPr id="14" name="Shape 11"/>
          <p:cNvSpPr/>
          <p:nvPr/>
        </p:nvSpPr>
        <p:spPr>
          <a:xfrm>
            <a:off x="1600200" y="3730752"/>
            <a:ext cx="566928" cy="566928"/>
          </a:xfrm>
          <a:prstGeom prst="ellipse">
            <a:avLst/>
          </a:prstGeom>
          <a:solidFill>
            <a:srgbClr val="1B2A52"/>
          </a:solidFill>
          <a:ln/>
        </p:spPr>
      </p:sp>
      <p:pic>
        <p:nvPicPr>
          <p:cNvPr id="15" name="Image 1" descr="preencoded.png">    </p:cNvPr>
          <p:cNvPicPr>
            <a:picLocks noChangeAspect="1"/>
          </p:cNvPicPr>
          <p:nvPr/>
        </p:nvPicPr>
        <p:blipFill>
          <a:blip r:embed="rId2"/>
          <a:stretch>
            <a:fillRect/>
          </a:stretch>
        </p:blipFill>
        <p:spPr>
          <a:xfrm>
            <a:off x="1753271" y="3883823"/>
            <a:ext cx="260787" cy="260787"/>
          </a:xfrm>
          <a:prstGeom prst="rect">
            <a:avLst/>
          </a:prstGeom>
        </p:spPr>
      </p:pic>
      <p:sp>
        <p:nvSpPr>
          <p:cNvPr id="16" name="Text 12"/>
          <p:cNvSpPr txBox="1"/>
          <p:nvPr/>
        </p:nvSpPr>
        <p:spPr>
          <a:xfrm>
            <a:off x="2423160" y="3575304"/>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magazine</a:t>
            </a:r>
            <a:endParaRPr lang="en-US" sz="1650" dirty="0"/>
          </a:p>
        </p:txBody>
      </p:sp>
      <p:sp>
        <p:nvSpPr>
          <p:cNvPr id="17" name="Text 13"/>
          <p:cNvSpPr txBox="1"/>
          <p:nvPr/>
        </p:nvSpPr>
        <p:spPr>
          <a:xfrm>
            <a:off x="2423160" y="3959352"/>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 monthly FSY magazine carries each Sunday's lesson and brings the theme home to your family all month.</a:t>
            </a:r>
            <a:endParaRPr lang="en-US" sz="1250" dirty="0"/>
          </a:p>
        </p:txBody>
      </p:sp>
      <p:sp>
        <p:nvSpPr>
          <p:cNvPr id="18" name="Shape 14"/>
          <p:cNvSpPr/>
          <p:nvPr/>
        </p:nvSpPr>
        <p:spPr>
          <a:xfrm>
            <a:off x="502920" y="4837176"/>
            <a:ext cx="11201400" cy="1325880"/>
          </a:xfrm>
          <a:prstGeom prst="roundRect">
            <a:avLst>
              <a:gd name="adj" fmla="val 8276"/>
            </a:avLst>
          </a:prstGeom>
          <a:solidFill>
            <a:srgbClr val="EDF1F8"/>
          </a:solidFill>
          <a:ln/>
        </p:spPr>
      </p:sp>
      <p:sp>
        <p:nvSpPr>
          <p:cNvPr id="19" name="Shape 15"/>
          <p:cNvSpPr/>
          <p:nvPr/>
        </p:nvSpPr>
        <p:spPr>
          <a:xfrm>
            <a:off x="822960" y="5221224"/>
            <a:ext cx="548640" cy="548640"/>
          </a:xfrm>
          <a:prstGeom prst="ellipse">
            <a:avLst/>
          </a:prstGeom>
          <a:solidFill>
            <a:srgbClr val="C9A227"/>
          </a:solidFill>
          <a:ln/>
        </p:spPr>
      </p:sp>
      <p:sp>
        <p:nvSpPr>
          <p:cNvPr id="20" name="Text 16"/>
          <p:cNvSpPr txBox="1"/>
          <p:nvPr/>
        </p:nvSpPr>
        <p:spPr>
          <a:xfrm>
            <a:off x="822960" y="5221224"/>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3</a:t>
            </a:r>
            <a:endParaRPr lang="en-US" sz="2000" dirty="0"/>
          </a:p>
        </p:txBody>
      </p:sp>
      <p:sp>
        <p:nvSpPr>
          <p:cNvPr id="21" name="Shape 17"/>
          <p:cNvSpPr/>
          <p:nvPr/>
        </p:nvSpPr>
        <p:spPr>
          <a:xfrm>
            <a:off x="1600200" y="5212080"/>
            <a:ext cx="566928" cy="566928"/>
          </a:xfrm>
          <a:prstGeom prst="ellipse">
            <a:avLst/>
          </a:prstGeom>
          <a:solidFill>
            <a:srgbClr val="1B2A52"/>
          </a:solidFill>
          <a:ln/>
        </p:spPr>
      </p:sp>
      <p:pic>
        <p:nvPicPr>
          <p:cNvPr id="22" name="Image 2" descr="preencoded.png">    </p:cNvPr>
          <p:cNvPicPr>
            <a:picLocks noChangeAspect="1"/>
          </p:cNvPicPr>
          <p:nvPr/>
        </p:nvPicPr>
        <p:blipFill>
          <a:blip r:embed="rId3"/>
          <a:stretch>
            <a:fillRect/>
          </a:stretch>
        </p:blipFill>
        <p:spPr>
          <a:xfrm>
            <a:off x="1753271" y="5365151"/>
            <a:ext cx="260787" cy="260787"/>
          </a:xfrm>
          <a:prstGeom prst="rect">
            <a:avLst/>
          </a:prstGeom>
        </p:spPr>
      </p:pic>
      <p:sp>
        <p:nvSpPr>
          <p:cNvPr id="23" name="Text 18"/>
          <p:cNvSpPr txBox="1"/>
          <p:nvPr/>
        </p:nvSpPr>
        <p:spPr>
          <a:xfrm>
            <a:off x="2423160" y="5056632"/>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the youth can participate</a:t>
            </a:r>
            <a:endParaRPr lang="en-US" sz="1650" dirty="0"/>
          </a:p>
        </p:txBody>
      </p:sp>
      <p:sp>
        <p:nvSpPr>
          <p:cNvPr id="24" name="Text 19"/>
          <p:cNvSpPr txBox="1"/>
          <p:nvPr/>
        </p:nvSpPr>
        <p:spPr>
          <a:xfrm>
            <a:off x="2423160" y="5440680"/>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These classes are discussions, not lectures — every youth can share, teach, testify, and lead.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29768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THE CHAPTER'S ETERNAL TRUTHS</a:t>
            </a:r>
            <a:endParaRPr lang="en-US" sz="1100" dirty="0"/>
          </a:p>
        </p:txBody>
      </p:sp>
      <p:sp>
        <p:nvSpPr>
          <p:cNvPr id="11" name="Shape 8"/>
          <p:cNvSpPr/>
          <p:nvPr/>
        </p:nvSpPr>
        <p:spPr>
          <a:xfrm>
            <a:off x="585216" y="4700016"/>
            <a:ext cx="100584" cy="100584"/>
          </a:xfrm>
          <a:prstGeom prst="ellipse">
            <a:avLst/>
          </a:prstGeom>
          <a:solidFill>
            <a:srgbClr val="C9A227"/>
          </a:solidFill>
          <a:ln/>
        </p:spPr>
      </p:sp>
      <p:sp>
        <p:nvSpPr>
          <p:cNvPr id="12" name="Text 9"/>
          <p:cNvSpPr txBox="1"/>
          <p:nvPr/>
        </p:nvSpPr>
        <p:spPr>
          <a:xfrm>
            <a:off x="841248" y="4645152"/>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All priesthood keys and authority come through Jesus Christ.</a:t>
            </a:r>
            <a:endParaRPr lang="en-US" sz="1150" dirty="0"/>
          </a:p>
        </p:txBody>
      </p:sp>
      <p:sp>
        <p:nvSpPr>
          <p:cNvPr id="13" name="Shape 10"/>
          <p:cNvSpPr/>
          <p:nvPr/>
        </p:nvSpPr>
        <p:spPr>
          <a:xfrm>
            <a:off x="585216" y="5266944"/>
            <a:ext cx="100584" cy="100584"/>
          </a:xfrm>
          <a:prstGeom prst="ellipse">
            <a:avLst/>
          </a:prstGeom>
          <a:solidFill>
            <a:srgbClr val="C9A227"/>
          </a:solidFill>
          <a:ln/>
        </p:spPr>
      </p:sp>
      <p:sp>
        <p:nvSpPr>
          <p:cNvPr id="14" name="Text 11"/>
          <p:cNvSpPr txBox="1"/>
          <p:nvPr/>
        </p:nvSpPr>
        <p:spPr>
          <a:xfrm>
            <a:off x="841248" y="5212080"/>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Jesus Christ has restored His priesthood in our day.</a:t>
            </a:r>
            <a:endParaRPr lang="en-US" sz="1150" dirty="0"/>
          </a:p>
        </p:txBody>
      </p:sp>
      <p:sp>
        <p:nvSpPr>
          <p:cNvPr id="15" name="Shape 12"/>
          <p:cNvSpPr/>
          <p:nvPr/>
        </p:nvSpPr>
        <p:spPr>
          <a:xfrm>
            <a:off x="585216" y="5833872"/>
            <a:ext cx="100584" cy="100584"/>
          </a:xfrm>
          <a:prstGeom prst="ellipse">
            <a:avLst/>
          </a:prstGeom>
          <a:solidFill>
            <a:srgbClr val="C9A227"/>
          </a:solidFill>
          <a:ln/>
        </p:spPr>
      </p:sp>
      <p:sp>
        <p:nvSpPr>
          <p:cNvPr id="16" name="Text 13"/>
          <p:cNvSpPr txBox="1"/>
          <p:nvPr/>
        </p:nvSpPr>
        <p:spPr>
          <a:xfrm>
            <a:off x="841248" y="5779008"/>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Priesthood authority blesses all of God's children.</a:t>
            </a:r>
            <a:endParaRPr lang="en-US" sz="1150" dirty="0"/>
          </a:p>
        </p:txBody>
      </p:sp>
      <p:sp>
        <p:nvSpPr>
          <p:cNvPr id="17" name="Shape 14"/>
          <p:cNvSpPr/>
          <p:nvPr/>
        </p:nvSpPr>
        <p:spPr>
          <a:xfrm>
            <a:off x="4937760" y="1691640"/>
            <a:ext cx="6720840" cy="1033272"/>
          </a:xfrm>
          <a:prstGeom prst="roundRect">
            <a:avLst>
              <a:gd name="adj" fmla="val 8850"/>
            </a:avLst>
          </a:prstGeom>
          <a:solidFill>
            <a:srgbClr val="EDF1F8"/>
          </a:solidFill>
          <a:ln/>
        </p:spPr>
      </p:sp>
      <p:sp>
        <p:nvSpPr>
          <p:cNvPr id="18" name="Shape 15"/>
          <p:cNvSpPr/>
          <p:nvPr/>
        </p:nvSpPr>
        <p:spPr>
          <a:xfrm>
            <a:off x="5138928" y="1938528"/>
            <a:ext cx="960120" cy="530352"/>
          </a:xfrm>
          <a:prstGeom prst="roundRect">
            <a:avLst>
              <a:gd name="adj" fmla="val 13793"/>
            </a:avLst>
          </a:prstGeom>
          <a:solidFill>
            <a:srgbClr val="1B2A52"/>
          </a:solidFill>
          <a:ln/>
        </p:spPr>
      </p:sp>
      <p:sp>
        <p:nvSpPr>
          <p:cNvPr id="19"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0"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1"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2" name="Shape 19"/>
          <p:cNvSpPr/>
          <p:nvPr/>
        </p:nvSpPr>
        <p:spPr>
          <a:xfrm>
            <a:off x="4937760" y="2862072"/>
            <a:ext cx="6720840" cy="1033272"/>
          </a:xfrm>
          <a:prstGeom prst="roundRect">
            <a:avLst>
              <a:gd name="adj" fmla="val 8850"/>
            </a:avLst>
          </a:prstGeom>
          <a:solidFill>
            <a:srgbClr val="EDF1F8"/>
          </a:solidFill>
          <a:ln/>
        </p:spPr>
      </p:sp>
      <p:sp>
        <p:nvSpPr>
          <p:cNvPr id="23" name="Shape 20"/>
          <p:cNvSpPr/>
          <p:nvPr/>
        </p:nvSpPr>
        <p:spPr>
          <a:xfrm>
            <a:off x="5138928" y="3108960"/>
            <a:ext cx="960120" cy="530352"/>
          </a:xfrm>
          <a:prstGeom prst="roundRect">
            <a:avLst>
              <a:gd name="adj" fmla="val 13793"/>
            </a:avLst>
          </a:prstGeom>
          <a:solidFill>
            <a:srgbClr val="1B2A52"/>
          </a:solidFill>
          <a:ln/>
        </p:spPr>
      </p:sp>
      <p:sp>
        <p:nvSpPr>
          <p:cNvPr id="24"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5"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6"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7" name="Shape 24"/>
          <p:cNvSpPr/>
          <p:nvPr/>
        </p:nvSpPr>
        <p:spPr>
          <a:xfrm>
            <a:off x="4937760" y="4032504"/>
            <a:ext cx="6720840" cy="1033272"/>
          </a:xfrm>
          <a:prstGeom prst="roundRect">
            <a:avLst>
              <a:gd name="adj" fmla="val 8850"/>
            </a:avLst>
          </a:prstGeom>
          <a:solidFill>
            <a:srgbClr val="EDF1F8"/>
          </a:solidFill>
          <a:ln/>
        </p:spPr>
      </p:sp>
      <p:sp>
        <p:nvSpPr>
          <p:cNvPr id="28" name="Shape 25"/>
          <p:cNvSpPr/>
          <p:nvPr/>
        </p:nvSpPr>
        <p:spPr>
          <a:xfrm>
            <a:off x="5138928" y="4279392"/>
            <a:ext cx="960120" cy="530352"/>
          </a:xfrm>
          <a:prstGeom prst="roundRect">
            <a:avLst>
              <a:gd name="adj" fmla="val 13793"/>
            </a:avLst>
          </a:prstGeom>
          <a:solidFill>
            <a:srgbClr val="1B2A52"/>
          </a:solidFill>
          <a:ln/>
        </p:spPr>
      </p:sp>
      <p:sp>
        <p:nvSpPr>
          <p:cNvPr id="29"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0"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1"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2" name="Shape 29"/>
          <p:cNvSpPr/>
          <p:nvPr/>
        </p:nvSpPr>
        <p:spPr>
          <a:xfrm>
            <a:off x="4937760" y="5202936"/>
            <a:ext cx="6720840" cy="1033272"/>
          </a:xfrm>
          <a:prstGeom prst="roundRect">
            <a:avLst>
              <a:gd name="adj" fmla="val 8850"/>
            </a:avLst>
          </a:prstGeom>
          <a:solidFill>
            <a:srgbClr val="EDF1F8"/>
          </a:solidFill>
          <a:ln/>
        </p:spPr>
      </p:sp>
      <p:sp>
        <p:nvSpPr>
          <p:cNvPr id="33" name="Shape 30"/>
          <p:cNvSpPr/>
          <p:nvPr/>
        </p:nvSpPr>
        <p:spPr>
          <a:xfrm>
            <a:off x="5138928" y="5449824"/>
            <a:ext cx="960120" cy="530352"/>
          </a:xfrm>
          <a:prstGeom prst="roundRect">
            <a:avLst>
              <a:gd name="adj" fmla="val 13793"/>
            </a:avLst>
          </a:prstGeom>
          <a:solidFill>
            <a:srgbClr val="1B2A52"/>
          </a:solidFill>
          <a:ln/>
        </p:spPr>
      </p:sp>
      <p:sp>
        <p:nvSpPr>
          <p:cNvPr id="34"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5"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6"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  ·  WE'LL STOP ALONG THE WAY</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051560" y="2103120"/>
            <a:ext cx="1371600" cy="137160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536192" y="2542032"/>
            <a:ext cx="493776" cy="493776"/>
          </a:xfrm>
          <a:prstGeom prst="rect">
            <a:avLst/>
          </a:prstGeom>
        </p:spPr>
      </p:pic>
      <p:sp>
        <p:nvSpPr>
          <p:cNvPr id="8" name="Text 5"/>
          <p:cNvSpPr txBox="1"/>
          <p:nvPr/>
        </p:nvSpPr>
        <p:spPr>
          <a:xfrm>
            <a:off x="566928" y="3794760"/>
            <a:ext cx="3200400" cy="100584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message from President Timothy L. Farnes and President Emily Belle Freeman.</a:t>
            </a:r>
            <a:endParaRPr lang="en-US" sz="1250" dirty="0"/>
          </a:p>
        </p:txBody>
      </p:sp>
      <p:sp>
        <p:nvSpPr>
          <p:cNvPr id="9" name="Text 6"/>
          <p:cNvSpPr txBox="1"/>
          <p:nvPr/>
        </p:nvSpPr>
        <p:spPr>
          <a:xfrm>
            <a:off x="566928" y="4892040"/>
            <a:ext cx="3200400" cy="1097280"/>
          </a:xfrm>
          <a:prstGeom prst="rect">
            <a:avLst/>
          </a:prstGeom>
          <a:noFill/>
          <a:ln/>
        </p:spPr>
        <p:txBody>
          <a:bodyPr wrap="square" lIns="0" tIns="0" rIns="0" bIns="0" rtlCol="0" anchor="ctr"/>
          <a:lstStyle/>
          <a:p>
            <a:pPr indent="0" marL="0">
              <a:buNone/>
            </a:pPr>
            <a:r>
              <a:rPr lang="en-US" sz="1050" dirty="0">
                <a:solidFill>
                  <a:srgbClr val="8FA0C8"/>
                </a:solidFill>
                <a:latin typeface="Calibri" pitchFamily="34" charset="0"/>
                <a:ea typeface="Calibri" pitchFamily="34" charset="-122"/>
                <a:cs typeface="Calibri" pitchFamily="34" charset="-120"/>
              </a:rPr>
              <a:t>Gospel Library → Changes to the Sunday Class Meeting Schedule → Youth Fifth-Sunday Instruction Materials</a:t>
            </a:r>
            <a:endParaRPr lang="en-US" sz="1050" dirty="0"/>
          </a:p>
        </p:txBody>
      </p:sp>
      <p:sp>
        <p:nvSpPr>
          <p:cNvPr id="10" name="Shape 7"/>
          <p:cNvSpPr/>
          <p:nvPr/>
        </p:nvSpPr>
        <p:spPr>
          <a:xfrm>
            <a:off x="4160520" y="1691640"/>
            <a:ext cx="7498080" cy="795528"/>
          </a:xfrm>
          <a:prstGeom prst="roundRect">
            <a:avLst>
              <a:gd name="adj" fmla="val 11494"/>
            </a:avLst>
          </a:prstGeom>
          <a:solidFill>
            <a:srgbClr val="24356B"/>
          </a:solidFill>
          <a:ln/>
        </p:spPr>
      </p:sp>
      <p:sp>
        <p:nvSpPr>
          <p:cNvPr id="11" name="Shape 8"/>
          <p:cNvSpPr/>
          <p:nvPr/>
        </p:nvSpPr>
        <p:spPr>
          <a:xfrm>
            <a:off x="4343400" y="1856232"/>
            <a:ext cx="868680" cy="457200"/>
          </a:xfrm>
          <a:prstGeom prst="roundRect">
            <a:avLst>
              <a:gd name="adj" fmla="val 16000"/>
            </a:avLst>
          </a:prstGeom>
          <a:solidFill>
            <a:srgbClr val="C9A227"/>
          </a:solidFill>
          <a:ln/>
        </p:spPr>
      </p:sp>
      <p:sp>
        <p:nvSpPr>
          <p:cNvPr id="12" name="Text 9"/>
          <p:cNvSpPr txBox="1"/>
          <p:nvPr/>
        </p:nvSpPr>
        <p:spPr>
          <a:xfrm>
            <a:off x="4343400" y="1856232"/>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7:20</a:t>
            </a:r>
            <a:endParaRPr lang="en-US" sz="1250" dirty="0"/>
          </a:p>
        </p:txBody>
      </p:sp>
      <p:sp>
        <p:nvSpPr>
          <p:cNvPr id="13" name="Text 10"/>
          <p:cNvSpPr txBox="1"/>
          <p:nvPr/>
        </p:nvSpPr>
        <p:spPr>
          <a:xfrm>
            <a:off x="5394960" y="1783080"/>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Then ask: “Why do you think the FSY guide is structured this way?”</a:t>
            </a:r>
            <a:endParaRPr lang="en-US" sz="1200" dirty="0"/>
          </a:p>
        </p:txBody>
      </p:sp>
      <p:sp>
        <p:nvSpPr>
          <p:cNvPr id="14" name="Shape 11"/>
          <p:cNvSpPr/>
          <p:nvPr/>
        </p:nvSpPr>
        <p:spPr>
          <a:xfrm>
            <a:off x="4160520" y="2624328"/>
            <a:ext cx="7498080" cy="795528"/>
          </a:xfrm>
          <a:prstGeom prst="roundRect">
            <a:avLst>
              <a:gd name="adj" fmla="val 11494"/>
            </a:avLst>
          </a:prstGeom>
          <a:solidFill>
            <a:srgbClr val="24356B"/>
          </a:solidFill>
          <a:ln/>
        </p:spPr>
      </p:sp>
      <p:sp>
        <p:nvSpPr>
          <p:cNvPr id="15" name="Shape 12"/>
          <p:cNvSpPr/>
          <p:nvPr/>
        </p:nvSpPr>
        <p:spPr>
          <a:xfrm>
            <a:off x="4343400" y="2788920"/>
            <a:ext cx="868680" cy="457200"/>
          </a:xfrm>
          <a:prstGeom prst="roundRect">
            <a:avLst>
              <a:gd name="adj" fmla="val 16000"/>
            </a:avLst>
          </a:prstGeom>
          <a:solidFill>
            <a:srgbClr val="C9A227"/>
          </a:solidFill>
          <a:ln/>
        </p:spPr>
      </p:sp>
      <p:sp>
        <p:nvSpPr>
          <p:cNvPr id="16" name="Text 13"/>
          <p:cNvSpPr txBox="1"/>
          <p:nvPr/>
        </p:nvSpPr>
        <p:spPr>
          <a:xfrm>
            <a:off x="4343400" y="2788920"/>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10:00</a:t>
            </a:r>
            <a:endParaRPr lang="en-US" sz="1250" dirty="0"/>
          </a:p>
        </p:txBody>
      </p:sp>
      <p:sp>
        <p:nvSpPr>
          <p:cNvPr id="17" name="Text 14"/>
          <p:cNvSpPr txBox="1"/>
          <p:nvPr/>
        </p:nvSpPr>
        <p:spPr>
          <a:xfrm>
            <a:off x="5394960" y="2715768"/>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structure of the Sundays — </a:t>
            </a:r>
            <a:pPr indent="0" marL="0">
              <a:buNone/>
            </a:pPr>
            <a:r>
              <a:rPr lang="en-US" sz="1200" dirty="0">
                <a:solidFill>
                  <a:srgbClr val="C9D6EF"/>
                </a:solidFill>
                <a:latin typeface="Calibri" pitchFamily="34" charset="0"/>
                <a:ea typeface="Calibri" pitchFamily="34" charset="-122"/>
                <a:cs typeface="Calibri" pitchFamily="34" charset="-120"/>
              </a:rPr>
              <a:t>How the four weeks of each month fit together.</a:t>
            </a:r>
            <a:endParaRPr lang="en-US" sz="1200" dirty="0"/>
          </a:p>
        </p:txBody>
      </p:sp>
      <p:sp>
        <p:nvSpPr>
          <p:cNvPr id="18" name="Shape 15"/>
          <p:cNvSpPr/>
          <p:nvPr/>
        </p:nvSpPr>
        <p:spPr>
          <a:xfrm>
            <a:off x="4160520" y="3557016"/>
            <a:ext cx="7498080" cy="795528"/>
          </a:xfrm>
          <a:prstGeom prst="roundRect">
            <a:avLst>
              <a:gd name="adj" fmla="val 11494"/>
            </a:avLst>
          </a:prstGeom>
          <a:solidFill>
            <a:srgbClr val="24356B"/>
          </a:solidFill>
          <a:ln/>
        </p:spPr>
      </p:sp>
      <p:sp>
        <p:nvSpPr>
          <p:cNvPr id="19" name="Shape 16"/>
          <p:cNvSpPr/>
          <p:nvPr/>
        </p:nvSpPr>
        <p:spPr>
          <a:xfrm>
            <a:off x="4343400" y="3721608"/>
            <a:ext cx="868680" cy="457200"/>
          </a:xfrm>
          <a:prstGeom prst="roundRect">
            <a:avLst>
              <a:gd name="adj" fmla="val 16000"/>
            </a:avLst>
          </a:prstGeom>
          <a:solidFill>
            <a:srgbClr val="C9A227"/>
          </a:solidFill>
          <a:ln/>
        </p:spPr>
      </p:sp>
      <p:sp>
        <p:nvSpPr>
          <p:cNvPr id="20" name="Text 17"/>
          <p:cNvSpPr txBox="1"/>
          <p:nvPr/>
        </p:nvSpPr>
        <p:spPr>
          <a:xfrm>
            <a:off x="4343400" y="3721608"/>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12:00</a:t>
            </a:r>
            <a:endParaRPr lang="en-US" sz="1250" dirty="0"/>
          </a:p>
        </p:txBody>
      </p:sp>
      <p:sp>
        <p:nvSpPr>
          <p:cNvPr id="21" name="Text 18"/>
          <p:cNvSpPr txBox="1"/>
          <p:nvPr/>
        </p:nvSpPr>
        <p:spPr>
          <a:xfrm>
            <a:off x="5394960" y="3648456"/>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last-Sunday lessons — </a:t>
            </a:r>
            <a:pPr indent="0" marL="0">
              <a:buNone/>
            </a:pPr>
            <a:r>
              <a:rPr lang="en-US" sz="1200" dirty="0">
                <a:solidFill>
                  <a:srgbClr val="C9D6EF"/>
                </a:solidFill>
                <a:latin typeface="Calibri" pitchFamily="34" charset="0"/>
                <a:ea typeface="Calibri" pitchFamily="34" charset="-122"/>
                <a:cs typeface="Calibri" pitchFamily="34" charset="-120"/>
              </a:rPr>
              <a:t>Young Women and Aaronic Priesthood quorums each have their own.</a:t>
            </a:r>
            <a:endParaRPr lang="en-US" sz="1200" dirty="0"/>
          </a:p>
        </p:txBody>
      </p:sp>
      <p:sp>
        <p:nvSpPr>
          <p:cNvPr id="22" name="Shape 19"/>
          <p:cNvSpPr/>
          <p:nvPr/>
        </p:nvSpPr>
        <p:spPr>
          <a:xfrm>
            <a:off x="4160520" y="4489704"/>
            <a:ext cx="7498080" cy="795528"/>
          </a:xfrm>
          <a:prstGeom prst="roundRect">
            <a:avLst>
              <a:gd name="adj" fmla="val 11494"/>
            </a:avLst>
          </a:prstGeom>
          <a:solidFill>
            <a:srgbClr val="24356B"/>
          </a:solidFill>
          <a:ln/>
        </p:spPr>
      </p:sp>
      <p:sp>
        <p:nvSpPr>
          <p:cNvPr id="23" name="Shape 20"/>
          <p:cNvSpPr/>
          <p:nvPr/>
        </p:nvSpPr>
        <p:spPr>
          <a:xfrm>
            <a:off x="4343400" y="4654296"/>
            <a:ext cx="868680" cy="457200"/>
          </a:xfrm>
          <a:prstGeom prst="roundRect">
            <a:avLst>
              <a:gd name="adj" fmla="val 16000"/>
            </a:avLst>
          </a:prstGeom>
          <a:solidFill>
            <a:srgbClr val="C9A227"/>
          </a:solidFill>
          <a:ln/>
        </p:spPr>
      </p:sp>
      <p:sp>
        <p:nvSpPr>
          <p:cNvPr id="24" name="Text 21"/>
          <p:cNvSpPr txBox="1"/>
          <p:nvPr/>
        </p:nvSpPr>
        <p:spPr>
          <a:xfrm>
            <a:off x="4343400" y="4654296"/>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18:30</a:t>
            </a:r>
            <a:endParaRPr lang="en-US" sz="1250" dirty="0"/>
          </a:p>
        </p:txBody>
      </p:sp>
      <p:sp>
        <p:nvSpPr>
          <p:cNvPr id="25" name="Text 22"/>
          <p:cNvSpPr txBox="1"/>
          <p:nvPr/>
        </p:nvSpPr>
        <p:spPr>
          <a:xfrm>
            <a:off x="5394960" y="4581144"/>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Talk about what we've seen so far.</a:t>
            </a:r>
            <a:endParaRPr lang="en-US" sz="1200" dirty="0"/>
          </a:p>
        </p:txBody>
      </p:sp>
      <p:sp>
        <p:nvSpPr>
          <p:cNvPr id="26" name="Shape 23"/>
          <p:cNvSpPr/>
          <p:nvPr/>
        </p:nvSpPr>
        <p:spPr>
          <a:xfrm>
            <a:off x="4160520" y="5422392"/>
            <a:ext cx="7498080" cy="795528"/>
          </a:xfrm>
          <a:prstGeom prst="roundRect">
            <a:avLst>
              <a:gd name="adj" fmla="val 11494"/>
            </a:avLst>
          </a:prstGeom>
          <a:solidFill>
            <a:srgbClr val="24356B"/>
          </a:solidFill>
          <a:ln/>
        </p:spPr>
      </p:sp>
      <p:sp>
        <p:nvSpPr>
          <p:cNvPr id="27" name="Shape 24"/>
          <p:cNvSpPr/>
          <p:nvPr/>
        </p:nvSpPr>
        <p:spPr>
          <a:xfrm>
            <a:off x="4343400" y="5586984"/>
            <a:ext cx="868680" cy="457200"/>
          </a:xfrm>
          <a:prstGeom prst="roundRect">
            <a:avLst>
              <a:gd name="adj" fmla="val 16000"/>
            </a:avLst>
          </a:prstGeom>
          <a:solidFill>
            <a:srgbClr val="C9A227"/>
          </a:solidFill>
          <a:ln/>
        </p:spPr>
      </p:sp>
      <p:sp>
        <p:nvSpPr>
          <p:cNvPr id="28" name="Text 25"/>
          <p:cNvSpPr txBox="1"/>
          <p:nvPr/>
        </p:nvSpPr>
        <p:spPr>
          <a:xfrm>
            <a:off x="4343400" y="5586984"/>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22:00</a:t>
            </a:r>
            <a:endParaRPr lang="en-US" sz="1250" dirty="0"/>
          </a:p>
        </p:txBody>
      </p:sp>
      <p:sp>
        <p:nvSpPr>
          <p:cNvPr id="29" name="Text 26"/>
          <p:cNvSpPr txBox="1"/>
          <p:nvPr/>
        </p:nvSpPr>
        <p:spPr>
          <a:xfrm>
            <a:off x="5394960" y="5513832"/>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Closing question — </a:t>
            </a:r>
            <a:pPr indent="0" marL="0">
              <a:buNone/>
            </a:pPr>
            <a:r>
              <a:rPr lang="en-US" sz="1200" dirty="0">
                <a:solidFill>
                  <a:srgbClr val="C9D6EF"/>
                </a:solidFill>
                <a:latin typeface="Calibri" pitchFamily="34" charset="0"/>
                <a:ea typeface="Calibri" pitchFamily="34" charset="-122"/>
                <a:cs typeface="Calibri" pitchFamily="34" charset="-120"/>
              </a:rPr>
              <a:t>Ask: “What statements stood out to you?”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will we be blessed by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we use the new schedule and guides to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Adapted from the official fifth-Sunday instruction outline, August 30, 2026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2026-08-30T01:34:57Z</dcterms:created>
  <dcterms:modified xsi:type="dcterms:W3CDTF">2026-08-30T01:34:57Z</dcterms:modified>
</cp:coreProperties>
</file>